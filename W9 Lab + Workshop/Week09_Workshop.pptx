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2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64406"/>
            <a:ext cx="4572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$</a:t>
            </a:r>
            <a:r>
              <a:rPr lang="en-US" sz="727" dirty="0">
                <a:solidFill>
                  <a:srgbClr val="10B981"/>
                </a:solidFill>
              </a:rPr>
              <a:t> cd CST1510/coursework_2/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57200" y="1221581"/>
            <a:ext cx="457200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36" b="1" dirty="0">
                <a:solidFill>
                  <a:srgbClr val="1E3A8A"/>
                </a:solidFill>
              </a:rPr>
              <a:t>Streamlit Tutorial for
Multi-Domain Intelligence Platform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57200" y="2678906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4B5563"/>
                </a:solidFill>
              </a:rPr>
              <a:t>Building Web Applications Made Simple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57200" y="3562945"/>
            <a:ext cx="14313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CST1510 Coursework 2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57200" y="3807619"/>
            <a:ext cx="4572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Week 9: Web Interface, MVC &amp; Visualization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57200" y="4007644"/>
            <a:ext cx="4572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Instructor Teaching Guide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486400" y="964406"/>
            <a:ext cx="3657600" cy="3214688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38791" y="1143000"/>
            <a:ext cx="3352791" cy="2857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38791" y="1143000"/>
            <a:ext cx="28575" cy="2857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24591" y="1314450"/>
            <a:ext cx="27123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9CA3AF"/>
                </a:solidFill>
              </a:rPr>
              <a:t>app.py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810241" y="1543050"/>
            <a:ext cx="30098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9E0B"/>
                </a:solidFill>
              </a:rPr>
              <a:t>import</a:t>
            </a:r>
            <a:r>
              <a:rPr lang="en-US" sz="727" dirty="0">
                <a:solidFill>
                  <a:srgbClr val="10B981"/>
                </a:solidFill>
              </a:rPr>
              <a:t>streamlit</a:t>
            </a:r>
            <a:r>
              <a:rPr lang="en-US" sz="727" dirty="0">
                <a:solidFill>
                  <a:srgbClr val="F59E0B"/>
                </a:solidFill>
              </a:rPr>
              <a:t>as</a:t>
            </a:r>
            <a:r>
              <a:rPr lang="en-US" sz="727" dirty="0">
                <a:solidFill>
                  <a:srgbClr val="10B981"/>
                </a:solidFill>
              </a:rPr>
              <a:t>st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810241" y="1703059"/>
            <a:ext cx="30098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9E0B"/>
                </a:solidFill>
              </a:rPr>
              <a:t>import</a:t>
            </a:r>
            <a:r>
              <a:rPr lang="en-US" sz="727" dirty="0">
                <a:solidFill>
                  <a:srgbClr val="10B981"/>
                </a:solidFill>
              </a:rPr>
              <a:t>pandas</a:t>
            </a:r>
            <a:r>
              <a:rPr lang="en-US" sz="727" dirty="0">
                <a:solidFill>
                  <a:srgbClr val="F59E0B"/>
                </a:solidFill>
              </a:rPr>
              <a:t>as</a:t>
            </a:r>
            <a:r>
              <a:rPr lang="en-US" sz="727" dirty="0">
                <a:solidFill>
                  <a:srgbClr val="10B981"/>
                </a:solidFill>
              </a:rPr>
              <a:t>pd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5810241" y="1863068"/>
            <a:ext cx="30098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9E0B"/>
                </a:solidFill>
              </a:rPr>
              <a:t>import</a:t>
            </a:r>
            <a:r>
              <a:rPr lang="en-US" sz="727" dirty="0">
                <a:solidFill>
                  <a:srgbClr val="10B981"/>
                </a:solidFill>
              </a:rPr>
              <a:t>plotly.express</a:t>
            </a:r>
            <a:r>
              <a:rPr lang="en-US" sz="727" dirty="0">
                <a:solidFill>
                  <a:srgbClr val="F59E0B"/>
                </a:solidFill>
              </a:rPr>
              <a:t>as</a:t>
            </a:r>
            <a:r>
              <a:rPr lang="en-US" sz="727" dirty="0">
                <a:solidFill>
                  <a:srgbClr val="10B981"/>
                </a:solidFill>
              </a:rPr>
              <a:t>px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810241" y="2137377"/>
            <a:ext cx="30098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st</a:t>
            </a:r>
            <a:r>
              <a:rPr lang="en-US" sz="727" dirty="0">
                <a:solidFill>
                  <a:srgbClr val="9CA3AF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set_page_config</a:t>
            </a:r>
            <a:r>
              <a:rPr lang="en-US" sz="727" dirty="0">
                <a:solidFill>
                  <a:srgbClr val="9CA3AF"/>
                </a:solidFill>
              </a:rPr>
              <a:t>(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5810241" y="2354535"/>
            <a:ext cx="300989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page_title=</a:t>
            </a:r>
            <a:r>
              <a:rPr lang="en-US" sz="727" dirty="0">
                <a:solidFill>
                  <a:srgbClr val="F59E0B"/>
                </a:solidFill>
              </a:rPr>
              <a:t>"Intelligence Platform"</a:t>
            </a:r>
            <a:r>
              <a:rPr lang="en-US" sz="727" dirty="0">
                <a:solidFill>
                  <a:srgbClr val="9CA3AF"/>
                </a:solidFill>
              </a:rPr>
              <a:t>,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5810241" y="2571694"/>
            <a:ext cx="300989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layout=</a:t>
            </a:r>
            <a:r>
              <a:rPr lang="en-US" sz="727" dirty="0">
                <a:solidFill>
                  <a:srgbClr val="F59E0B"/>
                </a:solidFill>
              </a:rPr>
              <a:t>"wide"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5810241" y="2846003"/>
            <a:ext cx="30098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)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5810241" y="3120312"/>
            <a:ext cx="30098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st</a:t>
            </a:r>
            <a:r>
              <a:rPr lang="en-US" sz="727" dirty="0">
                <a:solidFill>
                  <a:srgbClr val="9CA3AF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title</a:t>
            </a:r>
            <a:r>
              <a:rPr lang="en-US" sz="727" dirty="0">
                <a:solidFill>
                  <a:srgbClr val="9CA3AF"/>
                </a:solidFill>
              </a:rPr>
              <a:t>(</a:t>
            </a:r>
            <a:r>
              <a:rPr lang="en-US" sz="727" dirty="0">
                <a:solidFill>
                  <a:srgbClr val="F59E0B"/>
                </a:solidFill>
              </a:rPr>
              <a:t>"📊 Dashboard"</a:t>
            </a:r>
            <a:r>
              <a:rPr lang="en-US" sz="727" dirty="0">
                <a:solidFill>
                  <a:srgbClr val="9CA3AF"/>
                </a:solidFill>
              </a:rPr>
              <a:t>)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5810241" y="3337471"/>
            <a:ext cx="30098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st</a:t>
            </a:r>
            <a:r>
              <a:rPr lang="en-US" sz="727" dirty="0">
                <a:solidFill>
                  <a:srgbClr val="9CA3AF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write</a:t>
            </a:r>
            <a:r>
              <a:rPr lang="en-US" sz="727" dirty="0">
                <a:solidFill>
                  <a:srgbClr val="9CA3AF"/>
                </a:solidFill>
              </a:rPr>
              <a:t>(</a:t>
            </a:r>
            <a:r>
              <a:rPr lang="en-US" sz="727" dirty="0">
                <a:solidFill>
                  <a:srgbClr val="F59E0B"/>
                </a:solidFill>
              </a:rPr>
              <a:t>"Welcome to Streamlit!"</a:t>
            </a:r>
            <a:r>
              <a:rPr lang="en-US" sz="727" dirty="0">
                <a:solidFill>
                  <a:srgbClr val="9CA3AF"/>
                </a:solidFill>
              </a:rPr>
              <a:t>)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5810241" y="3679645"/>
            <a:ext cx="14437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# Ready to build amazing apps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311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01 </a:t>
            </a:r>
            <a:r>
              <a:rPr lang="en-US" sz="727" dirty="0">
                <a:solidFill>
                  <a:srgbClr val="6B7280"/>
                </a:solidFill>
              </a:rPr>
              <a:t>// Introduction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57200" y="657225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What is Streamlit?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57200" y="1171575"/>
            <a:ext cx="3943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Definition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57200" y="1485900"/>
            <a:ext cx="39433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Streamlit is a </a:t>
            </a:r>
            <a:r>
              <a:rPr lang="en-US" sz="784" b="1" dirty="0">
                <a:solidFill>
                  <a:srgbClr val="1F2937"/>
                </a:solidFill>
              </a:rPr>
              <a:t>Python framework</a:t>
            </a:r>
            <a:r>
              <a:rPr lang="en-US" sz="834" dirty="0">
                <a:solidFill>
                  <a:srgbClr val="1F2937"/>
                </a:solidFill>
              </a:rPr>
              <a:t> that transforms Python scripts into interactive web applications without requiring HTML, CSS, or JavaScript knowledge.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57200" y="2443163"/>
            <a:ext cx="3943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Why Streamlit for This Project?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57200" y="2757488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▸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685800" y="2757488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Perfect for data dashboards</a:t>
            </a:r>
            <a:r>
              <a:rPr lang="en-US" sz="834" dirty="0">
                <a:solidFill>
                  <a:srgbClr val="1F2937"/>
                </a:solidFill>
              </a:rPr>
              <a:t> – Built specifically for analytics and data science applications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57200" y="3214688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▸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685800" y="3214688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Rapid development</a:t>
            </a:r>
            <a:r>
              <a:rPr lang="en-US" sz="834" dirty="0">
                <a:solidFill>
                  <a:srgbClr val="1F2937"/>
                </a:solidFill>
              </a:rPr>
              <a:t> – Build functional web apps in minutes, not hours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57200" y="3671888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▸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85800" y="3671888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Built-in widgets</a:t>
            </a:r>
            <a:r>
              <a:rPr lang="en-US" sz="834" dirty="0">
                <a:solidFill>
                  <a:srgbClr val="1F2937"/>
                </a:solidFill>
              </a:rPr>
              <a:t> – Interactive components ready to use out of the box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57200" y="4129088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▸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685800" y="4129088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Native visualization support</a:t>
            </a:r>
            <a:r>
              <a:rPr lang="en-US" sz="834" dirty="0">
                <a:solidFill>
                  <a:srgbClr val="1F2937"/>
                </a:solidFill>
              </a:rPr>
              <a:t> – Works seamlessly with Plotly, Matplotlib, and pandas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57200" y="5000625"/>
            <a:ext cx="3943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Key Learning Outcomes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57200" y="5286375"/>
            <a:ext cx="39433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✓ Build interactive web interfaces with Python
 ✓ Create multi-page applications with authentication
 ✓ Develop data dashboards with charts and visualizations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4757738" y="2244784"/>
            <a:ext cx="3914775" cy="300038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57738" y="2530534"/>
            <a:ext cx="3914775" cy="14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72038" y="2348368"/>
            <a:ext cx="8330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6B7280"/>
                </a:solidFill>
              </a:rPr>
              <a:t>STREAMLIT OUTPUT</a:t>
            </a:r>
            <a:endParaRPr lang="en-US" sz="584" dirty="0"/>
          </a:p>
        </p:txBody>
      </p:sp>
      <p:sp>
        <p:nvSpPr>
          <p:cNvPr id="21" name="Shape 18"/>
          <p:cNvSpPr/>
          <p:nvPr/>
        </p:nvSpPr>
        <p:spPr>
          <a:xfrm>
            <a:off x="4757738" y="2537678"/>
            <a:ext cx="3914775" cy="19558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038" y="2651978"/>
            <a:ext cx="3686175" cy="172728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43450" y="4593571"/>
            <a:ext cx="39433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Example: Streamlit dashboard with interactive widgets and visualizations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02 </a:t>
            </a:r>
            <a:r>
              <a:rPr lang="en-US" sz="727" dirty="0">
                <a:solidFill>
                  <a:srgbClr val="6B7280"/>
                </a:solidFill>
              </a:rPr>
              <a:t>// Getting Started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57200" y="600075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Installation and Setup</a:t>
            </a:r>
            <a:endParaRPr lang="en-US" sz="1808" dirty="0"/>
          </a:p>
        </p:txBody>
      </p:sp>
      <p:sp>
        <p:nvSpPr>
          <p:cNvPr id="5" name="Shape 2"/>
          <p:cNvSpPr/>
          <p:nvPr/>
        </p:nvSpPr>
        <p:spPr>
          <a:xfrm>
            <a:off x="457200" y="1114425"/>
            <a:ext cx="228600" cy="228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1144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771525" y="1128713"/>
            <a:ext cx="111702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Install Streamlit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57200" y="1428750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In your terminal or command prompt: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457200" y="1657350"/>
            <a:ext cx="4000500" cy="40005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657350"/>
            <a:ext cx="28575" cy="400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" y="1771650"/>
            <a:ext cx="3771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0B981"/>
                </a:solidFill>
              </a:rPr>
              <a:t>$</a:t>
            </a:r>
            <a:r>
              <a:rPr lang="en-US" sz="834" dirty="0">
                <a:solidFill>
                  <a:srgbClr val="E5E7EB"/>
                </a:solidFill>
              </a:rPr>
              <a:t> pip install streamlit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57200" y="2143125"/>
            <a:ext cx="4000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Mac users: use </a:t>
            </a:r>
            <a:r>
              <a:rPr lang="en-US" sz="621" dirty="0">
                <a:solidFill>
                  <a:srgbClr val="10B981"/>
                </a:solidFill>
              </a:rPr>
              <a:t>pip3 install streamlit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457200" y="2486025"/>
            <a:ext cx="228600" cy="228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4860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771525" y="2500313"/>
            <a:ext cx="147448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Create Your First App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57200" y="2800350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Create a file called </a:t>
            </a:r>
            <a:r>
              <a:rPr lang="en-US" sz="727" dirty="0">
                <a:solidFill>
                  <a:srgbClr val="10B981"/>
                </a:solidFill>
              </a:rPr>
              <a:t>app.py</a:t>
            </a:r>
            <a:r>
              <a:rPr lang="en-US" sz="727" dirty="0">
                <a:solidFill>
                  <a:srgbClr val="4B5563"/>
                </a:solidFill>
              </a:rPr>
              <a:t>: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457200" y="3028950"/>
            <a:ext cx="4000500" cy="960053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3028950"/>
            <a:ext cx="28575" cy="96005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" y="3143250"/>
            <a:ext cx="377190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59E0B"/>
                </a:solidFill>
              </a:rPr>
              <a:t>import</a:t>
            </a:r>
            <a:r>
              <a:rPr lang="en-US" sz="834" dirty="0">
                <a:solidFill>
                  <a:srgbClr val="10B981"/>
                </a:solidFill>
              </a:rPr>
              <a:t>streamlit</a:t>
            </a:r>
            <a:r>
              <a:rPr lang="en-US" sz="834" dirty="0">
                <a:solidFill>
                  <a:srgbClr val="F59E0B"/>
                </a:solidFill>
              </a:rPr>
              <a:t>as</a:t>
            </a:r>
            <a:r>
              <a:rPr lang="en-US" sz="834" dirty="0">
                <a:solidFill>
                  <a:srgbClr val="10B981"/>
                </a:solidFill>
              </a:rPr>
              <a:t>st</a:t>
            </a:r>
            <a:r>
              <a:rPr lang="en-US" sz="834" dirty="0">
                <a:solidFill>
                  <a:srgbClr val="E5E7EB"/>
                </a:solidFill>
              </a:rPr>
              <a:t>
</a:t>
            </a:r>
            <a:r>
              <a:rPr lang="en-US" sz="834" dirty="0">
                <a:solidFill>
                  <a:srgbClr val="6366F1"/>
                </a:solidFill>
              </a:rPr>
              <a:t>st</a:t>
            </a:r>
            <a:r>
              <a:rPr lang="en-US" sz="834" dirty="0">
                <a:solidFill>
                  <a:srgbClr val="E5E7EB"/>
                </a:solidFill>
              </a:rPr>
              <a:t>.</a:t>
            </a:r>
            <a:r>
              <a:rPr lang="en-US" sz="834" dirty="0">
                <a:solidFill>
                  <a:srgbClr val="10B981"/>
                </a:solidFill>
              </a:rPr>
              <a:t>title</a:t>
            </a:r>
            <a:r>
              <a:rPr lang="en-US" sz="834" dirty="0">
                <a:solidFill>
                  <a:srgbClr val="E5E7EB"/>
                </a:solidFill>
              </a:rPr>
              <a:t>(</a:t>
            </a:r>
            <a:r>
              <a:rPr lang="en-US" sz="834" dirty="0">
                <a:solidFill>
                  <a:srgbClr val="F59E0B"/>
                </a:solidFill>
              </a:rPr>
              <a:t>"Hello, Streamlit! 👋"</a:t>
            </a:r>
            <a:r>
              <a:rPr lang="en-US" sz="834" dirty="0">
                <a:solidFill>
                  <a:srgbClr val="E5E7EB"/>
                </a:solidFill>
              </a:rPr>
              <a:t>)
</a:t>
            </a:r>
            <a:r>
              <a:rPr lang="en-US" sz="834" dirty="0">
                <a:solidFill>
                  <a:srgbClr val="6366F1"/>
                </a:solidFill>
              </a:rPr>
              <a:t>st</a:t>
            </a:r>
            <a:r>
              <a:rPr lang="en-US" sz="834" dirty="0">
                <a:solidFill>
                  <a:srgbClr val="E5E7EB"/>
                </a:solidFill>
              </a:rPr>
              <a:t>.</a:t>
            </a:r>
            <a:r>
              <a:rPr lang="en-US" sz="834" dirty="0">
                <a:solidFill>
                  <a:srgbClr val="10B981"/>
                </a:solidFill>
              </a:rPr>
              <a:t>write</a:t>
            </a:r>
            <a:r>
              <a:rPr lang="en-US" sz="834" dirty="0">
                <a:solidFill>
                  <a:srgbClr val="E5E7EB"/>
                </a:solidFill>
              </a:rPr>
              <a:t>(</a:t>
            </a:r>
            <a:r>
              <a:rPr lang="en-US" sz="834" dirty="0">
                <a:solidFill>
                  <a:srgbClr val="F59E0B"/>
                </a:solidFill>
              </a:rPr>
              <a:t>"This is my very first Streamlit app."</a:t>
            </a:r>
            <a:r>
              <a:rPr lang="en-US" sz="834" dirty="0">
                <a:solidFill>
                  <a:srgbClr val="E5E7EB"/>
                </a:solidFill>
              </a:rPr>
              <a:t>)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4686300" y="1114425"/>
            <a:ext cx="228600" cy="228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686300" y="11144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000625" y="1128713"/>
            <a:ext cx="13736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Run the Application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4686300" y="1428750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Execute the following command: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4686300" y="1657350"/>
            <a:ext cx="4000500" cy="40005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86300" y="1657350"/>
            <a:ext cx="28575" cy="400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00600" y="1771650"/>
            <a:ext cx="3771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0B981"/>
                </a:solidFill>
              </a:rPr>
              <a:t>$</a:t>
            </a:r>
            <a:r>
              <a:rPr lang="en-US" sz="834" dirty="0">
                <a:solidFill>
                  <a:srgbClr val="E5E7EB"/>
                </a:solidFill>
              </a:rPr>
              <a:t> streamlit run app.py</a:t>
            </a:r>
            <a:endParaRPr lang="en-US" sz="834" dirty="0"/>
          </a:p>
        </p:txBody>
      </p:sp>
      <p:sp>
        <p:nvSpPr>
          <p:cNvPr id="27" name="Shape 24"/>
          <p:cNvSpPr/>
          <p:nvPr/>
        </p:nvSpPr>
        <p:spPr>
          <a:xfrm>
            <a:off x="4686300" y="2143125"/>
            <a:ext cx="4000500" cy="785813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86300" y="2143125"/>
            <a:ext cx="28575" cy="785813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00600" y="2257425"/>
            <a:ext cx="37719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You can now view your Streamlit app in your browser.
 Local URL: </a:t>
            </a:r>
            <a:r>
              <a:rPr lang="en-US" sz="674" dirty="0">
                <a:solidFill>
                  <a:srgbClr val="10B981"/>
                </a:solidFill>
              </a:rPr>
              <a:t>http://localhost:8501</a:t>
            </a:r>
            <a:r>
              <a:rPr lang="en-US" sz="674" dirty="0">
                <a:solidFill>
                  <a:srgbClr val="4B5563"/>
                </a:solidFill>
              </a:rPr>
              <a:t>
 Network URL: </a:t>
            </a:r>
            <a:r>
              <a:rPr lang="en-US" sz="674" dirty="0">
                <a:solidFill>
                  <a:srgbClr val="10B981"/>
                </a:solidFill>
              </a:rPr>
              <a:t>http://192.168.1.10:8501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686300" y="3014663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Your browser should open automatically at </a:t>
            </a:r>
            <a:r>
              <a:rPr lang="en-US" sz="727" dirty="0">
                <a:solidFill>
                  <a:srgbClr val="10B981"/>
                </a:solidFill>
              </a:rPr>
              <a:t>http://localhost:8501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4686300" y="3571875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⚡ Important Concept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4686300" y="3857625"/>
            <a:ext cx="400050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Every time a user interacts with a widget, Streamlit </a:t>
            </a:r>
            <a:r>
              <a:rPr lang="en-US" sz="683" b="1" dirty="0">
                <a:solidFill>
                  <a:srgbClr val="4B5563"/>
                </a:solidFill>
              </a:rPr>
              <a:t>reruns the entire script from top to bottom</a:t>
            </a:r>
            <a:r>
              <a:rPr lang="en-US" sz="727" dirty="0">
                <a:solidFill>
                  <a:srgbClr val="4B5563"/>
                </a:solidFill>
              </a:rPr>
              <a:t>. This is the core execution model you need to understand.</a:t>
            </a:r>
            <a:endParaRPr lang="en-US" sz="727" dirty="0"/>
          </a:p>
        </p:txBody>
      </p:sp>
      <p:sp>
        <p:nvSpPr>
          <p:cNvPr id="33" name="Shape 30"/>
          <p:cNvSpPr/>
          <p:nvPr/>
        </p:nvSpPr>
        <p:spPr>
          <a:xfrm>
            <a:off x="457200" y="4450556"/>
            <a:ext cx="8229600" cy="2357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57200" y="4450556"/>
            <a:ext cx="82296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57200" y="4572000"/>
            <a:ext cx="8229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📚 Official docs: </a:t>
            </a:r>
            <a:r>
              <a:rPr lang="en-US" sz="621" dirty="0">
                <a:solidFill>
                  <a:srgbClr val="10B981"/>
                </a:solidFill>
              </a:rPr>
              <a:t>docs.streamlit.io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328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03 </a:t>
            </a:r>
            <a:r>
              <a:rPr lang="en-US" sz="727" dirty="0">
                <a:solidFill>
                  <a:srgbClr val="6B7280"/>
                </a:solidFill>
              </a:rPr>
              <a:t>// Core Components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57200" y="600075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Basic Page Elements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57200" y="1057275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01 // Text Display Functions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457200" y="1343025"/>
            <a:ext cx="1600200" cy="28932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618059"/>
            <a:ext cx="1600200" cy="14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343025"/>
            <a:ext cx="1600200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Function</a:t>
            </a:r>
            <a:endParaRPr lang="en-US" sz="634" dirty="0"/>
          </a:p>
        </p:txBody>
      </p:sp>
      <p:sp>
        <p:nvSpPr>
          <p:cNvPr id="9" name="Shape 6"/>
          <p:cNvSpPr/>
          <p:nvPr/>
        </p:nvSpPr>
        <p:spPr>
          <a:xfrm>
            <a:off x="2057400" y="1343025"/>
            <a:ext cx="2400300" cy="28932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57400" y="1618059"/>
            <a:ext cx="2400300" cy="14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57400" y="1343025"/>
            <a:ext cx="2400300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Purpose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528638" y="1675209"/>
            <a:ext cx="436773" cy="16430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8638" y="1675209"/>
            <a:ext cx="436773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st.title()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2057400" y="1625203"/>
            <a:ext cx="2400300" cy="26789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Main page title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528638" y="1946672"/>
            <a:ext cx="590113" cy="16430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28638" y="1946672"/>
            <a:ext cx="590113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st.header()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2057400" y="1893094"/>
            <a:ext cx="2400300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Section headers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28638" y="2218134"/>
            <a:ext cx="761312" cy="16430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28638" y="2218134"/>
            <a:ext cx="761312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st.subheader()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2057400" y="2164556"/>
            <a:ext cx="2400300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Subsection headers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528638" y="2489597"/>
            <a:ext cx="494788" cy="16430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28638" y="2489597"/>
            <a:ext cx="494788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st.write()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2057400" y="2436019"/>
            <a:ext cx="2400300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Flexible display (text, data, etc.)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528638" y="2761059"/>
            <a:ext cx="761312" cy="16430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28638" y="2761059"/>
            <a:ext cx="761312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st.markdown()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2057400" y="2707481"/>
            <a:ext cx="2400300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Markdown formatting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528638" y="3032522"/>
            <a:ext cx="606409" cy="16430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28638" y="3032522"/>
            <a:ext cx="606409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st.caption()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2057400" y="2978944"/>
            <a:ext cx="2400300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Small grey caption text</a:t>
            </a:r>
            <a:endParaRPr lang="en-US" sz="727" dirty="0"/>
          </a:p>
        </p:txBody>
      </p:sp>
      <p:sp>
        <p:nvSpPr>
          <p:cNvPr id="30" name="Shape 27"/>
          <p:cNvSpPr/>
          <p:nvPr/>
        </p:nvSpPr>
        <p:spPr>
          <a:xfrm>
            <a:off x="528638" y="3303984"/>
            <a:ext cx="436076" cy="16430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28638" y="3303984"/>
            <a:ext cx="436076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st.text()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2057400" y="3250406"/>
            <a:ext cx="2400300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Plain fixed-width text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457200" y="3696891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6B7280"/>
                </a:solidFill>
              </a:rPr>
              <a:t>EXAMPLE CODE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457200" y="3896916"/>
            <a:ext cx="4000500" cy="728663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57200" y="3896916"/>
            <a:ext cx="28575" cy="72866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42925" y="3982641"/>
            <a:ext cx="38290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title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"Page Title"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header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"Section Header"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write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"Flexible text display"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markdown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"**Bold** and *italic*"</a:t>
            </a:r>
            <a:r>
              <a:rPr lang="en-US" sz="674" dirty="0">
                <a:solidFill>
                  <a:srgbClr val="E5E7EB"/>
                </a:solidFill>
              </a:rPr>
              <a:t>)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4686300" y="1057275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02 // Display Data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4686300" y="1343025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Use </a:t>
            </a:r>
            <a:r>
              <a:rPr lang="en-US" sz="727" dirty="0">
                <a:solidFill>
                  <a:srgbClr val="6366F1"/>
                </a:solidFill>
              </a:rPr>
              <a:t>st.dataframe()</a:t>
            </a:r>
            <a:r>
              <a:rPr lang="en-US" sz="727" dirty="0">
                <a:solidFill>
                  <a:srgbClr val="4B5563"/>
                </a:solidFill>
              </a:rPr>
              <a:t> to display pandas DataFrames as interactive, sortable tables.</a:t>
            </a:r>
            <a:endParaRPr lang="en-US" sz="727" dirty="0"/>
          </a:p>
        </p:txBody>
      </p:sp>
      <p:sp>
        <p:nvSpPr>
          <p:cNvPr id="39" name="Shape 36"/>
          <p:cNvSpPr/>
          <p:nvPr/>
        </p:nvSpPr>
        <p:spPr>
          <a:xfrm>
            <a:off x="4686300" y="1571625"/>
            <a:ext cx="4000500" cy="1285875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686300" y="1571625"/>
            <a:ext cx="28575" cy="128587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772025" y="1657350"/>
            <a:ext cx="38290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import</a:t>
            </a:r>
            <a:r>
              <a:rPr lang="en-US" sz="674" dirty="0">
                <a:solidFill>
                  <a:srgbClr val="10B981"/>
                </a:solidFill>
              </a:rPr>
              <a:t>pandas</a:t>
            </a:r>
            <a:r>
              <a:rPr lang="en-US" sz="674" dirty="0">
                <a:solidFill>
                  <a:srgbClr val="F59E0B"/>
                </a:solidFill>
              </a:rPr>
              <a:t>as</a:t>
            </a:r>
            <a:r>
              <a:rPr lang="en-US" sz="674" dirty="0">
                <a:solidFill>
                  <a:srgbClr val="10B981"/>
                </a:solidFill>
              </a:rPr>
              <a:t>pd</a:t>
            </a:r>
            <a:r>
              <a:rPr lang="en-US" sz="674" dirty="0">
                <a:solidFill>
                  <a:srgbClr val="E5E7EB"/>
                </a:solidFill>
              </a:rPr>
              <a:t>
 df = </a:t>
            </a:r>
            <a:r>
              <a:rPr lang="en-US" sz="674" dirty="0">
                <a:solidFill>
                  <a:srgbClr val="6366F1"/>
                </a:solidFill>
              </a:rPr>
              <a:t>pd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DataFrame</a:t>
            </a:r>
            <a:r>
              <a:rPr lang="en-US" sz="674" dirty="0">
                <a:solidFill>
                  <a:srgbClr val="E5E7EB"/>
                </a:solidFill>
              </a:rPr>
              <a:t>({
</a:t>
            </a:r>
            <a:r>
              <a:rPr lang="en-US" sz="674" dirty="0">
                <a:solidFill>
                  <a:srgbClr val="F59E0B"/>
                </a:solidFill>
              </a:rPr>
              <a:t>"name"</a:t>
            </a:r>
            <a:r>
              <a:rPr lang="en-US" sz="674" dirty="0">
                <a:solidFill>
                  <a:srgbClr val="E5E7EB"/>
                </a:solidFill>
              </a:rPr>
              <a:t>: [</a:t>
            </a:r>
            <a:r>
              <a:rPr lang="en-US" sz="674" dirty="0">
                <a:solidFill>
                  <a:srgbClr val="F59E0B"/>
                </a:solidFill>
              </a:rPr>
              <a:t>"Alice"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"Bob"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"Charlie"</a:t>
            </a:r>
            <a:r>
              <a:rPr lang="en-US" sz="674" dirty="0">
                <a:solidFill>
                  <a:srgbClr val="E5E7EB"/>
                </a:solidFill>
              </a:rPr>
              <a:t>],
</a:t>
            </a:r>
            <a:r>
              <a:rPr lang="en-US" sz="674" dirty="0">
                <a:solidFill>
                  <a:srgbClr val="F59E0B"/>
                </a:solidFill>
              </a:rPr>
              <a:t>"age"</a:t>
            </a:r>
            <a:r>
              <a:rPr lang="en-US" sz="674" dirty="0">
                <a:solidFill>
                  <a:srgbClr val="E5E7EB"/>
                </a:solidFill>
              </a:rPr>
              <a:t>: [</a:t>
            </a:r>
            <a:r>
              <a:rPr lang="en-US" sz="674" dirty="0">
                <a:solidFill>
                  <a:srgbClr val="F59E0B"/>
                </a:solidFill>
              </a:rPr>
              <a:t>25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32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29</a:t>
            </a:r>
            <a:r>
              <a:rPr lang="en-US" sz="674" dirty="0">
                <a:solidFill>
                  <a:srgbClr val="E5E7EB"/>
                </a:solidFill>
              </a:rPr>
              <a:t>]
 })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dataframe</a:t>
            </a:r>
            <a:r>
              <a:rPr lang="en-US" sz="674" dirty="0">
                <a:solidFill>
                  <a:srgbClr val="E5E7EB"/>
                </a:solidFill>
              </a:rPr>
              <a:t>(df)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4686300" y="2943225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✓ Scrollable and sortable by column
 ✓ Automatically formats data types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4686300" y="3343275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03 // Display Images</a:t>
            </a:r>
            <a:endParaRPr lang="en-US" sz="885" dirty="0"/>
          </a:p>
        </p:txBody>
      </p:sp>
      <p:sp>
        <p:nvSpPr>
          <p:cNvPr id="44" name="Text 41"/>
          <p:cNvSpPr/>
          <p:nvPr/>
        </p:nvSpPr>
        <p:spPr>
          <a:xfrm>
            <a:off x="4686300" y="3629025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Display images from URLs or local file paths using </a:t>
            </a:r>
            <a:r>
              <a:rPr lang="en-US" sz="727" dirty="0">
                <a:solidFill>
                  <a:srgbClr val="6366F1"/>
                </a:solidFill>
              </a:rPr>
              <a:t>st.image()</a:t>
            </a:r>
            <a:r>
              <a:rPr lang="en-US" sz="727" dirty="0">
                <a:solidFill>
                  <a:srgbClr val="4B5563"/>
                </a:solidFill>
              </a:rPr>
              <a:t>.</a:t>
            </a:r>
            <a:endParaRPr lang="en-US" sz="727" dirty="0"/>
          </a:p>
        </p:txBody>
      </p:sp>
      <p:sp>
        <p:nvSpPr>
          <p:cNvPr id="45" name="Shape 42"/>
          <p:cNvSpPr/>
          <p:nvPr/>
        </p:nvSpPr>
        <p:spPr>
          <a:xfrm>
            <a:off x="4686300" y="3857625"/>
            <a:ext cx="4000500" cy="86796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686300" y="3857625"/>
            <a:ext cx="28575" cy="86796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772025" y="3943350"/>
            <a:ext cx="382905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image</a:t>
            </a:r>
            <a:r>
              <a:rPr lang="en-US" sz="674" dirty="0">
                <a:solidFill>
                  <a:srgbClr val="E5E7EB"/>
                </a:solidFill>
              </a:rPr>
              <a:t>(
</a:t>
            </a:r>
            <a:r>
              <a:rPr lang="en-US" sz="674" dirty="0">
                <a:solidFill>
                  <a:srgbClr val="F59E0B"/>
                </a:solidFill>
              </a:rPr>
              <a:t>"path/to/image.png"</a:t>
            </a:r>
            <a:r>
              <a:rPr lang="en-US" sz="674" dirty="0">
                <a:solidFill>
                  <a:srgbClr val="E5E7EB"/>
                </a:solidFill>
              </a:rPr>
              <a:t>,
 caption=</a:t>
            </a:r>
            <a:r>
              <a:rPr lang="en-US" sz="674" dirty="0">
                <a:solidFill>
                  <a:srgbClr val="F59E0B"/>
                </a:solidFill>
              </a:rPr>
              <a:t>"Image caption"</a:t>
            </a:r>
            <a:r>
              <a:rPr lang="en-US" sz="674" dirty="0">
                <a:solidFill>
                  <a:srgbClr val="E5E7EB"/>
                </a:solidFill>
              </a:rPr>
              <a:t>,
 use_column_width=</a:t>
            </a:r>
            <a:r>
              <a:rPr lang="en-US" sz="674" dirty="0">
                <a:solidFill>
                  <a:srgbClr val="F59E0B"/>
                </a:solidFill>
              </a:rPr>
              <a:t>True</a:t>
            </a:r>
            <a:r>
              <a:rPr lang="en-US" sz="674" dirty="0">
                <a:solidFill>
                  <a:srgbClr val="E5E7EB"/>
                </a:solidFill>
              </a:rPr>
              <a:t>
 )</a:t>
            </a:r>
            <a:endParaRPr lang="en-US" sz="674" dirty="0"/>
          </a:p>
        </p:txBody>
      </p:sp>
      <p:sp>
        <p:nvSpPr>
          <p:cNvPr id="48" name="Shape 45"/>
          <p:cNvSpPr/>
          <p:nvPr/>
        </p:nvSpPr>
        <p:spPr>
          <a:xfrm>
            <a:off x="457200" y="4839891"/>
            <a:ext cx="8229600" cy="2357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457200" y="4839891"/>
            <a:ext cx="82296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57200" y="4954191"/>
            <a:ext cx="8229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📚 Reference: </a:t>
            </a:r>
            <a:r>
              <a:rPr lang="en-US" sz="621" dirty="0">
                <a:solidFill>
                  <a:srgbClr val="10B981"/>
                </a:solidFill>
              </a:rPr>
              <a:t>docs.streamlit.io/library/api-reference/text</a:t>
            </a:r>
            <a:r>
              <a:rPr lang="en-US" sz="621" dirty="0">
                <a:solidFill>
                  <a:srgbClr val="6B7280"/>
                </a:solidFill>
              </a:rPr>
              <a:t> | </a:t>
            </a:r>
            <a:r>
              <a:rPr lang="en-US" sz="621" dirty="0">
                <a:solidFill>
                  <a:srgbClr val="10B981"/>
                </a:solidFill>
              </a:rPr>
              <a:t>docs.streamlit.io/library/api-reference/data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507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04 </a:t>
            </a:r>
            <a:r>
              <a:rPr lang="en-US" sz="727" dirty="0">
                <a:solidFill>
                  <a:srgbClr val="6B7280"/>
                </a:solidFill>
              </a:rPr>
              <a:t>// User Interaction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57200" y="600075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Interactive Widgets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57200" y="942975"/>
            <a:ext cx="8229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Adding user input to your application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57200" y="1343025"/>
            <a:ext cx="25907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Text &amp; Numeric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57200" y="1732359"/>
            <a:ext cx="6782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st.text_input()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57200" y="1900238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Single-line text input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457200" y="2071688"/>
            <a:ext cx="2590781" cy="17859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2071688"/>
            <a:ext cx="2590781" cy="17859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name = st.text_input(</a:t>
            </a:r>
            <a:r>
              <a:rPr lang="en-US" sz="727" dirty="0">
                <a:solidFill>
                  <a:srgbClr val="F59E0B"/>
                </a:solidFill>
              </a:rPr>
              <a:t>"Name"</a:t>
            </a:r>
            <a:r>
              <a:rPr lang="en-US" sz="727" dirty="0">
                <a:solidFill>
                  <a:srgbClr val="4B5563"/>
                </a:solidFill>
              </a:rPr>
              <a:t>)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57200" y="2461022"/>
            <a:ext cx="8744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st.number_input()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57200" y="2628900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Numeric input with min/max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457200" y="2800350"/>
            <a:ext cx="2590781" cy="54292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800350"/>
            <a:ext cx="2590781" cy="542925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age = st.number_input(
</a:t>
            </a:r>
            <a:r>
              <a:rPr lang="en-US" sz="621" dirty="0">
                <a:solidFill>
                  <a:srgbClr val="F59E0B"/>
                </a:solidFill>
              </a:rPr>
              <a:t>"Age"</a:t>
            </a:r>
            <a:r>
              <a:rPr lang="en-US" sz="621" dirty="0">
                <a:solidFill>
                  <a:srgbClr val="4B5563"/>
                </a:solidFill>
              </a:rPr>
              <a:t>, min_value=</a:t>
            </a:r>
            <a:r>
              <a:rPr lang="en-US" sz="621" dirty="0">
                <a:solidFill>
                  <a:srgbClr val="6366F1"/>
                </a:solidFill>
              </a:rPr>
              <a:t>0</a:t>
            </a:r>
            <a:r>
              <a:rPr lang="en-US" sz="621" dirty="0">
                <a:solidFill>
                  <a:srgbClr val="4B5563"/>
                </a:solidFill>
              </a:rPr>
              <a:t>,
 max_value=</a:t>
            </a:r>
            <a:r>
              <a:rPr lang="en-US" sz="621" dirty="0">
                <a:solidFill>
                  <a:srgbClr val="6366F1"/>
                </a:solidFill>
              </a:rPr>
              <a:t>120</a:t>
            </a:r>
            <a:r>
              <a:rPr lang="en-US" sz="621" dirty="0">
                <a:solidFill>
                  <a:srgbClr val="4B5563"/>
                </a:solidFill>
              </a:rPr>
              <a:t>, value=</a:t>
            </a:r>
            <a:r>
              <a:rPr lang="en-US" sz="621" dirty="0">
                <a:solidFill>
                  <a:srgbClr val="6366F1"/>
                </a:solidFill>
              </a:rPr>
              <a:t>25</a:t>
            </a:r>
            <a:r>
              <a:rPr lang="en-US" sz="621" dirty="0">
                <a:solidFill>
                  <a:srgbClr val="4B5563"/>
                </a:solidFill>
              </a:rPr>
              <a:t>
 )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457200" y="3554016"/>
            <a:ext cx="4533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st.slider()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57200" y="3721894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Slider for numeric ranges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457200" y="3893344"/>
            <a:ext cx="2590781" cy="54292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3893344"/>
            <a:ext cx="2590781" cy="542925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val = st.slider(
</a:t>
            </a:r>
            <a:r>
              <a:rPr lang="en-US" sz="621" dirty="0">
                <a:solidFill>
                  <a:srgbClr val="F59E0B"/>
                </a:solidFill>
              </a:rPr>
              <a:t>"Pick value"</a:t>
            </a:r>
            <a:r>
              <a:rPr lang="en-US" sz="621" dirty="0">
                <a:solidFill>
                  <a:srgbClr val="4B5563"/>
                </a:solidFill>
              </a:rPr>
              <a:t>,
</a:t>
            </a:r>
            <a:r>
              <a:rPr lang="en-US" sz="621" dirty="0">
                <a:solidFill>
                  <a:srgbClr val="6366F1"/>
                </a:solidFill>
              </a:rPr>
              <a:t>0</a:t>
            </a:r>
            <a:r>
              <a:rPr lang="en-US" sz="621" dirty="0">
                <a:solidFill>
                  <a:srgbClr val="4B5563"/>
                </a:solidFill>
              </a:rPr>
              <a:t>, </a:t>
            </a:r>
            <a:r>
              <a:rPr lang="en-US" sz="621" dirty="0">
                <a:solidFill>
                  <a:srgbClr val="6366F1"/>
                </a:solidFill>
              </a:rPr>
              <a:t>100</a:t>
            </a:r>
            <a:r>
              <a:rPr lang="en-US" sz="621" dirty="0">
                <a:solidFill>
                  <a:srgbClr val="4B5563"/>
                </a:solidFill>
              </a:rPr>
              <a:t>, </a:t>
            </a:r>
            <a:r>
              <a:rPr lang="en-US" sz="621" dirty="0">
                <a:solidFill>
                  <a:srgbClr val="6366F1"/>
                </a:solidFill>
              </a:rPr>
              <a:t>50</a:t>
            </a:r>
            <a:r>
              <a:rPr lang="en-US" sz="621" dirty="0">
                <a:solidFill>
                  <a:srgbClr val="4B5563"/>
                </a:solidFill>
              </a:rPr>
              <a:t>
 )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3276581" y="1343025"/>
            <a:ext cx="25908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Selection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3276581" y="1732359"/>
            <a:ext cx="6450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st.selectbox()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3276581" y="1900238"/>
            <a:ext cx="25908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Dropdown menu (single choice)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3276581" y="2071688"/>
            <a:ext cx="2590809" cy="54292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76581" y="2071688"/>
            <a:ext cx="2590809" cy="542925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color = st.selectbox(
</a:t>
            </a:r>
            <a:r>
              <a:rPr lang="en-US" sz="621" dirty="0">
                <a:solidFill>
                  <a:srgbClr val="F59E0B"/>
                </a:solidFill>
              </a:rPr>
              <a:t>"Favourite colour"</a:t>
            </a:r>
            <a:r>
              <a:rPr lang="en-US" sz="621" dirty="0">
                <a:solidFill>
                  <a:srgbClr val="4B5563"/>
                </a:solidFill>
              </a:rPr>
              <a:t>,
 [</a:t>
            </a:r>
            <a:r>
              <a:rPr lang="en-US" sz="621" dirty="0">
                <a:solidFill>
                  <a:srgbClr val="F59E0B"/>
                </a:solidFill>
              </a:rPr>
              <a:t>"Red"</a:t>
            </a:r>
            <a:r>
              <a:rPr lang="en-US" sz="621" dirty="0">
                <a:solidFill>
                  <a:srgbClr val="4B5563"/>
                </a:solidFill>
              </a:rPr>
              <a:t>, </a:t>
            </a:r>
            <a:r>
              <a:rPr lang="en-US" sz="621" dirty="0">
                <a:solidFill>
                  <a:srgbClr val="F59E0B"/>
                </a:solidFill>
              </a:rPr>
              <a:t>"Green"</a:t>
            </a:r>
            <a:r>
              <a:rPr lang="en-US" sz="621" dirty="0">
                <a:solidFill>
                  <a:srgbClr val="4B5563"/>
                </a:solidFill>
              </a:rPr>
              <a:t>, </a:t>
            </a:r>
            <a:r>
              <a:rPr lang="en-US" sz="621" dirty="0">
                <a:solidFill>
                  <a:srgbClr val="F59E0B"/>
                </a:solidFill>
              </a:rPr>
              <a:t>"Blue"</a:t>
            </a:r>
            <a:r>
              <a:rPr lang="en-US" sz="621" dirty="0">
                <a:solidFill>
                  <a:srgbClr val="4B5563"/>
                </a:solidFill>
              </a:rPr>
              <a:t>]
 )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3276581" y="2825353"/>
            <a:ext cx="7255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st.multiselect()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3276581" y="2993231"/>
            <a:ext cx="25908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Multiple selection dropdown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3276581" y="3164681"/>
            <a:ext cx="2590809" cy="54292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276581" y="3164681"/>
            <a:ext cx="2590809" cy="542925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fruits = st.multiselect(
</a:t>
            </a:r>
            <a:r>
              <a:rPr lang="en-US" sz="621" dirty="0">
                <a:solidFill>
                  <a:srgbClr val="F59E0B"/>
                </a:solidFill>
              </a:rPr>
              <a:t>"Choose fruits"</a:t>
            </a:r>
            <a:r>
              <a:rPr lang="en-US" sz="621" dirty="0">
                <a:solidFill>
                  <a:srgbClr val="4B5563"/>
                </a:solidFill>
              </a:rPr>
              <a:t>,
 [</a:t>
            </a:r>
            <a:r>
              <a:rPr lang="en-US" sz="621" dirty="0">
                <a:solidFill>
                  <a:srgbClr val="F59E0B"/>
                </a:solidFill>
              </a:rPr>
              <a:t>"Apple"</a:t>
            </a:r>
            <a:r>
              <a:rPr lang="en-US" sz="621" dirty="0">
                <a:solidFill>
                  <a:srgbClr val="4B5563"/>
                </a:solidFill>
              </a:rPr>
              <a:t>, </a:t>
            </a:r>
            <a:r>
              <a:rPr lang="en-US" sz="621" dirty="0">
                <a:solidFill>
                  <a:srgbClr val="F59E0B"/>
                </a:solidFill>
              </a:rPr>
              <a:t>"Banana"</a:t>
            </a:r>
            <a:r>
              <a:rPr lang="en-US" sz="621" dirty="0">
                <a:solidFill>
                  <a:srgbClr val="4B5563"/>
                </a:solidFill>
              </a:rPr>
              <a:t>]
 )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3276581" y="3918347"/>
            <a:ext cx="6416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st.checkbox()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3276581" y="4086225"/>
            <a:ext cx="25908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Boolean toggle</a:t>
            </a:r>
            <a:endParaRPr lang="en-US" sz="621" dirty="0"/>
          </a:p>
        </p:txBody>
      </p:sp>
      <p:sp>
        <p:nvSpPr>
          <p:cNvPr id="30" name="Shape 27"/>
          <p:cNvSpPr/>
          <p:nvPr/>
        </p:nvSpPr>
        <p:spPr>
          <a:xfrm>
            <a:off x="3276581" y="4257675"/>
            <a:ext cx="2590809" cy="17859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276581" y="4257675"/>
            <a:ext cx="2590809" cy="17859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agree = st.checkbox(</a:t>
            </a:r>
            <a:r>
              <a:rPr lang="en-US" sz="727" dirty="0">
                <a:solidFill>
                  <a:srgbClr val="F59E0B"/>
                </a:solidFill>
              </a:rPr>
              <a:t>"I agree"</a:t>
            </a:r>
            <a:r>
              <a:rPr lang="en-US" sz="727" dirty="0">
                <a:solidFill>
                  <a:srgbClr val="4B5563"/>
                </a:solidFill>
              </a:rPr>
              <a:t>)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6095991" y="1343025"/>
            <a:ext cx="25907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Actions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6095991" y="1732359"/>
            <a:ext cx="5159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st.button()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6095991" y="1900238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Clickable button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6095991" y="2071688"/>
            <a:ext cx="2590781" cy="307181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095991" y="2071688"/>
            <a:ext cx="2590781" cy="307181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if</a:t>
            </a:r>
            <a:r>
              <a:rPr lang="en-US" sz="674" dirty="0">
                <a:solidFill>
                  <a:srgbClr val="4B5563"/>
                </a:solidFill>
              </a:rPr>
              <a:t> st.button(</a:t>
            </a:r>
            <a:r>
              <a:rPr lang="en-US" sz="674" dirty="0">
                <a:solidFill>
                  <a:srgbClr val="F59E0B"/>
                </a:solidFill>
              </a:rPr>
              <a:t>"Click me"</a:t>
            </a:r>
            <a:r>
              <a:rPr lang="en-US" sz="674" dirty="0">
                <a:solidFill>
                  <a:srgbClr val="4B5563"/>
                </a:solidFill>
              </a:rPr>
              <a:t>):
 st.write(</a:t>
            </a:r>
            <a:r>
              <a:rPr lang="en-US" sz="674" dirty="0">
                <a:solidFill>
                  <a:srgbClr val="F59E0B"/>
                </a:solidFill>
              </a:rPr>
              <a:t>"Clicked!"</a:t>
            </a:r>
            <a:r>
              <a:rPr lang="en-US" sz="674" dirty="0">
                <a:solidFill>
                  <a:srgbClr val="4B5563"/>
                </a:solidFill>
              </a:rPr>
              <a:t>)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6095991" y="2589609"/>
            <a:ext cx="7051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st.date_input()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6095991" y="2757488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Date picker</a:t>
            </a:r>
            <a:endParaRPr lang="en-US" sz="621" dirty="0"/>
          </a:p>
        </p:txBody>
      </p:sp>
      <p:sp>
        <p:nvSpPr>
          <p:cNvPr id="39" name="Shape 36"/>
          <p:cNvSpPr/>
          <p:nvPr/>
        </p:nvSpPr>
        <p:spPr>
          <a:xfrm>
            <a:off x="6095991" y="2928938"/>
            <a:ext cx="2590781" cy="17859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095991" y="2928938"/>
            <a:ext cx="2590781" cy="17859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date = st.date_input(</a:t>
            </a:r>
            <a:r>
              <a:rPr lang="en-US" sz="727" dirty="0">
                <a:solidFill>
                  <a:srgbClr val="F59E0B"/>
                </a:solidFill>
              </a:rPr>
              <a:t>"Date"</a:t>
            </a:r>
            <a:r>
              <a:rPr lang="en-US" sz="727" dirty="0">
                <a:solidFill>
                  <a:srgbClr val="4B5563"/>
                </a:solidFill>
              </a:rPr>
              <a:t>)</a:t>
            </a:r>
            <a:endParaRPr lang="en-US" sz="727" dirty="0"/>
          </a:p>
        </p:txBody>
      </p:sp>
      <p:sp>
        <p:nvSpPr>
          <p:cNvPr id="41" name="Shape 38"/>
          <p:cNvSpPr/>
          <p:nvPr/>
        </p:nvSpPr>
        <p:spPr>
          <a:xfrm>
            <a:off x="6095991" y="3429000"/>
            <a:ext cx="2590781" cy="182874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095991" y="3429000"/>
            <a:ext cx="28575" cy="182874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210291" y="3543300"/>
            <a:ext cx="23621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💡 Example Pattern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6210291" y="3743325"/>
            <a:ext cx="2362181" cy="140011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name = st.text_input(</a:t>
            </a:r>
            <a:r>
              <a:rPr lang="en-US" sz="621" dirty="0">
                <a:solidFill>
                  <a:srgbClr val="F59E0B"/>
                </a:solidFill>
              </a:rPr>
              <a:t>"Name"</a:t>
            </a:r>
            <a:r>
              <a:rPr lang="en-US" sz="621" dirty="0">
                <a:solidFill>
                  <a:srgbClr val="4B5563"/>
                </a:solidFill>
              </a:rPr>
              <a:t>)
</a:t>
            </a:r>
            <a:r>
              <a:rPr lang="en-US" sz="621" dirty="0">
                <a:solidFill>
                  <a:srgbClr val="F59E0B"/>
                </a:solidFill>
              </a:rPr>
              <a:t>if</a:t>
            </a:r>
            <a:r>
              <a:rPr lang="en-US" sz="621" dirty="0">
                <a:solidFill>
                  <a:srgbClr val="4B5563"/>
                </a:solidFill>
              </a:rPr>
              <a:t> st.button(</a:t>
            </a:r>
            <a:r>
              <a:rPr lang="en-US" sz="621" dirty="0">
                <a:solidFill>
                  <a:srgbClr val="F59E0B"/>
                </a:solidFill>
              </a:rPr>
              <a:t>"Submit"</a:t>
            </a:r>
            <a:r>
              <a:rPr lang="en-US" sz="621" dirty="0">
                <a:solidFill>
                  <a:srgbClr val="4B5563"/>
                </a:solidFill>
              </a:rPr>
              <a:t>):
</a:t>
            </a:r>
            <a:r>
              <a:rPr lang="en-US" sz="621" dirty="0">
                <a:solidFill>
                  <a:srgbClr val="F59E0B"/>
                </a:solidFill>
              </a:rPr>
              <a:t>if</a:t>
            </a:r>
            <a:r>
              <a:rPr lang="en-US" sz="621" dirty="0">
                <a:solidFill>
                  <a:srgbClr val="4B5563"/>
                </a:solidFill>
              </a:rPr>
              <a:t> name:
 st.success(
</a:t>
            </a:r>
            <a:r>
              <a:rPr lang="en-US" sz="621" dirty="0">
                <a:solidFill>
                  <a:srgbClr val="F59E0B"/>
                </a:solidFill>
              </a:rPr>
              <a:t>f"Hello, {name}!"</a:t>
            </a:r>
            <a:r>
              <a:rPr lang="en-US" sz="621" dirty="0">
                <a:solidFill>
                  <a:srgbClr val="4B5563"/>
                </a:solidFill>
              </a:rPr>
              <a:t>
 )
</a:t>
            </a:r>
            <a:r>
              <a:rPr lang="en-US" sz="621" dirty="0">
                <a:solidFill>
                  <a:srgbClr val="F59E0B"/>
                </a:solidFill>
              </a:rPr>
              <a:t>else</a:t>
            </a:r>
            <a:r>
              <a:rPr lang="en-US" sz="621" dirty="0">
                <a:solidFill>
                  <a:srgbClr val="4B5563"/>
                </a:solidFill>
              </a:rPr>
              <a:t>:
 st.warning(
</a:t>
            </a:r>
            <a:r>
              <a:rPr lang="en-US" sz="621" dirty="0">
                <a:solidFill>
                  <a:srgbClr val="F59E0B"/>
                </a:solidFill>
              </a:rPr>
              <a:t>"Enter name"</a:t>
            </a:r>
            <a:r>
              <a:rPr lang="en-US" sz="621" dirty="0">
                <a:solidFill>
                  <a:srgbClr val="4B5563"/>
                </a:solidFill>
              </a:rPr>
              <a:t>
 )</a:t>
            </a:r>
            <a:endParaRPr lang="en-US" sz="621" dirty="0"/>
          </a:p>
        </p:txBody>
      </p:sp>
      <p:sp>
        <p:nvSpPr>
          <p:cNvPr id="45" name="Shape 42"/>
          <p:cNvSpPr/>
          <p:nvPr/>
        </p:nvSpPr>
        <p:spPr>
          <a:xfrm>
            <a:off x="457200" y="5429194"/>
            <a:ext cx="8229600" cy="2643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57200" y="5429194"/>
            <a:ext cx="82296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57200" y="5543494"/>
            <a:ext cx="8229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Key Concept:</a:t>
            </a:r>
            <a:r>
              <a:rPr lang="en-US" sz="727" dirty="0">
                <a:solidFill>
                  <a:srgbClr val="4B5563"/>
                </a:solidFill>
              </a:rPr>
              <a:t>Widget values are returned immediately and can be stored in variables for use throughout your script.</a:t>
            </a:r>
            <a:endParaRPr lang="en-US" sz="6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007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05 </a:t>
            </a:r>
            <a:r>
              <a:rPr lang="en-US" sz="727" dirty="0">
                <a:solidFill>
                  <a:srgbClr val="6B7280"/>
                </a:solidFill>
              </a:rPr>
              <a:t>// Visualization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342900" y="485775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Data Visualization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342900" y="942975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Built-in Chart Functions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78631" y="1228725"/>
            <a:ext cx="39790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st.line_chart(data)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78631" y="1400175"/>
            <a:ext cx="39790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Time series and trends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478631" y="1585913"/>
            <a:ext cx="39790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st.bar_chart(data)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78631" y="1757363"/>
            <a:ext cx="39790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Categorical comparisons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478631" y="1943100"/>
            <a:ext cx="39790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st.area_chart(data)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78631" y="2114550"/>
            <a:ext cx="39790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Cumulative trends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478631" y="2300288"/>
            <a:ext cx="39790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st.scatter_chart(data)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78631" y="2471738"/>
            <a:ext cx="39790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Relationships between variables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478631" y="2657475"/>
            <a:ext cx="39790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st.map(data)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78631" y="2828925"/>
            <a:ext cx="39790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Geographic data (requires lat/lon columns)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342900" y="3100388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Example Usage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342900" y="3357563"/>
            <a:ext cx="4114800" cy="1521619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2900" y="3357563"/>
            <a:ext cx="28575" cy="152161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8625" y="3443288"/>
            <a:ext cx="3943350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59E0B"/>
                </a:solidFill>
              </a:rPr>
              <a:t>import</a:t>
            </a:r>
            <a:r>
              <a:rPr lang="en-US" sz="727" dirty="0">
                <a:solidFill>
                  <a:srgbClr val="10B981"/>
                </a:solidFill>
              </a:rPr>
              <a:t>pandas</a:t>
            </a:r>
            <a:r>
              <a:rPr lang="en-US" sz="727" dirty="0">
                <a:solidFill>
                  <a:srgbClr val="F59E0B"/>
                </a:solidFill>
              </a:rPr>
              <a:t>as</a:t>
            </a:r>
            <a:r>
              <a:rPr lang="en-US" sz="727" dirty="0">
                <a:solidFill>
                  <a:srgbClr val="10B981"/>
                </a:solidFill>
              </a:rPr>
              <a:t>pd</a:t>
            </a:r>
            <a:r>
              <a:rPr lang="en-US" sz="727" dirty="0">
                <a:solidFill>
                  <a:srgbClr val="E5E7EB"/>
                </a:solidFill>
              </a:rPr>
              <a:t>
</a:t>
            </a:r>
            <a:r>
              <a:rPr lang="en-US" sz="727" dirty="0">
                <a:solidFill>
                  <a:srgbClr val="F59E0B"/>
                </a:solidFill>
              </a:rPr>
              <a:t>import</a:t>
            </a:r>
            <a:r>
              <a:rPr lang="en-US" sz="727" dirty="0">
                <a:solidFill>
                  <a:srgbClr val="10B981"/>
                </a:solidFill>
              </a:rPr>
              <a:t>numpy</a:t>
            </a:r>
            <a:r>
              <a:rPr lang="en-US" sz="727" dirty="0">
                <a:solidFill>
                  <a:srgbClr val="F59E0B"/>
                </a:solidFill>
              </a:rPr>
              <a:t>as</a:t>
            </a:r>
            <a:r>
              <a:rPr lang="en-US" sz="727" dirty="0">
                <a:solidFill>
                  <a:srgbClr val="10B981"/>
                </a:solidFill>
              </a:rPr>
              <a:t>np</a:t>
            </a:r>
            <a:r>
              <a:rPr lang="en-US" sz="727" dirty="0">
                <a:solidFill>
                  <a:srgbClr val="E5E7EB"/>
                </a:solidFill>
              </a:rPr>
              <a:t>
 data = </a:t>
            </a:r>
            <a:r>
              <a:rPr lang="en-US" sz="727" dirty="0">
                <a:solidFill>
                  <a:srgbClr val="6366F1"/>
                </a:solidFill>
              </a:rPr>
              <a:t>pd</a:t>
            </a:r>
            <a:r>
              <a:rPr lang="en-US" sz="727" dirty="0">
                <a:solidFill>
                  <a:srgbClr val="E5E7EB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DataFrame</a:t>
            </a:r>
            <a:r>
              <a:rPr lang="en-US" sz="727" dirty="0">
                <a:solidFill>
                  <a:srgbClr val="E5E7EB"/>
                </a:solidFill>
              </a:rPr>
              <a:t>(
</a:t>
            </a:r>
            <a:r>
              <a:rPr lang="en-US" sz="727" dirty="0">
                <a:solidFill>
                  <a:srgbClr val="6366F1"/>
                </a:solidFill>
              </a:rPr>
              <a:t>np</a:t>
            </a:r>
            <a:r>
              <a:rPr lang="en-US" sz="727" dirty="0">
                <a:solidFill>
                  <a:srgbClr val="E5E7EB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random</a:t>
            </a:r>
            <a:r>
              <a:rPr lang="en-US" sz="727" dirty="0">
                <a:solidFill>
                  <a:srgbClr val="E5E7EB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randn</a:t>
            </a:r>
            <a:r>
              <a:rPr lang="en-US" sz="727" dirty="0">
                <a:solidFill>
                  <a:srgbClr val="E5E7EB"/>
                </a:solidFill>
              </a:rPr>
              <a:t>(</a:t>
            </a:r>
            <a:r>
              <a:rPr lang="en-US" sz="727" dirty="0">
                <a:solidFill>
                  <a:srgbClr val="F59E0B"/>
                </a:solidFill>
              </a:rPr>
              <a:t>20</a:t>
            </a:r>
            <a:r>
              <a:rPr lang="en-US" sz="727" dirty="0">
                <a:solidFill>
                  <a:srgbClr val="E5E7EB"/>
                </a:solidFill>
              </a:rPr>
              <a:t>, </a:t>
            </a:r>
            <a:r>
              <a:rPr lang="en-US" sz="727" dirty="0">
                <a:solidFill>
                  <a:srgbClr val="F59E0B"/>
                </a:solidFill>
              </a:rPr>
              <a:t>3</a:t>
            </a:r>
            <a:r>
              <a:rPr lang="en-US" sz="727" dirty="0">
                <a:solidFill>
                  <a:srgbClr val="E5E7EB"/>
                </a:solidFill>
              </a:rPr>
              <a:t>),
 columns=[</a:t>
            </a:r>
            <a:r>
              <a:rPr lang="en-US" sz="727" dirty="0">
                <a:solidFill>
                  <a:srgbClr val="F59E0B"/>
                </a:solidFill>
              </a:rPr>
              <a:t>"A"</a:t>
            </a:r>
            <a:r>
              <a:rPr lang="en-US" sz="727" dirty="0">
                <a:solidFill>
                  <a:srgbClr val="E5E7EB"/>
                </a:solidFill>
              </a:rPr>
              <a:t>, </a:t>
            </a:r>
            <a:r>
              <a:rPr lang="en-US" sz="727" dirty="0">
                <a:solidFill>
                  <a:srgbClr val="F59E0B"/>
                </a:solidFill>
              </a:rPr>
              <a:t>"B"</a:t>
            </a:r>
            <a:r>
              <a:rPr lang="en-US" sz="727" dirty="0">
                <a:solidFill>
                  <a:srgbClr val="E5E7EB"/>
                </a:solidFill>
              </a:rPr>
              <a:t>, </a:t>
            </a:r>
            <a:r>
              <a:rPr lang="en-US" sz="727" dirty="0">
                <a:solidFill>
                  <a:srgbClr val="F59E0B"/>
                </a:solidFill>
              </a:rPr>
              <a:t>"C"</a:t>
            </a:r>
            <a:r>
              <a:rPr lang="en-US" sz="727" dirty="0">
                <a:solidFill>
                  <a:srgbClr val="E5E7EB"/>
                </a:solidFill>
              </a:rPr>
              <a:t>]
 )
</a:t>
            </a:r>
            <a:r>
              <a:rPr lang="en-US" sz="727" dirty="0">
                <a:solidFill>
                  <a:srgbClr val="6366F1"/>
                </a:solidFill>
              </a:rPr>
              <a:t>st</a:t>
            </a:r>
            <a:r>
              <a:rPr lang="en-US" sz="727" dirty="0">
                <a:solidFill>
                  <a:srgbClr val="E5E7EB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line_chart</a:t>
            </a:r>
            <a:r>
              <a:rPr lang="en-US" sz="727" dirty="0">
                <a:solidFill>
                  <a:srgbClr val="E5E7EB"/>
                </a:solidFill>
              </a:rPr>
              <a:t>(data)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342900" y="5114925"/>
            <a:ext cx="4114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Advanced Options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342900" y="5314950"/>
            <a:ext cx="41148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For more control, integrate </a:t>
            </a:r>
            <a:r>
              <a:rPr lang="en-US" sz="584" b="1" dirty="0">
                <a:solidFill>
                  <a:srgbClr val="4B5563"/>
                </a:solidFill>
              </a:rPr>
              <a:t>Plotly</a:t>
            </a:r>
            <a:r>
              <a:rPr lang="en-US" sz="621" dirty="0">
                <a:solidFill>
                  <a:srgbClr val="4B5563"/>
                </a:solidFill>
              </a:rPr>
              <a:t>, </a:t>
            </a:r>
            <a:r>
              <a:rPr lang="en-US" sz="584" b="1" dirty="0">
                <a:solidFill>
                  <a:srgbClr val="4B5563"/>
                </a:solidFill>
              </a:rPr>
              <a:t>Matplotlib</a:t>
            </a:r>
            <a:r>
              <a:rPr lang="en-US" sz="621" dirty="0">
                <a:solidFill>
                  <a:srgbClr val="4B5563"/>
                </a:solidFill>
              </a:rPr>
              <a:t>, or </a:t>
            </a:r>
            <a:r>
              <a:rPr lang="en-US" sz="584" b="1" dirty="0">
                <a:solidFill>
                  <a:srgbClr val="4B5563"/>
                </a:solidFill>
              </a:rPr>
              <a:t>Altair</a:t>
            </a:r>
            <a:r>
              <a:rPr lang="en-US" sz="621" dirty="0">
                <a:solidFill>
                  <a:srgbClr val="4B5563"/>
                </a:solidFill>
              </a:rPr>
              <a:t>:
</a:t>
            </a:r>
            <a:r>
              <a:rPr lang="en-US" sz="621" dirty="0">
                <a:solidFill>
                  <a:srgbClr val="10B981"/>
                </a:solidFill>
              </a:rPr>
              <a:t>st.plotly_chart(fig)</a:t>
            </a:r>
            <a:r>
              <a:rPr lang="en-US" sz="621" dirty="0">
                <a:solidFill>
                  <a:srgbClr val="4B5563"/>
                </a:solidFill>
              </a:rPr>
              <a:t> | </a:t>
            </a:r>
            <a:r>
              <a:rPr lang="en-US" sz="621" dirty="0">
                <a:solidFill>
                  <a:srgbClr val="10B981"/>
                </a:solidFill>
              </a:rPr>
              <a:t>st.pyplot(matplotlib_fig)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4700588" y="1288219"/>
            <a:ext cx="4086225" cy="300038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00588" y="1573969"/>
            <a:ext cx="4086225" cy="14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14888" y="1391803"/>
            <a:ext cx="10447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6B7280"/>
                </a:solidFill>
              </a:rPr>
              <a:t>CHART TYPES REFERENCE</a:t>
            </a:r>
            <a:endParaRPr lang="en-US" sz="584" dirty="0"/>
          </a:p>
        </p:txBody>
      </p:sp>
      <p:sp>
        <p:nvSpPr>
          <p:cNvPr id="25" name="Shape 22"/>
          <p:cNvSpPr/>
          <p:nvPr/>
        </p:nvSpPr>
        <p:spPr>
          <a:xfrm>
            <a:off x="4700588" y="1581113"/>
            <a:ext cx="4086225" cy="241704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888" y="1695413"/>
            <a:ext cx="3857625" cy="218844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686300" y="4069593"/>
            <a:ext cx="41148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Choose the right chart type for your data and analysis goals</a:t>
            </a:r>
            <a:endParaRPr lang="en-US" sz="621" dirty="0"/>
          </a:p>
        </p:txBody>
      </p:sp>
      <p:sp>
        <p:nvSpPr>
          <p:cNvPr id="28" name="Shape 24"/>
          <p:cNvSpPr/>
          <p:nvPr/>
        </p:nvSpPr>
        <p:spPr>
          <a:xfrm>
            <a:off x="4686300" y="4326768"/>
            <a:ext cx="4114800" cy="928688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686300" y="4326768"/>
            <a:ext cx="28575" cy="92868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772025" y="4412493"/>
            <a:ext cx="3943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Project Connection</a:t>
            </a:r>
            <a:endParaRPr lang="en-US" sz="683" dirty="0"/>
          </a:p>
        </p:txBody>
      </p:sp>
      <p:sp>
        <p:nvSpPr>
          <p:cNvPr id="31" name="Text 27"/>
          <p:cNvSpPr/>
          <p:nvPr/>
        </p:nvSpPr>
        <p:spPr>
          <a:xfrm>
            <a:off x="4772025" y="4612518"/>
            <a:ext cx="39433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These charts will be essential for your domain dashboards:
</a:t>
            </a:r>
            <a:r>
              <a:rPr lang="en-US" sz="584" b="1" dirty="0">
                <a:solidFill>
                  <a:srgbClr val="4B5563"/>
                </a:solidFill>
              </a:rPr>
              <a:t>Cybersecurity:</a:t>
            </a:r>
            <a:r>
              <a:rPr lang="en-US" sz="621" dirty="0">
                <a:solidFill>
                  <a:srgbClr val="4B5563"/>
                </a:solidFill>
              </a:rPr>
              <a:t> Incident trends over time
</a:t>
            </a:r>
            <a:r>
              <a:rPr lang="en-US" sz="584" b="1" dirty="0">
                <a:solidFill>
                  <a:srgbClr val="4B5563"/>
                </a:solidFill>
              </a:rPr>
              <a:t>Data Science:</a:t>
            </a:r>
            <a:r>
              <a:rPr lang="en-US" sz="621" dirty="0">
                <a:solidFill>
                  <a:srgbClr val="4B5563"/>
                </a:solidFill>
              </a:rPr>
              <a:t> Dataset size comparisons
</a:t>
            </a:r>
            <a:r>
              <a:rPr lang="en-US" sz="584" b="1" dirty="0">
                <a:solidFill>
                  <a:srgbClr val="4B5563"/>
                </a:solidFill>
              </a:rPr>
              <a:t>IT Operations:</a:t>
            </a:r>
            <a:r>
              <a:rPr lang="en-US" sz="621" dirty="0">
                <a:solidFill>
                  <a:srgbClr val="4B5563"/>
                </a:solidFill>
              </a:rPr>
              <a:t> Ticket status distribution</a:t>
            </a:r>
            <a:endParaRPr lang="en-US" sz="621" dirty="0"/>
          </a:p>
        </p:txBody>
      </p:sp>
      <p:sp>
        <p:nvSpPr>
          <p:cNvPr id="32" name="Shape 28"/>
          <p:cNvSpPr/>
          <p:nvPr/>
        </p:nvSpPr>
        <p:spPr>
          <a:xfrm>
            <a:off x="342900" y="5679281"/>
            <a:ext cx="8458200" cy="1785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42900" y="5679281"/>
            <a:ext cx="84582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42900" y="5736431"/>
            <a:ext cx="8458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📚 Chart elements: </a:t>
            </a:r>
            <a:r>
              <a:rPr lang="en-US" sz="621" dirty="0">
                <a:solidFill>
                  <a:srgbClr val="10B981"/>
                </a:solidFill>
              </a:rPr>
              <a:t>docs.streamlit.io/library/api-reference/charts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900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06 </a:t>
            </a:r>
            <a:r>
              <a:rPr lang="en-US" sz="727" dirty="0">
                <a:solidFill>
                  <a:srgbClr val="6B7280"/>
                </a:solidFill>
              </a:rPr>
              <a:t>// Layout Components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57200" y="600075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Layout and Structure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57200" y="942975"/>
            <a:ext cx="8229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Creating professional dashboard layouts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85788" y="1471613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1. Page Configuration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585788" y="1757363"/>
            <a:ext cx="3771900" cy="728663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788" y="1757363"/>
            <a:ext cx="28575" cy="72866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1513" y="1843088"/>
            <a:ext cx="36004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set_page_config</a:t>
            </a:r>
            <a:r>
              <a:rPr lang="en-US" sz="674" dirty="0">
                <a:solidFill>
                  <a:srgbClr val="E5E7EB"/>
                </a:solidFill>
              </a:rPr>
              <a:t>(
 page_title=</a:t>
            </a:r>
            <a:r>
              <a:rPr lang="en-US" sz="674" dirty="0">
                <a:solidFill>
                  <a:srgbClr val="F59E0B"/>
                </a:solidFill>
              </a:rPr>
              <a:t>"My App"</a:t>
            </a:r>
            <a:r>
              <a:rPr lang="en-US" sz="674" dirty="0">
                <a:solidFill>
                  <a:srgbClr val="E5E7EB"/>
                </a:solidFill>
              </a:rPr>
              <a:t>,
 layout=</a:t>
            </a:r>
            <a:r>
              <a:rPr lang="en-US" sz="674" dirty="0">
                <a:solidFill>
                  <a:srgbClr val="F59E0B"/>
                </a:solidFill>
              </a:rPr>
              <a:t>"wide"</a:t>
            </a:r>
            <a:r>
              <a:rPr lang="en-US" sz="674" dirty="0">
                <a:solidFill>
                  <a:srgbClr val="E5E7EB"/>
                </a:solidFill>
              </a:rPr>
              <a:t>
 )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585788" y="2571750"/>
            <a:ext cx="377190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Configure page settings including title, layout mode (wide or centered), and page icon. Must be the first Streamlit command.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786313" y="1471613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2. Sidebar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786313" y="1757363"/>
            <a:ext cx="3771900" cy="1007269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86313" y="1757363"/>
            <a:ext cx="28575" cy="100726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72038" y="1843088"/>
            <a:ext cx="36004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with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sidebar</a:t>
            </a:r>
            <a:r>
              <a:rPr lang="en-US" sz="674" dirty="0">
                <a:solidFill>
                  <a:srgbClr val="E5E7EB"/>
                </a:solidFill>
              </a:rPr>
              <a:t>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header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"Controls"</a:t>
            </a:r>
            <a:r>
              <a:rPr lang="en-US" sz="674" dirty="0">
                <a:solidFill>
                  <a:srgbClr val="E5E7EB"/>
                </a:solidFill>
              </a:rPr>
              <a:t>)
 option = 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selectbox</a:t>
            </a:r>
            <a:r>
              <a:rPr lang="en-US" sz="674" dirty="0">
                <a:solidFill>
                  <a:srgbClr val="E5E7EB"/>
                </a:solidFill>
              </a:rPr>
              <a:t>(
</a:t>
            </a:r>
            <a:r>
              <a:rPr lang="en-US" sz="674" dirty="0">
                <a:solidFill>
                  <a:srgbClr val="F59E0B"/>
                </a:solidFill>
              </a:rPr>
              <a:t>"Choose"</a:t>
            </a:r>
            <a:r>
              <a:rPr lang="en-US" sz="674" dirty="0">
                <a:solidFill>
                  <a:srgbClr val="E5E7EB"/>
                </a:solidFill>
              </a:rPr>
              <a:t>,
 [</a:t>
            </a:r>
            <a:r>
              <a:rPr lang="en-US" sz="674" dirty="0">
                <a:solidFill>
                  <a:srgbClr val="F59E0B"/>
                </a:solidFill>
              </a:rPr>
              <a:t>"A"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"B"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"C"</a:t>
            </a:r>
            <a:r>
              <a:rPr lang="en-US" sz="674" dirty="0">
                <a:solidFill>
                  <a:srgbClr val="E5E7EB"/>
                </a:solidFill>
              </a:rPr>
              <a:t>]
 )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4786313" y="2850356"/>
            <a:ext cx="3771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Create a collapsible sidebar for filters and controls. Perfect for dashboard navigation and user inputs.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85788" y="3564731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3. Columns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585788" y="3850481"/>
            <a:ext cx="3771900" cy="114657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85788" y="3850481"/>
            <a:ext cx="28575" cy="11465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1513" y="3936206"/>
            <a:ext cx="360045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5E7EB"/>
                </a:solidFill>
              </a:rPr>
              <a:t>col1, col2 = 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columns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2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F59E0B"/>
                </a:solidFill>
              </a:rPr>
              <a:t>with</a:t>
            </a:r>
            <a:r>
              <a:rPr lang="en-US" sz="674" dirty="0">
                <a:solidFill>
                  <a:srgbClr val="E5E7EB"/>
                </a:solidFill>
              </a:rPr>
              <a:t> col1: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subheader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"Left"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F59E0B"/>
                </a:solidFill>
              </a:rPr>
              <a:t>with</a:t>
            </a:r>
            <a:r>
              <a:rPr lang="en-US" sz="674" dirty="0">
                <a:solidFill>
                  <a:srgbClr val="E5E7EB"/>
                </a:solidFill>
              </a:rPr>
              <a:t> col2: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subheader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"Right"</a:t>
            </a:r>
            <a:r>
              <a:rPr lang="en-US" sz="674" dirty="0">
                <a:solidFill>
                  <a:srgbClr val="E5E7EB"/>
                </a:solidFill>
              </a:rPr>
              <a:t>)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585788" y="5082778"/>
            <a:ext cx="3771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Split content into side-by-side columns for parallel comparisons and efficient space usage.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786313" y="3564731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4. Expanders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4786313" y="3850481"/>
            <a:ext cx="3771900" cy="589359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86313" y="3850481"/>
            <a:ext cx="28575" cy="58935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72038" y="3936206"/>
            <a:ext cx="36004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with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expander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"See details"</a:t>
            </a:r>
            <a:r>
              <a:rPr lang="en-US" sz="674" dirty="0">
                <a:solidFill>
                  <a:srgbClr val="E5E7EB"/>
                </a:solidFill>
              </a:rPr>
              <a:t>):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write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"Hidden content"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dataframe</a:t>
            </a:r>
            <a:r>
              <a:rPr lang="en-US" sz="674" dirty="0">
                <a:solidFill>
                  <a:srgbClr val="E5E7EB"/>
                </a:solidFill>
              </a:rPr>
              <a:t>(df)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4786313" y="4525566"/>
            <a:ext cx="3771900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Create collapsible sections to hide detailed information until needed. Great for raw data tables and technical details.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457200" y="5668566"/>
            <a:ext cx="8229600" cy="2643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57200" y="5668566"/>
            <a:ext cx="82296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" y="5782866"/>
            <a:ext cx="42537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B5563"/>
                </a:solidFill>
              </a:rPr>
              <a:t>Pro Tip:</a:t>
            </a:r>
            <a:r>
              <a:rPr lang="en-US" sz="727" dirty="0">
                <a:solidFill>
                  <a:srgbClr val="4B5563"/>
                </a:solidFill>
              </a:rPr>
              <a:t> Combine sidebar + columns + expanders to create professional dashboard layouts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7504733" y="5797153"/>
            <a:ext cx="11820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st.divider() // Visual separator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150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07 </a:t>
            </a:r>
            <a:r>
              <a:rPr lang="en-US" sz="727" dirty="0">
                <a:solidFill>
                  <a:srgbClr val="6B7280"/>
                </a:solidFill>
              </a:rPr>
              <a:t>// Practical Application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342900" y="485775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Building a Simple Dashboard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342900" y="800100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Putting it all together: widgets + charts + layout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342900" y="1626375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Dashboard Components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983563"/>
            <a:ext cx="171450" cy="1714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8625" y="19835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57225" y="1983563"/>
            <a:ext cx="18672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Sidebar for Filters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57225" y="2183588"/>
            <a:ext cx="18672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User controls (year, threshold, category)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428625" y="2526488"/>
            <a:ext cx="171450" cy="1714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8625" y="25264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657225" y="2526488"/>
            <a:ext cx="11671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Main Content Area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57225" y="2726513"/>
            <a:ext cx="11671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Charts and visualizations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28625" y="3069413"/>
            <a:ext cx="171450" cy="1714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8625" y="30694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657225" y="3069413"/>
            <a:ext cx="11960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Columns for Layout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657225" y="3269438"/>
            <a:ext cx="119607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Side-by-side comparisons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428625" y="3612338"/>
            <a:ext cx="171450" cy="1714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8625" y="36123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57225" y="3612338"/>
            <a:ext cx="1323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Expanders for Details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57225" y="3812363"/>
            <a:ext cx="13237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Raw data tables (collapsible)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342900" y="4781513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Key Pattern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342900" y="5038688"/>
            <a:ext cx="7275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Filter in sidebar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1127568" y="5038688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→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1284731" y="5038688"/>
            <a:ext cx="59639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Process data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1938272" y="5038688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→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2095435" y="5038688"/>
            <a:ext cx="9519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366F1"/>
                </a:solidFill>
              </a:rPr>
              <a:t>Display in main area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4686300" y="1143000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Example Structure</a:t>
            </a:r>
            <a:endParaRPr lang="en-US" sz="987" dirty="0"/>
          </a:p>
        </p:txBody>
      </p:sp>
      <p:sp>
        <p:nvSpPr>
          <p:cNvPr id="30" name="Shape 27"/>
          <p:cNvSpPr/>
          <p:nvPr/>
        </p:nvSpPr>
        <p:spPr>
          <a:xfrm>
            <a:off x="4686300" y="1428750"/>
            <a:ext cx="4114800" cy="407193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686300" y="1428750"/>
            <a:ext cx="28575" cy="407193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772025" y="1514475"/>
            <a:ext cx="3943350" cy="3900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set_page_config</a:t>
            </a:r>
            <a:r>
              <a:rPr lang="en-US" sz="674" dirty="0">
                <a:solidFill>
                  <a:srgbClr val="E5E7EB"/>
                </a:solidFill>
              </a:rPr>
              <a:t>(layout=</a:t>
            </a:r>
            <a:r>
              <a:rPr lang="en-US" sz="674" dirty="0">
                <a:solidFill>
                  <a:srgbClr val="F59E0B"/>
                </a:solidFill>
              </a:rPr>
              <a:t>"wide"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title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"📊 Sales Dashboard"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B7280"/>
                </a:solidFill>
              </a:rPr>
              <a:t># Sidebar filters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F59E0B"/>
                </a:solidFill>
              </a:rPr>
              <a:t>with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sidebar</a:t>
            </a:r>
            <a:r>
              <a:rPr lang="en-US" sz="674" dirty="0">
                <a:solidFill>
                  <a:srgbClr val="E5E7EB"/>
                </a:solidFill>
              </a:rPr>
              <a:t>:
 year = 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selectbox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"Year"</a:t>
            </a:r>
            <a:r>
              <a:rPr lang="en-US" sz="674" dirty="0">
                <a:solidFill>
                  <a:srgbClr val="E5E7EB"/>
                </a:solidFill>
              </a:rPr>
              <a:t>, [</a:t>
            </a:r>
            <a:r>
              <a:rPr lang="en-US" sz="674" dirty="0">
                <a:solidFill>
                  <a:srgbClr val="F59E0B"/>
                </a:solidFill>
              </a:rPr>
              <a:t>2023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2024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2025</a:t>
            </a:r>
            <a:r>
              <a:rPr lang="en-US" sz="674" dirty="0">
                <a:solidFill>
                  <a:srgbClr val="E5E7EB"/>
                </a:solidFill>
              </a:rPr>
              <a:t>])
 min_revenue = 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slider</a:t>
            </a:r>
            <a:r>
              <a:rPr lang="en-US" sz="674" dirty="0">
                <a:solidFill>
                  <a:srgbClr val="E5E7EB"/>
                </a:solidFill>
              </a:rPr>
              <a:t>(
</a:t>
            </a:r>
            <a:r>
              <a:rPr lang="en-US" sz="674" dirty="0">
                <a:solidFill>
                  <a:srgbClr val="F59E0B"/>
                </a:solidFill>
              </a:rPr>
              <a:t>"Min revenue"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0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100000</a:t>
            </a:r>
            <a:r>
              <a:rPr lang="en-US" sz="674" dirty="0">
                <a:solidFill>
                  <a:srgbClr val="E5E7EB"/>
                </a:solidFill>
              </a:rPr>
              <a:t>, </a:t>
            </a:r>
            <a:r>
              <a:rPr lang="en-US" sz="674" dirty="0">
                <a:solidFill>
                  <a:srgbClr val="F59E0B"/>
                </a:solidFill>
              </a:rPr>
              <a:t>20000</a:t>
            </a:r>
            <a:r>
              <a:rPr lang="en-US" sz="674" dirty="0">
                <a:solidFill>
                  <a:srgbClr val="E5E7EB"/>
                </a:solidFill>
              </a:rPr>
              <a:t>
 )
</a:t>
            </a:r>
            <a:r>
              <a:rPr lang="en-US" sz="674" dirty="0">
                <a:solidFill>
                  <a:srgbClr val="6B7280"/>
                </a:solidFill>
              </a:rPr>
              <a:t># Apply filters to data</a:t>
            </a:r>
            <a:r>
              <a:rPr lang="en-US" sz="674" dirty="0">
                <a:solidFill>
                  <a:srgbClr val="E5E7EB"/>
                </a:solidFill>
              </a:rPr>
              <a:t>
 filtered = df[(df[</a:t>
            </a:r>
            <a:r>
              <a:rPr lang="en-US" sz="674" dirty="0">
                <a:solidFill>
                  <a:srgbClr val="F59E0B"/>
                </a:solidFill>
              </a:rPr>
              <a:t>"year"</a:t>
            </a:r>
            <a:r>
              <a:rPr lang="en-US" sz="674" dirty="0">
                <a:solidFill>
                  <a:srgbClr val="E5E7EB"/>
                </a:solidFill>
              </a:rPr>
              <a:t>] == year) &amp;
 (df[</a:t>
            </a:r>
            <a:r>
              <a:rPr lang="en-US" sz="674" dirty="0">
                <a:solidFill>
                  <a:srgbClr val="F59E0B"/>
                </a:solidFill>
              </a:rPr>
              <a:t>"revenue"</a:t>
            </a:r>
            <a:r>
              <a:rPr lang="en-US" sz="674" dirty="0">
                <a:solidFill>
                  <a:srgbClr val="E5E7EB"/>
                </a:solidFill>
              </a:rPr>
              <a:t>] &gt;= min_revenue)]
</a:t>
            </a:r>
            <a:r>
              <a:rPr lang="en-US" sz="674" dirty="0">
                <a:solidFill>
                  <a:srgbClr val="6B7280"/>
                </a:solidFill>
              </a:rPr>
              <a:t># Layout with columns</a:t>
            </a:r>
            <a:r>
              <a:rPr lang="en-US" sz="674" dirty="0">
                <a:solidFill>
                  <a:srgbClr val="E5E7EB"/>
                </a:solidFill>
              </a:rPr>
              <a:t>
 col1, col2 = 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columns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2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F59E0B"/>
                </a:solidFill>
              </a:rPr>
              <a:t>with</a:t>
            </a:r>
            <a:r>
              <a:rPr lang="en-US" sz="674" dirty="0">
                <a:solidFill>
                  <a:srgbClr val="E5E7EB"/>
                </a:solidFill>
              </a:rPr>
              <a:t> col1: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subheader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"Revenue by Region"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bar_chart</a:t>
            </a:r>
            <a:r>
              <a:rPr lang="en-US" sz="674" dirty="0">
                <a:solidFill>
                  <a:srgbClr val="E5E7EB"/>
                </a:solidFill>
              </a:rPr>
              <a:t>(filtered)
</a:t>
            </a:r>
            <a:r>
              <a:rPr lang="en-US" sz="674" dirty="0">
                <a:solidFill>
                  <a:srgbClr val="F59E0B"/>
                </a:solidFill>
              </a:rPr>
              <a:t>with</a:t>
            </a:r>
            <a:r>
              <a:rPr lang="en-US" sz="674" dirty="0">
                <a:solidFill>
                  <a:srgbClr val="E5E7EB"/>
                </a:solidFill>
              </a:rPr>
              <a:t> col2: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subheader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"Revenue Distribution"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line_chart</a:t>
            </a:r>
            <a:r>
              <a:rPr lang="en-US" sz="674" dirty="0">
                <a:solidFill>
                  <a:srgbClr val="E5E7EB"/>
                </a:solidFill>
              </a:rPr>
              <a:t>(filtered)
</a:t>
            </a:r>
            <a:r>
              <a:rPr lang="en-US" sz="674" dirty="0">
                <a:solidFill>
                  <a:srgbClr val="6B7280"/>
                </a:solidFill>
              </a:rPr>
              <a:t># Expandable data table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F59E0B"/>
                </a:solidFill>
              </a:rPr>
              <a:t>with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expander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"See filtered data"</a:t>
            </a:r>
            <a:r>
              <a:rPr lang="en-US" sz="674" dirty="0">
                <a:solidFill>
                  <a:srgbClr val="E5E7EB"/>
                </a:solidFill>
              </a:rPr>
              <a:t>):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dataframe</a:t>
            </a:r>
            <a:r>
              <a:rPr lang="en-US" sz="674" dirty="0">
                <a:solidFill>
                  <a:srgbClr val="E5E7EB"/>
                </a:solidFill>
              </a:rPr>
              <a:t>(filtered)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4686300" y="5557838"/>
            <a:ext cx="41148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This pattern creates a professional, interactive dashboard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906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08 </a:t>
            </a:r>
            <a:r>
              <a:rPr lang="en-US" sz="727" dirty="0">
                <a:solidFill>
                  <a:srgbClr val="6B7280"/>
                </a:solidFill>
              </a:rPr>
              <a:t>// Application Structure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342900" y="485775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Multi-Page Applications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342900" y="800100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Project structure for complex apps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342900" y="1294414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Project Structure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342900" y="1580164"/>
            <a:ext cx="4114800" cy="2143125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704008"/>
            <a:ext cx="388620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6366F1"/>
                </a:solidFill>
              </a:rPr>
              <a:t>📁</a:t>
            </a:r>
            <a:r>
              <a:rPr lang="en-US" sz="734" b="1" dirty="0">
                <a:solidFill>
                  <a:srgbClr val="6366F1"/>
                </a:solidFill>
              </a:rPr>
              <a:t>my_app/</a:t>
            </a:r>
            <a:r>
              <a:rPr lang="en-US" sz="780" dirty="0">
                <a:solidFill>
                  <a:srgbClr val="1F2937"/>
                </a:solidFill>
              </a:rPr>
              <a:t>
</a:t>
            </a:r>
            <a:r>
              <a:rPr lang="en-US" sz="780" dirty="0">
                <a:solidFill>
                  <a:srgbClr val="6B7280"/>
                </a:solidFill>
              </a:rPr>
              <a:t>│</a:t>
            </a:r>
            <a:r>
              <a:rPr lang="en-US" sz="780" dirty="0">
                <a:solidFill>
                  <a:srgbClr val="1F2937"/>
                </a:solidFill>
              </a:rPr>
              <a:t>
</a:t>
            </a:r>
            <a:r>
              <a:rPr lang="en-US" sz="780" dirty="0">
                <a:solidFill>
                  <a:srgbClr val="6B7280"/>
                </a:solidFill>
              </a:rPr>
              <a:t>├──</a:t>
            </a:r>
            <a:r>
              <a:rPr lang="en-US" sz="780" dirty="0">
                <a:solidFill>
                  <a:srgbClr val="10B981"/>
                </a:solidFill>
              </a:rPr>
              <a:t>📄</a:t>
            </a:r>
            <a:r>
              <a:rPr lang="en-US" sz="734" b="1" dirty="0">
                <a:solidFill>
                  <a:srgbClr val="10B981"/>
                </a:solidFill>
              </a:rPr>
              <a:t>Home.py</a:t>
            </a:r>
            <a:r>
              <a:rPr lang="en-US" sz="674" dirty="0">
                <a:solidFill>
                  <a:srgbClr val="6B7280"/>
                </a:solidFill>
              </a:rPr>
              <a:t># Main entry point</a:t>
            </a:r>
            <a:r>
              <a:rPr lang="en-US" sz="780" dirty="0">
                <a:solidFill>
                  <a:srgbClr val="1F2937"/>
                </a:solidFill>
              </a:rPr>
              <a:t>
</a:t>
            </a:r>
            <a:r>
              <a:rPr lang="en-US" sz="780" dirty="0">
                <a:solidFill>
                  <a:srgbClr val="6B7280"/>
                </a:solidFill>
              </a:rPr>
              <a:t>│</a:t>
            </a:r>
            <a:r>
              <a:rPr lang="en-US" sz="780" dirty="0">
                <a:solidFill>
                  <a:srgbClr val="1F2937"/>
                </a:solidFill>
              </a:rPr>
              <a:t>
</a:t>
            </a:r>
            <a:r>
              <a:rPr lang="en-US" sz="780" dirty="0">
                <a:solidFill>
                  <a:srgbClr val="6B7280"/>
                </a:solidFill>
              </a:rPr>
              <a:t>└──</a:t>
            </a:r>
            <a:r>
              <a:rPr lang="en-US" sz="780" dirty="0">
                <a:solidFill>
                  <a:srgbClr val="6366F1"/>
                </a:solidFill>
              </a:rPr>
              <a:t>📁</a:t>
            </a:r>
            <a:r>
              <a:rPr lang="en-US" sz="734" b="1" dirty="0">
                <a:solidFill>
                  <a:srgbClr val="6366F1"/>
                </a:solidFill>
              </a:rPr>
              <a:t>pages/</a:t>
            </a:r>
            <a:r>
              <a:rPr lang="en-US" sz="780" dirty="0">
                <a:solidFill>
                  <a:srgbClr val="1F2937"/>
                </a:solidFill>
              </a:rPr>
              <a:t>
</a:t>
            </a:r>
            <a:r>
              <a:rPr lang="en-US" sz="780" dirty="0">
                <a:solidFill>
                  <a:srgbClr val="6B7280"/>
                </a:solidFill>
              </a:rPr>
              <a:t> │</a:t>
            </a:r>
            <a:r>
              <a:rPr lang="en-US" sz="780" dirty="0">
                <a:solidFill>
                  <a:srgbClr val="1F2937"/>
                </a:solidFill>
              </a:rPr>
              <a:t>
</a:t>
            </a:r>
            <a:r>
              <a:rPr lang="en-US" sz="780" dirty="0">
                <a:solidFill>
                  <a:srgbClr val="6B7280"/>
                </a:solidFill>
              </a:rPr>
              <a:t> ├──</a:t>
            </a:r>
            <a:r>
              <a:rPr lang="en-US" sz="780" dirty="0">
                <a:solidFill>
                  <a:srgbClr val="10B981"/>
                </a:solidFill>
              </a:rPr>
              <a:t>📄1_Dashboard.py</a:t>
            </a:r>
            <a:r>
              <a:rPr lang="en-US" sz="674" dirty="0">
                <a:solidFill>
                  <a:srgbClr val="6B7280"/>
                </a:solidFill>
              </a:rPr>
              <a:t># Page 1</a:t>
            </a:r>
            <a:r>
              <a:rPr lang="en-US" sz="780" dirty="0">
                <a:solidFill>
                  <a:srgbClr val="1F2937"/>
                </a:solidFill>
              </a:rPr>
              <a:t>
</a:t>
            </a:r>
            <a:r>
              <a:rPr lang="en-US" sz="780" dirty="0">
                <a:solidFill>
                  <a:srgbClr val="6B7280"/>
                </a:solidFill>
              </a:rPr>
              <a:t> │</a:t>
            </a:r>
            <a:r>
              <a:rPr lang="en-US" sz="780" dirty="0">
                <a:solidFill>
                  <a:srgbClr val="1F2937"/>
                </a:solidFill>
              </a:rPr>
              <a:t>
</a:t>
            </a:r>
            <a:r>
              <a:rPr lang="en-US" sz="780" dirty="0">
                <a:solidFill>
                  <a:srgbClr val="6B7280"/>
                </a:solidFill>
              </a:rPr>
              <a:t> ├──</a:t>
            </a:r>
            <a:r>
              <a:rPr lang="en-US" sz="780" dirty="0">
                <a:solidFill>
                  <a:srgbClr val="10B981"/>
                </a:solidFill>
              </a:rPr>
              <a:t>📄2_Analytics.py</a:t>
            </a:r>
            <a:r>
              <a:rPr lang="en-US" sz="674" dirty="0">
                <a:solidFill>
                  <a:srgbClr val="6B7280"/>
                </a:solidFill>
              </a:rPr>
              <a:t># Page 2</a:t>
            </a:r>
            <a:r>
              <a:rPr lang="en-US" sz="780" dirty="0">
                <a:solidFill>
                  <a:srgbClr val="1F2937"/>
                </a:solidFill>
              </a:rPr>
              <a:t>
</a:t>
            </a:r>
            <a:r>
              <a:rPr lang="en-US" sz="780" dirty="0">
                <a:solidFill>
                  <a:srgbClr val="6B7280"/>
                </a:solidFill>
              </a:rPr>
              <a:t> │</a:t>
            </a:r>
            <a:r>
              <a:rPr lang="en-US" sz="780" dirty="0">
                <a:solidFill>
                  <a:srgbClr val="1F2937"/>
                </a:solidFill>
              </a:rPr>
              <a:t>
</a:t>
            </a:r>
            <a:r>
              <a:rPr lang="en-US" sz="780" dirty="0">
                <a:solidFill>
                  <a:srgbClr val="6B7280"/>
                </a:solidFill>
              </a:rPr>
              <a:t> └──</a:t>
            </a:r>
            <a:r>
              <a:rPr lang="en-US" sz="780" dirty="0">
                <a:solidFill>
                  <a:srgbClr val="10B981"/>
                </a:solidFill>
              </a:rPr>
              <a:t>📄3_Settings.py</a:t>
            </a:r>
            <a:r>
              <a:rPr lang="en-US" sz="674" dirty="0">
                <a:solidFill>
                  <a:srgbClr val="6B7280"/>
                </a:solidFill>
              </a:rPr>
              <a:t># Page 3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42900" y="3979515"/>
            <a:ext cx="4114800" cy="51435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2900" y="3979515"/>
            <a:ext cx="28575" cy="51435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8625" y="4065240"/>
            <a:ext cx="3943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Naming Convention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28625" y="4265265"/>
            <a:ext cx="3943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Prefix numbers (</a:t>
            </a:r>
            <a:r>
              <a:rPr lang="en-US" sz="727" dirty="0">
                <a:solidFill>
                  <a:srgbClr val="10B981"/>
                </a:solidFill>
              </a:rPr>
              <a:t>1_</a:t>
            </a:r>
            <a:r>
              <a:rPr lang="en-US" sz="727" dirty="0">
                <a:solidFill>
                  <a:srgbClr val="4B5563"/>
                </a:solidFill>
              </a:rPr>
              <a:t>, </a:t>
            </a:r>
            <a:r>
              <a:rPr lang="en-US" sz="727" dirty="0">
                <a:solidFill>
                  <a:srgbClr val="10B981"/>
                </a:solidFill>
              </a:rPr>
              <a:t>2_</a:t>
            </a:r>
            <a:r>
              <a:rPr lang="en-US" sz="727" dirty="0">
                <a:solidFill>
                  <a:srgbClr val="4B5563"/>
                </a:solidFill>
              </a:rPr>
              <a:t>, </a:t>
            </a:r>
            <a:r>
              <a:rPr lang="en-US" sz="727" dirty="0">
                <a:solidFill>
                  <a:srgbClr val="10B981"/>
                </a:solidFill>
              </a:rPr>
              <a:t>3_</a:t>
            </a:r>
            <a:r>
              <a:rPr lang="en-US" sz="727" dirty="0">
                <a:solidFill>
                  <a:srgbClr val="4B5563"/>
                </a:solidFill>
              </a:rPr>
              <a:t>) control the order in navigation menu.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686300" y="1143000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How It Works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686300" y="1428750"/>
            <a:ext cx="4114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1.</a:t>
            </a:r>
            <a:r>
              <a:rPr lang="en-US" sz="727" dirty="0">
                <a:solidFill>
                  <a:srgbClr val="10B981"/>
                </a:solidFill>
              </a:rPr>
              <a:t>Home.py</a:t>
            </a:r>
            <a:r>
              <a:rPr lang="en-US" sz="727" dirty="0">
                <a:solidFill>
                  <a:srgbClr val="4B5563"/>
                </a:solidFill>
              </a:rPr>
              <a:t> is the main page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686300" y="1693069"/>
            <a:ext cx="4114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2.</a:t>
            </a:r>
            <a:r>
              <a:rPr lang="en-US" sz="727" dirty="0">
                <a:solidFill>
                  <a:srgbClr val="4B5563"/>
                </a:solidFill>
              </a:rPr>
              <a:t> Files in </a:t>
            </a:r>
            <a:r>
              <a:rPr lang="en-US" sz="727" dirty="0">
                <a:solidFill>
                  <a:srgbClr val="6366F1"/>
                </a:solidFill>
              </a:rPr>
              <a:t>pages/</a:t>
            </a:r>
            <a:r>
              <a:rPr lang="en-US" sz="727" dirty="0">
                <a:solidFill>
                  <a:srgbClr val="4B5563"/>
                </a:solidFill>
              </a:rPr>
              <a:t> become additional pages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686300" y="1957388"/>
            <a:ext cx="4114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3.</a:t>
            </a:r>
            <a:r>
              <a:rPr lang="en-US" sz="727" dirty="0">
                <a:solidFill>
                  <a:srgbClr val="4B5563"/>
                </a:solidFill>
              </a:rPr>
              <a:t> Streamlit automatically creates navigation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686300" y="2221706"/>
            <a:ext cx="4114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4.</a:t>
            </a:r>
            <a:r>
              <a:rPr lang="en-US" sz="727" dirty="0">
                <a:solidFill>
                  <a:srgbClr val="4B5563"/>
                </a:solidFill>
              </a:rPr>
              <a:t> Prefix numbers control display order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686300" y="2507456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Running the App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4686300" y="2764631"/>
            <a:ext cx="4114800" cy="321469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86300" y="2764631"/>
            <a:ext cx="28575" cy="32146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72025" y="2850356"/>
            <a:ext cx="39433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$</a:t>
            </a:r>
            <a:r>
              <a:rPr lang="en-US" sz="727" dirty="0">
                <a:solidFill>
                  <a:srgbClr val="E5E7EB"/>
                </a:solidFill>
              </a:rPr>
              <a:t> streamlit run Home.py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686300" y="3200400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Navigation Features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4686300" y="3457575"/>
            <a:ext cx="41148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✓ </a:t>
            </a:r>
            <a:r>
              <a:rPr lang="en-US" sz="683" b="1" dirty="0">
                <a:solidFill>
                  <a:srgbClr val="4B5563"/>
                </a:solidFill>
              </a:rPr>
              <a:t>Automatic sidebar menu</a:t>
            </a:r>
            <a:r>
              <a:rPr lang="en-US" sz="727" dirty="0">
                <a:solidFill>
                  <a:srgbClr val="4B5563"/>
                </a:solidFill>
              </a:rPr>
              <a:t> with page links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4686300" y="3684724"/>
            <a:ext cx="41148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✓ </a:t>
            </a:r>
            <a:r>
              <a:rPr lang="en-US" sz="683" b="1" dirty="0">
                <a:solidFill>
                  <a:srgbClr val="4B5563"/>
                </a:solidFill>
              </a:rPr>
              <a:t>Programmatic navigation</a:t>
            </a:r>
            <a:r>
              <a:rPr lang="en-US" sz="727" dirty="0">
                <a:solidFill>
                  <a:srgbClr val="4B5563"/>
                </a:solidFill>
              </a:rPr>
              <a:t> with </a:t>
            </a:r>
            <a:r>
              <a:rPr lang="en-US" sz="727" dirty="0">
                <a:solidFill>
                  <a:srgbClr val="10B981"/>
                </a:solidFill>
              </a:rPr>
              <a:t>st.switch_page()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4686300" y="4026173"/>
            <a:ext cx="4114800" cy="62865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86300" y="4026173"/>
            <a:ext cx="28575" cy="62865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72025" y="4111898"/>
            <a:ext cx="3943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Project Application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772025" y="4283348"/>
            <a:ext cx="3943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The Multi-Domain Intelligence Platform uses this structure for </a:t>
            </a:r>
            <a:r>
              <a:rPr lang="en-US" sz="683" b="1" dirty="0">
                <a:solidFill>
                  <a:srgbClr val="4B5563"/>
                </a:solidFill>
              </a:rPr>
              <a:t>Login</a:t>
            </a:r>
            <a:r>
              <a:rPr lang="en-US" sz="727" dirty="0">
                <a:solidFill>
                  <a:srgbClr val="4B5563"/>
                </a:solidFill>
              </a:rPr>
              <a:t> and </a:t>
            </a:r>
            <a:r>
              <a:rPr lang="en-US" sz="683" b="1" dirty="0">
                <a:solidFill>
                  <a:srgbClr val="4B5563"/>
                </a:solidFill>
              </a:rPr>
              <a:t>Dashboard</a:t>
            </a:r>
            <a:r>
              <a:rPr lang="en-US" sz="727" dirty="0">
                <a:solidFill>
                  <a:srgbClr val="4B5563"/>
                </a:solidFill>
              </a:rPr>
              <a:t> pages.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342900" y="4740548"/>
            <a:ext cx="8458200" cy="2071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42900" y="4740548"/>
            <a:ext cx="84582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42900" y="4826273"/>
            <a:ext cx="8458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📚 Multi-page apps: </a:t>
            </a:r>
            <a:r>
              <a:rPr lang="en-US" sz="621" dirty="0">
                <a:solidFill>
                  <a:srgbClr val="10B981"/>
                </a:solidFill>
              </a:rPr>
              <a:t>docs.streamlit.io/library/get-started/multipage-apps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763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10 </a:t>
            </a:r>
            <a:r>
              <a:rPr lang="en-US" sz="727" dirty="0">
                <a:solidFill>
                  <a:srgbClr val="6B7280"/>
                </a:solidFill>
              </a:rPr>
              <a:t>// State Management (Part 1 of 2)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57200" y="600075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Session State Management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57200" y="942975"/>
            <a:ext cx="8229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Understanding the problem and solution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457200" y="1343025"/>
            <a:ext cx="3971925" cy="4040349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343025"/>
            <a:ext cx="28575" cy="4040349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0075" y="1485900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DC2626"/>
                </a:solidFill>
              </a:rPr>
              <a:t>⚠ The Problem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00075" y="1800225"/>
            <a:ext cx="36861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Streamlit reruns the entire script on every interaction, so </a:t>
            </a:r>
            <a:r>
              <a:rPr lang="en-US" sz="784" b="1" dirty="0">
                <a:solidFill>
                  <a:srgbClr val="4B5563"/>
                </a:solidFill>
              </a:rPr>
              <a:t>variables are reset each time</a:t>
            </a:r>
            <a:r>
              <a:rPr lang="en-US" sz="834" dirty="0">
                <a:solidFill>
                  <a:srgbClr val="4B5563"/>
                </a:solidFill>
              </a:rPr>
              <a:t>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600075" y="2343150"/>
            <a:ext cx="3686175" cy="246872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00075" y="2343150"/>
            <a:ext cx="28575" cy="24687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4375" y="2457450"/>
            <a:ext cx="3457575" cy="2240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# This won't work as expected:</a:t>
            </a:r>
            <a:r>
              <a:rPr lang="en-US" sz="727" dirty="0">
                <a:solidFill>
                  <a:srgbClr val="E5E7EB"/>
                </a:solidFill>
              </a:rPr>
              <a:t>
 logged_in = </a:t>
            </a:r>
            <a:r>
              <a:rPr lang="en-US" sz="727" dirty="0">
                <a:solidFill>
                  <a:srgbClr val="F59E0B"/>
                </a:solidFill>
              </a:rPr>
              <a:t>False</a:t>
            </a:r>
            <a:r>
              <a:rPr lang="en-US" sz="727" dirty="0">
                <a:solidFill>
                  <a:srgbClr val="E5E7EB"/>
                </a:solidFill>
              </a:rPr>
              <a:t>
</a:t>
            </a:r>
            <a:r>
              <a:rPr lang="en-US" sz="727" dirty="0">
                <a:solidFill>
                  <a:srgbClr val="F59E0B"/>
                </a:solidFill>
              </a:rPr>
              <a:t>if</a:t>
            </a:r>
            <a:r>
              <a:rPr lang="en-US" sz="727" dirty="0">
                <a:solidFill>
                  <a:srgbClr val="E5E7EB"/>
                </a:solidFill>
              </a:rPr>
              <a:t> st.button(</a:t>
            </a:r>
            <a:r>
              <a:rPr lang="en-US" sz="727" dirty="0">
                <a:solidFill>
                  <a:srgbClr val="F59E0B"/>
                </a:solidFill>
              </a:rPr>
              <a:t>"Log in"</a:t>
            </a:r>
            <a:r>
              <a:rPr lang="en-US" sz="727" dirty="0">
                <a:solidFill>
                  <a:srgbClr val="E5E7EB"/>
                </a:solidFill>
              </a:rPr>
              <a:t>):
 logged_in = </a:t>
            </a:r>
            <a:r>
              <a:rPr lang="en-US" sz="727" dirty="0">
                <a:solidFill>
                  <a:srgbClr val="F59E0B"/>
                </a:solidFill>
              </a:rPr>
              <a:t>True</a:t>
            </a:r>
            <a:r>
              <a:rPr lang="en-US" sz="727" dirty="0">
                <a:solidFill>
                  <a:srgbClr val="E5E7EB"/>
                </a:solidFill>
              </a:rPr>
              <a:t>
 st.write(</a:t>
            </a:r>
            <a:r>
              <a:rPr lang="en-US" sz="727" dirty="0">
                <a:solidFill>
                  <a:srgbClr val="F59E0B"/>
                </a:solidFill>
              </a:rPr>
              <a:t>"Logged in!"</a:t>
            </a:r>
            <a:r>
              <a:rPr lang="en-US" sz="727" dirty="0">
                <a:solidFill>
                  <a:srgbClr val="E5E7EB"/>
                </a:solidFill>
              </a:rPr>
              <a:t>)
</a:t>
            </a:r>
            <a:r>
              <a:rPr lang="en-US" sz="727" dirty="0">
                <a:solidFill>
                  <a:srgbClr val="F59E0B"/>
                </a:solidFill>
              </a:rPr>
              <a:t>if</a:t>
            </a:r>
            <a:r>
              <a:rPr lang="en-US" sz="727" dirty="0">
                <a:solidFill>
                  <a:srgbClr val="E5E7EB"/>
                </a:solidFill>
              </a:rPr>
              <a:t> logged_in:
 st.write(</a:t>
            </a:r>
            <a:r>
              <a:rPr lang="en-US" sz="727" dirty="0">
                <a:solidFill>
                  <a:srgbClr val="F59E0B"/>
                </a:solidFill>
              </a:rPr>
              <a:t>"Welcome!"</a:t>
            </a:r>
            <a:r>
              <a:rPr lang="en-US" sz="727" dirty="0">
                <a:solidFill>
                  <a:srgbClr val="E5E7EB"/>
                </a:solidFill>
              </a:rPr>
              <a:t>)
</a:t>
            </a:r>
            <a:r>
              <a:rPr lang="en-US" sz="727" dirty="0">
                <a:solidFill>
                  <a:srgbClr val="6B7280"/>
                </a:solidFill>
              </a:rPr>
              <a:t># Problem: logged_in resets to False</a:t>
            </a:r>
            <a:r>
              <a:rPr lang="en-US" sz="727" dirty="0">
                <a:solidFill>
                  <a:srgbClr val="E5E7EB"/>
                </a:solidFill>
              </a:rPr>
              <a:t>
</a:t>
            </a:r>
            <a:r>
              <a:rPr lang="en-US" sz="727" dirty="0">
                <a:solidFill>
                  <a:srgbClr val="6B7280"/>
                </a:solidFill>
              </a:rPr>
              <a:t># on the next rerun!</a:t>
            </a:r>
            <a:r>
              <a:rPr lang="en-US" sz="727" dirty="0">
                <a:solidFill>
                  <a:srgbClr val="E5E7EB"/>
                </a:solidFill>
              </a:rPr>
              <a:t>
</a:t>
            </a:r>
            <a:r>
              <a:rPr lang="en-US" sz="727" dirty="0">
                <a:solidFill>
                  <a:srgbClr val="6B7280"/>
                </a:solidFill>
              </a:rPr>
              <a:t># "Welcome!" message never appears.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600075" y="4926174"/>
            <a:ext cx="3686175" cy="314325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5011899"/>
            <a:ext cx="3514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91B1B"/>
                </a:solidFill>
              </a:rPr>
              <a:t>Result: State is lost between interactions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4714875" y="1343025"/>
            <a:ext cx="3971925" cy="4040349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14875" y="1343025"/>
            <a:ext cx="28575" cy="404034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57750" y="1485900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✓ The Solution: st.session_state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857750" y="1800225"/>
            <a:ext cx="36861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A dictionary-like object that </a:t>
            </a:r>
            <a:r>
              <a:rPr lang="en-US" sz="784" b="1" dirty="0">
                <a:solidFill>
                  <a:srgbClr val="4B5563"/>
                </a:solidFill>
              </a:rPr>
              <a:t>persists data across reruns and pages</a:t>
            </a:r>
            <a:r>
              <a:rPr lang="en-US" sz="834" dirty="0">
                <a:solidFill>
                  <a:srgbClr val="4B5563"/>
                </a:solidFill>
              </a:rPr>
              <a:t>.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4857750" y="2157413"/>
            <a:ext cx="3686175" cy="2654461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57750" y="2157413"/>
            <a:ext cx="28575" cy="265446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72050" y="2271713"/>
            <a:ext cx="3457575" cy="2240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# This persists across reruns:</a:t>
            </a:r>
            <a:r>
              <a:rPr lang="en-US" sz="727" dirty="0">
                <a:solidFill>
                  <a:srgbClr val="E5E7EB"/>
                </a:solidFill>
              </a:rPr>
              <a:t>
</a:t>
            </a:r>
            <a:r>
              <a:rPr lang="en-US" sz="727" dirty="0">
                <a:solidFill>
                  <a:srgbClr val="F59E0B"/>
                </a:solidFill>
              </a:rPr>
              <a:t>if"logged_in"not in</a:t>
            </a:r>
            <a:r>
              <a:rPr lang="en-US" sz="727" dirty="0">
                <a:solidFill>
                  <a:srgbClr val="6366F1"/>
                </a:solidFill>
              </a:rPr>
              <a:t>st</a:t>
            </a:r>
            <a:r>
              <a:rPr lang="en-US" sz="727" dirty="0">
                <a:solidFill>
                  <a:srgbClr val="E5E7EB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session_state</a:t>
            </a:r>
            <a:r>
              <a:rPr lang="en-US" sz="727" dirty="0">
                <a:solidFill>
                  <a:srgbClr val="E5E7EB"/>
                </a:solidFill>
              </a:rPr>
              <a:t>:
</a:t>
            </a:r>
            <a:r>
              <a:rPr lang="en-US" sz="727" dirty="0">
                <a:solidFill>
                  <a:srgbClr val="6366F1"/>
                </a:solidFill>
              </a:rPr>
              <a:t>st</a:t>
            </a:r>
            <a:r>
              <a:rPr lang="en-US" sz="727" dirty="0">
                <a:solidFill>
                  <a:srgbClr val="E5E7EB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session_state</a:t>
            </a:r>
            <a:r>
              <a:rPr lang="en-US" sz="727" dirty="0">
                <a:solidFill>
                  <a:srgbClr val="E5E7EB"/>
                </a:solidFill>
              </a:rPr>
              <a:t>.logged_in = </a:t>
            </a:r>
            <a:r>
              <a:rPr lang="en-US" sz="727" dirty="0">
                <a:solidFill>
                  <a:srgbClr val="F59E0B"/>
                </a:solidFill>
              </a:rPr>
              <a:t>False</a:t>
            </a:r>
            <a:r>
              <a:rPr lang="en-US" sz="727" dirty="0">
                <a:solidFill>
                  <a:srgbClr val="E5E7EB"/>
                </a:solidFill>
              </a:rPr>
              <a:t>
</a:t>
            </a:r>
            <a:r>
              <a:rPr lang="en-US" sz="727" dirty="0">
                <a:solidFill>
                  <a:srgbClr val="F59E0B"/>
                </a:solidFill>
              </a:rPr>
              <a:t>if</a:t>
            </a:r>
            <a:r>
              <a:rPr lang="en-US" sz="727" dirty="0">
                <a:solidFill>
                  <a:srgbClr val="E5E7EB"/>
                </a:solidFill>
              </a:rPr>
              <a:t> st.button(</a:t>
            </a:r>
            <a:r>
              <a:rPr lang="en-US" sz="727" dirty="0">
                <a:solidFill>
                  <a:srgbClr val="F59E0B"/>
                </a:solidFill>
              </a:rPr>
              <a:t>"Log in"</a:t>
            </a:r>
            <a:r>
              <a:rPr lang="en-US" sz="727" dirty="0">
                <a:solidFill>
                  <a:srgbClr val="E5E7EB"/>
                </a:solidFill>
              </a:rPr>
              <a:t>):
</a:t>
            </a:r>
            <a:r>
              <a:rPr lang="en-US" sz="727" dirty="0">
                <a:solidFill>
                  <a:srgbClr val="6366F1"/>
                </a:solidFill>
              </a:rPr>
              <a:t>st</a:t>
            </a:r>
            <a:r>
              <a:rPr lang="en-US" sz="727" dirty="0">
                <a:solidFill>
                  <a:srgbClr val="E5E7EB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session_state</a:t>
            </a:r>
            <a:r>
              <a:rPr lang="en-US" sz="727" dirty="0">
                <a:solidFill>
                  <a:srgbClr val="E5E7EB"/>
                </a:solidFill>
              </a:rPr>
              <a:t>.logged_in = </a:t>
            </a:r>
            <a:r>
              <a:rPr lang="en-US" sz="727" dirty="0">
                <a:solidFill>
                  <a:srgbClr val="F59E0B"/>
                </a:solidFill>
              </a:rPr>
              <a:t>True</a:t>
            </a:r>
            <a:r>
              <a:rPr lang="en-US" sz="727" dirty="0">
                <a:solidFill>
                  <a:srgbClr val="E5E7EB"/>
                </a:solidFill>
              </a:rPr>
              <a:t>
 st.write(</a:t>
            </a:r>
            <a:r>
              <a:rPr lang="en-US" sz="727" dirty="0">
                <a:solidFill>
                  <a:srgbClr val="F59E0B"/>
                </a:solidFill>
              </a:rPr>
              <a:t>"Logged in!"</a:t>
            </a:r>
            <a:r>
              <a:rPr lang="en-US" sz="727" dirty="0">
                <a:solidFill>
                  <a:srgbClr val="E5E7EB"/>
                </a:solidFill>
              </a:rPr>
              <a:t>)
</a:t>
            </a:r>
            <a:r>
              <a:rPr lang="en-US" sz="727" dirty="0">
                <a:solidFill>
                  <a:srgbClr val="F59E0B"/>
                </a:solidFill>
              </a:rPr>
              <a:t>if</a:t>
            </a:r>
            <a:r>
              <a:rPr lang="en-US" sz="727" dirty="0">
                <a:solidFill>
                  <a:srgbClr val="6366F1"/>
                </a:solidFill>
              </a:rPr>
              <a:t>st</a:t>
            </a:r>
            <a:r>
              <a:rPr lang="en-US" sz="727" dirty="0">
                <a:solidFill>
                  <a:srgbClr val="E5E7EB"/>
                </a:solidFill>
              </a:rPr>
              <a:t>.</a:t>
            </a:r>
            <a:r>
              <a:rPr lang="en-US" sz="727" dirty="0">
                <a:solidFill>
                  <a:srgbClr val="10B981"/>
                </a:solidFill>
              </a:rPr>
              <a:t>session_state</a:t>
            </a:r>
            <a:r>
              <a:rPr lang="en-US" sz="727" dirty="0">
                <a:solidFill>
                  <a:srgbClr val="E5E7EB"/>
                </a:solidFill>
              </a:rPr>
              <a:t>.logged_in:
 st.write(</a:t>
            </a:r>
            <a:r>
              <a:rPr lang="en-US" sz="727" dirty="0">
                <a:solidFill>
                  <a:srgbClr val="F59E0B"/>
                </a:solidFill>
              </a:rPr>
              <a:t>"Welcome!"</a:t>
            </a:r>
            <a:r>
              <a:rPr lang="en-US" sz="727" dirty="0">
                <a:solidFill>
                  <a:srgbClr val="E5E7EB"/>
                </a:solidFill>
              </a:rPr>
              <a:t>)
</a:t>
            </a:r>
            <a:r>
              <a:rPr lang="en-US" sz="727" dirty="0">
                <a:solidFill>
                  <a:srgbClr val="6B7280"/>
                </a:solidFill>
              </a:rPr>
              <a:t># Success: logged_in persists!</a:t>
            </a:r>
            <a:r>
              <a:rPr lang="en-US" sz="727" dirty="0">
                <a:solidFill>
                  <a:srgbClr val="E5E7EB"/>
                </a:solidFill>
              </a:rPr>
              <a:t>
</a:t>
            </a:r>
            <a:r>
              <a:rPr lang="en-US" sz="727" dirty="0">
                <a:solidFill>
                  <a:srgbClr val="6B7280"/>
                </a:solidFill>
              </a:rPr>
              <a:t># "Welcome!" message appears on every rerun.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4857750" y="4926174"/>
            <a:ext cx="3686175" cy="314325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943475" y="5011899"/>
            <a:ext cx="3514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65F46"/>
                </a:solidFill>
              </a:rPr>
              <a:t>Result: State persists across interactions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457200" y="5554824"/>
            <a:ext cx="8229600" cy="2643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7200" y="5554824"/>
            <a:ext cx="82296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" y="5669124"/>
            <a:ext cx="8229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Key Concept:</a:t>
            </a:r>
            <a:r>
              <a:rPr lang="en-US" sz="727" dirty="0">
                <a:solidFill>
                  <a:srgbClr val="4B5563"/>
                </a:solidFill>
              </a:rPr>
              <a:t>Session state persists data across reruns and pages, solving the variable reset problem.</a:t>
            </a:r>
            <a:r>
              <a:rPr lang="en-US" sz="727" i="1" dirty="0">
                <a:solidFill>
                  <a:srgbClr val="6B7280"/>
                </a:solidFill>
              </a:rPr>
              <a:t>Next: Usage patterns and practical applications →</a:t>
            </a:r>
            <a:endParaRPr lang="en-US" sz="68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900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10 </a:t>
            </a:r>
            <a:r>
              <a:rPr lang="en-US" sz="727" dirty="0">
                <a:solidFill>
                  <a:srgbClr val="6B7280"/>
                </a:solidFill>
              </a:rPr>
              <a:t>// State Management (Part 2)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342900" y="485775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Session State Management - Part 2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342900" y="800100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Practical usage patterns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342900" y="1114425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1. Initialization Pattern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342900" y="1400175"/>
            <a:ext cx="4114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Always check if a key exists before using it: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342900" y="1600200"/>
            <a:ext cx="4114800" cy="1285875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2900" y="1600200"/>
            <a:ext cx="28575" cy="128587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8625" y="1685925"/>
            <a:ext cx="39433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if"logged_in"not in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.logged_in = </a:t>
            </a:r>
            <a:r>
              <a:rPr lang="en-US" sz="674" dirty="0">
                <a:solidFill>
                  <a:srgbClr val="F59E0B"/>
                </a:solidFill>
              </a:rPr>
              <a:t>False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F59E0B"/>
                </a:solidFill>
              </a:rPr>
              <a:t>if"username"not in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.username = </a:t>
            </a:r>
            <a:r>
              <a:rPr lang="en-US" sz="674" dirty="0">
                <a:solidFill>
                  <a:srgbClr val="F59E0B"/>
                </a:solidFill>
              </a:rPr>
              <a:t>""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F59E0B"/>
                </a:solidFill>
              </a:rPr>
              <a:t>if"users"not in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.users = {}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342900" y="2943225"/>
            <a:ext cx="41148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This pattern prevents KeyError exceptions.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342900" y="3057525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2. Reading and Writing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342900" y="3343275"/>
            <a:ext cx="4114800" cy="1982391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42900" y="3343275"/>
            <a:ext cx="28575" cy="198239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28625" y="3429000"/>
            <a:ext cx="3943350" cy="181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# Write values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.logged_in = </a:t>
            </a:r>
            <a:r>
              <a:rPr lang="en-US" sz="674" dirty="0">
                <a:solidFill>
                  <a:srgbClr val="F59E0B"/>
                </a:solidFill>
              </a:rPr>
              <a:t>True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.username = </a:t>
            </a:r>
            <a:r>
              <a:rPr lang="en-US" sz="674" dirty="0">
                <a:solidFill>
                  <a:srgbClr val="F59E0B"/>
                </a:solidFill>
              </a:rPr>
              <a:t>"Alice"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.role = </a:t>
            </a:r>
            <a:r>
              <a:rPr lang="en-US" sz="674" dirty="0">
                <a:solidFill>
                  <a:srgbClr val="F59E0B"/>
                </a:solidFill>
              </a:rPr>
              <a:t>"admin"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B7280"/>
                </a:solidFill>
              </a:rPr>
              <a:t># Read values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F59E0B"/>
                </a:solidFill>
              </a:rPr>
              <a:t>if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.logged_in: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write</a:t>
            </a:r>
            <a:r>
              <a:rPr lang="en-US" sz="674" dirty="0">
                <a:solidFill>
                  <a:srgbClr val="E5E7EB"/>
                </a:solidFill>
              </a:rPr>
              <a:t>(
</a:t>
            </a:r>
            <a:r>
              <a:rPr lang="en-US" sz="674" dirty="0">
                <a:solidFill>
                  <a:srgbClr val="F59E0B"/>
                </a:solidFill>
              </a:rPr>
              <a:t>f"Welcome, </a:t>
            </a:r>
            <a:r>
              <a:rPr lang="en-US" sz="674" dirty="0">
                <a:solidFill>
                  <a:srgbClr val="E5E7EB"/>
                </a:solidFill>
              </a:rPr>
              <a:t>{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.username}</a:t>
            </a:r>
            <a:r>
              <a:rPr lang="en-US" sz="674" dirty="0">
                <a:solidFill>
                  <a:srgbClr val="F59E0B"/>
                </a:solidFill>
              </a:rPr>
              <a:t>!"</a:t>
            </a:r>
            <a:r>
              <a:rPr lang="en-US" sz="674" dirty="0">
                <a:solidFill>
                  <a:srgbClr val="E5E7EB"/>
                </a:solidFill>
              </a:rPr>
              <a:t>
 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write</a:t>
            </a:r>
            <a:r>
              <a:rPr lang="en-US" sz="674" dirty="0">
                <a:solidFill>
                  <a:srgbClr val="E5E7EB"/>
                </a:solidFill>
              </a:rPr>
              <a:t>(
</a:t>
            </a:r>
            <a:r>
              <a:rPr lang="en-US" sz="674" dirty="0">
                <a:solidFill>
                  <a:srgbClr val="F59E0B"/>
                </a:solidFill>
              </a:rPr>
              <a:t>f"Role: </a:t>
            </a:r>
            <a:r>
              <a:rPr lang="en-US" sz="674" dirty="0">
                <a:solidFill>
                  <a:srgbClr val="E5E7EB"/>
                </a:solidFill>
              </a:rPr>
              <a:t>{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session_state</a:t>
            </a:r>
            <a:r>
              <a:rPr lang="en-US" sz="674" dirty="0">
                <a:solidFill>
                  <a:srgbClr val="E5E7EB"/>
                </a:solidFill>
              </a:rPr>
              <a:t>.role}</a:t>
            </a:r>
            <a:r>
              <a:rPr lang="en-US" sz="674" dirty="0">
                <a:solidFill>
                  <a:srgbClr val="F59E0B"/>
                </a:solidFill>
              </a:rPr>
              <a:t>"</a:t>
            </a:r>
            <a:r>
              <a:rPr lang="en-US" sz="674" dirty="0">
                <a:solidFill>
                  <a:srgbClr val="E5E7EB"/>
                </a:solidFill>
              </a:rPr>
              <a:t>
 )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342900" y="5382816"/>
            <a:ext cx="41148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Access session state values using dot notation.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4686300" y="1521898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Critical for Project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686300" y="1807648"/>
            <a:ext cx="4114800" cy="1794421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86300" y="1807648"/>
            <a:ext cx="28575" cy="1794421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00600" y="1921948"/>
            <a:ext cx="3886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🎯 Session State Will Store: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800600" y="2179123"/>
            <a:ext cx="38862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• Login Status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800600" y="2349122"/>
            <a:ext cx="3886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logged_in</a:t>
            </a:r>
            <a:r>
              <a:rPr lang="en-US" sz="621" dirty="0">
                <a:solidFill>
                  <a:srgbClr val="6B7280"/>
                </a:solidFill>
              </a:rPr>
              <a:t>: True/False to track authentication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4800600" y="2520572"/>
            <a:ext cx="38862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• User Information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4800600" y="2690571"/>
            <a:ext cx="3886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username</a:t>
            </a:r>
            <a:r>
              <a:rPr lang="en-US" sz="621" dirty="0">
                <a:solidFill>
                  <a:srgbClr val="6B7280"/>
                </a:solidFill>
              </a:rPr>
              <a:t>, </a:t>
            </a:r>
            <a:r>
              <a:rPr lang="en-US" sz="621" dirty="0">
                <a:solidFill>
                  <a:srgbClr val="10B981"/>
                </a:solidFill>
              </a:rPr>
              <a:t>role</a:t>
            </a:r>
            <a:r>
              <a:rPr lang="en-US" sz="621" dirty="0">
                <a:solidFill>
                  <a:srgbClr val="6B7280"/>
                </a:solidFill>
              </a:rPr>
              <a:t> for personalization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4800600" y="2862021"/>
            <a:ext cx="38862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• Navigation State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800600" y="3032020"/>
            <a:ext cx="3886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Current page and navigation history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4800600" y="3203470"/>
            <a:ext cx="38862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• User Database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800600" y="3373469"/>
            <a:ext cx="3886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users</a:t>
            </a:r>
            <a:r>
              <a:rPr lang="en-US" sz="621" dirty="0">
                <a:solidFill>
                  <a:srgbClr val="6B7280"/>
                </a:solidFill>
              </a:rPr>
              <a:t> dictionary for in-memory storage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4686300" y="4009541"/>
            <a:ext cx="4114800" cy="1080046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686300" y="4009541"/>
            <a:ext cx="28575" cy="108004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772025" y="4095266"/>
            <a:ext cx="3943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✓ Key Benefits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772025" y="4323866"/>
            <a:ext cx="3943350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B5563"/>
                </a:solidFill>
              </a:rPr>
              <a:t>Persistence:</a:t>
            </a:r>
            <a:r>
              <a:rPr lang="en-US" sz="727" dirty="0">
                <a:solidFill>
                  <a:srgbClr val="4B5563"/>
                </a:solidFill>
              </a:rPr>
              <a:t> Data survives across page reruns
</a:t>
            </a:r>
            <a:r>
              <a:rPr lang="en-US" sz="683" b="1" dirty="0">
                <a:solidFill>
                  <a:srgbClr val="4B5563"/>
                </a:solidFill>
              </a:rPr>
              <a:t>Multi-page:</a:t>
            </a:r>
            <a:r>
              <a:rPr lang="en-US" sz="727" dirty="0">
                <a:solidFill>
                  <a:srgbClr val="4B5563"/>
                </a:solidFill>
              </a:rPr>
              <a:t> Shared across all pages in your app
</a:t>
            </a:r>
            <a:r>
              <a:rPr lang="en-US" sz="683" b="1" dirty="0">
                <a:solidFill>
                  <a:srgbClr val="4B5563"/>
                </a:solidFill>
              </a:rPr>
              <a:t>User-specific:</a:t>
            </a:r>
            <a:r>
              <a:rPr lang="en-US" sz="727" dirty="0">
                <a:solidFill>
                  <a:srgbClr val="4B5563"/>
                </a:solidFill>
              </a:rPr>
              <a:t> Each user session has its own state
</a:t>
            </a:r>
            <a:r>
              <a:rPr lang="en-US" sz="683" b="1" dirty="0">
                <a:solidFill>
                  <a:srgbClr val="4B5563"/>
                </a:solidFill>
              </a:rPr>
              <a:t>Simple API:</a:t>
            </a:r>
            <a:r>
              <a:rPr lang="en-US" sz="727" dirty="0">
                <a:solidFill>
                  <a:srgbClr val="4B5563"/>
                </a:solidFill>
              </a:rPr>
              <a:t> Easy to read and write like a dictionary</a:t>
            </a:r>
            <a:endParaRPr lang="en-US" sz="683" dirty="0"/>
          </a:p>
        </p:txBody>
      </p:sp>
      <p:sp>
        <p:nvSpPr>
          <p:cNvPr id="33" name="Shape 30"/>
          <p:cNvSpPr/>
          <p:nvPr/>
        </p:nvSpPr>
        <p:spPr>
          <a:xfrm>
            <a:off x="342900" y="5611416"/>
            <a:ext cx="8458200" cy="2357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342900" y="5611416"/>
            <a:ext cx="84582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42900" y="5697141"/>
            <a:ext cx="8458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Remember:</a:t>
            </a:r>
            <a:r>
              <a:rPr lang="en-US" sz="727" dirty="0">
                <a:solidFill>
                  <a:srgbClr val="4B5563"/>
                </a:solidFill>
              </a:rPr>
              <a:t>Session state persists across reruns and pages, making it essential for authentication and user data management.</a:t>
            </a:r>
            <a:endParaRPr lang="en-US" sz="68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915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11 </a:t>
            </a:r>
            <a:r>
              <a:rPr lang="en-US" sz="727" dirty="0">
                <a:solidFill>
                  <a:srgbClr val="6B7280"/>
                </a:solidFill>
              </a:rPr>
              <a:t>// Authentication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Authentication System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Part 1: Setup and Login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285750" y="1428192"/>
            <a:ext cx="4200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1. Tab Structure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285750" y="1656792"/>
            <a:ext cx="42005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Create tabs using </a:t>
            </a:r>
            <a:r>
              <a:rPr lang="en-US" sz="727" dirty="0">
                <a:solidFill>
                  <a:srgbClr val="10B981"/>
                </a:solidFill>
              </a:rPr>
              <a:t>st.tabs()</a:t>
            </a:r>
            <a:r>
              <a:rPr lang="en-US" sz="727" dirty="0">
                <a:solidFill>
                  <a:srgbClr val="4B5563"/>
                </a:solidFill>
              </a:rPr>
              <a:t>: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285750" y="1856817"/>
            <a:ext cx="4200525" cy="1222809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85750" y="1856817"/>
            <a:ext cx="28575" cy="122280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7188" y="1928254"/>
            <a:ext cx="4057650" cy="1079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5E7EB"/>
                </a:solidFill>
              </a:rPr>
              <a:t>tab_login, tab_register = 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tabs</a:t>
            </a:r>
            <a:r>
              <a:rPr lang="en-US" sz="621" dirty="0">
                <a:solidFill>
                  <a:srgbClr val="E5E7EB"/>
                </a:solidFill>
              </a:rPr>
              <a:t>([
</a:t>
            </a:r>
            <a:r>
              <a:rPr lang="en-US" sz="621" dirty="0">
                <a:solidFill>
                  <a:srgbClr val="F59E0B"/>
                </a:solidFill>
              </a:rPr>
              <a:t>"Login"</a:t>
            </a:r>
            <a:r>
              <a:rPr lang="en-US" sz="621" dirty="0">
                <a:solidFill>
                  <a:srgbClr val="E5E7EB"/>
                </a:solidFill>
              </a:rPr>
              <a:t>, </a:t>
            </a:r>
            <a:r>
              <a:rPr lang="en-US" sz="621" dirty="0">
                <a:solidFill>
                  <a:srgbClr val="F59E0B"/>
                </a:solidFill>
              </a:rPr>
              <a:t>"Register"</a:t>
            </a:r>
            <a:r>
              <a:rPr lang="en-US" sz="621" dirty="0">
                <a:solidFill>
                  <a:srgbClr val="E5E7EB"/>
                </a:solidFill>
              </a:rPr>
              <a:t>
 ])
</a:t>
            </a:r>
            <a:r>
              <a:rPr lang="en-US" sz="621" dirty="0">
                <a:solidFill>
                  <a:srgbClr val="F59E0B"/>
                </a:solidFill>
              </a:rPr>
              <a:t>with</a:t>
            </a:r>
            <a:r>
              <a:rPr lang="en-US" sz="621" dirty="0">
                <a:solidFill>
                  <a:srgbClr val="E5E7EB"/>
                </a:solidFill>
              </a:rPr>
              <a:t> tab_login:
</a:t>
            </a:r>
            <a:r>
              <a:rPr lang="en-US" sz="621" dirty="0">
                <a:solidFill>
                  <a:srgbClr val="6B7280"/>
                </a:solidFill>
              </a:rPr>
              <a:t># Login form here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F59E0B"/>
                </a:solidFill>
              </a:rPr>
              <a:t>with</a:t>
            </a:r>
            <a:r>
              <a:rPr lang="en-US" sz="621" dirty="0">
                <a:solidFill>
                  <a:srgbClr val="E5E7EB"/>
                </a:solidFill>
              </a:rPr>
              <a:t> tab_register:
</a:t>
            </a:r>
            <a:r>
              <a:rPr lang="en-US" sz="621" dirty="0">
                <a:solidFill>
                  <a:srgbClr val="6B7280"/>
                </a:solidFill>
              </a:rPr>
              <a:t># Registration form here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285750" y="3479118"/>
            <a:ext cx="4200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2. Session State Initialization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285750" y="3707718"/>
            <a:ext cx="42005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Initialize session state variables: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285750" y="3907743"/>
            <a:ext cx="4200525" cy="146279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85750" y="3907743"/>
            <a:ext cx="28575" cy="146279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57188" y="3979180"/>
            <a:ext cx="4057650" cy="13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# Initialize users dictionary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F59E0B"/>
                </a:solidFill>
              </a:rPr>
              <a:t>if"users"not in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.session_state: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.session_state.users = {}
</a:t>
            </a:r>
            <a:r>
              <a:rPr lang="en-US" sz="621" dirty="0">
                <a:solidFill>
                  <a:srgbClr val="6B7280"/>
                </a:solidFill>
              </a:rPr>
              <a:t># Initialize login status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F59E0B"/>
                </a:solidFill>
              </a:rPr>
              <a:t>if"logged_in"not in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.session_state: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.session_state.logged_in = </a:t>
            </a:r>
            <a:r>
              <a:rPr lang="en-US" sz="621" dirty="0">
                <a:solidFill>
                  <a:srgbClr val="F59E0B"/>
                </a:solidFill>
              </a:rPr>
              <a:t>False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6B7280"/>
                </a:solidFill>
              </a:rPr>
              <a:t># Initialize username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F59E0B"/>
                </a:solidFill>
              </a:rPr>
              <a:t>if"username"not in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.session_state: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.session_state.username = </a:t>
            </a:r>
            <a:r>
              <a:rPr lang="en-US" sz="621" dirty="0">
                <a:solidFill>
                  <a:srgbClr val="F59E0B"/>
                </a:solidFill>
              </a:rPr>
              <a:t>""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4657725" y="1028700"/>
            <a:ext cx="4200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3. Login Logic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657725" y="1257300"/>
            <a:ext cx="42005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Complete login implementation: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4657725" y="1457325"/>
            <a:ext cx="4200525" cy="386264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57725" y="1457325"/>
            <a:ext cx="28575" cy="38626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29163" y="1528763"/>
            <a:ext cx="4057650" cy="3719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with</a:t>
            </a:r>
            <a:r>
              <a:rPr lang="en-US" sz="621" dirty="0">
                <a:solidFill>
                  <a:srgbClr val="E5E7EB"/>
                </a:solidFill>
              </a:rPr>
              <a:t> tab_login: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subheader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"Login"</a:t>
            </a:r>
            <a:r>
              <a:rPr lang="en-US" sz="621" dirty="0">
                <a:solidFill>
                  <a:srgbClr val="E5E7EB"/>
                </a:solidFill>
              </a:rPr>
              <a:t>)
</a:t>
            </a:r>
            <a:r>
              <a:rPr lang="en-US" sz="621" dirty="0">
                <a:solidFill>
                  <a:srgbClr val="6B7280"/>
                </a:solidFill>
              </a:rPr>
              <a:t># Username input</a:t>
            </a:r>
            <a:r>
              <a:rPr lang="en-US" sz="621" dirty="0">
                <a:solidFill>
                  <a:srgbClr val="E5E7EB"/>
                </a:solidFill>
              </a:rPr>
              <a:t>
 login_username = 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text_input</a:t>
            </a:r>
            <a:r>
              <a:rPr lang="en-US" sz="621" dirty="0">
                <a:solidFill>
                  <a:srgbClr val="E5E7EB"/>
                </a:solidFill>
              </a:rPr>
              <a:t>(
</a:t>
            </a:r>
            <a:r>
              <a:rPr lang="en-US" sz="621" dirty="0">
                <a:solidFill>
                  <a:srgbClr val="F59E0B"/>
                </a:solidFill>
              </a:rPr>
              <a:t>"Username"</a:t>
            </a:r>
            <a:r>
              <a:rPr lang="en-US" sz="621" dirty="0">
                <a:solidFill>
                  <a:srgbClr val="E5E7EB"/>
                </a:solidFill>
              </a:rPr>
              <a:t>, key=</a:t>
            </a:r>
            <a:r>
              <a:rPr lang="en-US" sz="621" dirty="0">
                <a:solidFill>
                  <a:srgbClr val="F59E0B"/>
                </a:solidFill>
              </a:rPr>
              <a:t>"login_username"</a:t>
            </a:r>
            <a:r>
              <a:rPr lang="en-US" sz="621" dirty="0">
                <a:solidFill>
                  <a:srgbClr val="E5E7EB"/>
                </a:solidFill>
              </a:rPr>
              <a:t>
 )
</a:t>
            </a:r>
            <a:r>
              <a:rPr lang="en-US" sz="621" dirty="0">
                <a:solidFill>
                  <a:srgbClr val="6B7280"/>
                </a:solidFill>
              </a:rPr>
              <a:t># Password input</a:t>
            </a:r>
            <a:r>
              <a:rPr lang="en-US" sz="621" dirty="0">
                <a:solidFill>
                  <a:srgbClr val="E5E7EB"/>
                </a:solidFill>
              </a:rPr>
              <a:t>
 login_password = 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text_input</a:t>
            </a:r>
            <a:r>
              <a:rPr lang="en-US" sz="621" dirty="0">
                <a:solidFill>
                  <a:srgbClr val="E5E7EB"/>
                </a:solidFill>
              </a:rPr>
              <a:t>(
</a:t>
            </a:r>
            <a:r>
              <a:rPr lang="en-US" sz="621" dirty="0">
                <a:solidFill>
                  <a:srgbClr val="F59E0B"/>
                </a:solidFill>
              </a:rPr>
              <a:t>"Password"</a:t>
            </a:r>
            <a:r>
              <a:rPr lang="en-US" sz="621" dirty="0">
                <a:solidFill>
                  <a:srgbClr val="E5E7EB"/>
                </a:solidFill>
              </a:rPr>
              <a:t>, type=</a:t>
            </a:r>
            <a:r>
              <a:rPr lang="en-US" sz="621" dirty="0">
                <a:solidFill>
                  <a:srgbClr val="F59E0B"/>
                </a:solidFill>
              </a:rPr>
              <a:t>"password"</a:t>
            </a:r>
            <a:r>
              <a:rPr lang="en-US" sz="621" dirty="0">
                <a:solidFill>
                  <a:srgbClr val="E5E7EB"/>
                </a:solidFill>
              </a:rPr>
              <a:t>,
 key=</a:t>
            </a:r>
            <a:r>
              <a:rPr lang="en-US" sz="621" dirty="0">
                <a:solidFill>
                  <a:srgbClr val="F59E0B"/>
                </a:solidFill>
              </a:rPr>
              <a:t>"login_password"</a:t>
            </a:r>
            <a:r>
              <a:rPr lang="en-US" sz="621" dirty="0">
                <a:solidFill>
                  <a:srgbClr val="E5E7EB"/>
                </a:solidFill>
              </a:rPr>
              <a:t>
 )
</a:t>
            </a:r>
            <a:r>
              <a:rPr lang="en-US" sz="621" dirty="0">
                <a:solidFill>
                  <a:srgbClr val="6B7280"/>
                </a:solidFill>
              </a:rPr>
              <a:t># Login button and verification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F59E0B"/>
                </a:solidFill>
              </a:rPr>
              <a:t>if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button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"Log in"</a:t>
            </a:r>
            <a:r>
              <a:rPr lang="en-US" sz="621" dirty="0">
                <a:solidFill>
                  <a:srgbClr val="E5E7EB"/>
                </a:solidFill>
              </a:rPr>
              <a:t>):
 users = 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.session_state.users
</a:t>
            </a:r>
            <a:r>
              <a:rPr lang="en-US" sz="621" dirty="0">
                <a:solidFill>
                  <a:srgbClr val="6B7280"/>
                </a:solidFill>
              </a:rPr>
              <a:t># Check credentials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F59E0B"/>
                </a:solidFill>
              </a:rPr>
              <a:t>if</a:t>
            </a:r>
            <a:r>
              <a:rPr lang="en-US" sz="621" dirty="0">
                <a:solidFill>
                  <a:srgbClr val="E5E7EB"/>
                </a:solidFill>
              </a:rPr>
              <a:t> (login_username </a:t>
            </a:r>
            <a:r>
              <a:rPr lang="en-US" sz="621" dirty="0">
                <a:solidFill>
                  <a:srgbClr val="F59E0B"/>
                </a:solidFill>
              </a:rPr>
              <a:t>in</a:t>
            </a:r>
            <a:r>
              <a:rPr lang="en-US" sz="621" dirty="0">
                <a:solidFill>
                  <a:srgbClr val="E5E7EB"/>
                </a:solidFill>
              </a:rPr>
              <a:t> users </a:t>
            </a:r>
            <a:r>
              <a:rPr lang="en-US" sz="621" dirty="0">
                <a:solidFill>
                  <a:srgbClr val="F59E0B"/>
                </a:solidFill>
              </a:rPr>
              <a:t>and</a:t>
            </a:r>
            <a:r>
              <a:rPr lang="en-US" sz="621" dirty="0">
                <a:solidFill>
                  <a:srgbClr val="E5E7EB"/>
                </a:solidFill>
              </a:rPr>
              <a:t>
 users[login_username] == login_password):
</a:t>
            </a:r>
            <a:r>
              <a:rPr lang="en-US" sz="621" dirty="0">
                <a:solidFill>
                  <a:srgbClr val="6B7280"/>
                </a:solidFill>
              </a:rPr>
              <a:t># Set session state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.session_state.logged_in = </a:t>
            </a:r>
            <a:r>
              <a:rPr lang="en-US" sz="621" dirty="0">
                <a:solidFill>
                  <a:srgbClr val="F59E0B"/>
                </a:solidFill>
              </a:rPr>
              <a:t>True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.session_state.username = login_username
</a:t>
            </a:r>
            <a:r>
              <a:rPr lang="en-US" sz="621" dirty="0">
                <a:solidFill>
                  <a:srgbClr val="6B7280"/>
                </a:solidFill>
              </a:rPr>
              <a:t># Navigate to dashboard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switch_page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"pages/1_Dashboard.py"</a:t>
            </a:r>
            <a:r>
              <a:rPr lang="en-US" sz="621" dirty="0">
                <a:solidFill>
                  <a:srgbClr val="E5E7EB"/>
                </a:solidFill>
              </a:rPr>
              <a:t>)
</a:t>
            </a:r>
            <a:r>
              <a:rPr lang="en-US" sz="621" dirty="0">
                <a:solidFill>
                  <a:srgbClr val="F59E0B"/>
                </a:solidFill>
              </a:rPr>
              <a:t>else</a:t>
            </a:r>
            <a:r>
              <a:rPr lang="en-US" sz="621" dirty="0">
                <a:solidFill>
                  <a:srgbClr val="E5E7EB"/>
                </a:solidFill>
              </a:rPr>
              <a:t>: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error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"Invalid credentials"</a:t>
            </a:r>
            <a:r>
              <a:rPr lang="en-US" sz="621" dirty="0">
                <a:solidFill>
                  <a:srgbClr val="E5E7EB"/>
                </a:solidFill>
              </a:rPr>
              <a:t>)</a:t>
            </a:r>
            <a:endParaRPr lang="en-US" sz="621" dirty="0"/>
          </a:p>
        </p:txBody>
      </p:sp>
      <p:sp>
        <p:nvSpPr>
          <p:cNvPr id="21" name="Shape 18"/>
          <p:cNvSpPr/>
          <p:nvPr/>
        </p:nvSpPr>
        <p:spPr>
          <a:xfrm>
            <a:off x="4657725" y="5377123"/>
            <a:ext cx="4200525" cy="392906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657725" y="5377123"/>
            <a:ext cx="28575" cy="39290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14875" y="5434273"/>
            <a:ext cx="40862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Flow:</a:t>
            </a:r>
            <a:r>
              <a:rPr lang="en-US" sz="621" dirty="0">
                <a:solidFill>
                  <a:srgbClr val="4B5563"/>
                </a:solidFill>
              </a:rPr>
              <a:t> Enter credentials → Verify against session_state.users → Set logged_in = True → Navigate to Dashboard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285750" y="5827179"/>
            <a:ext cx="8572500" cy="1785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85750" y="5827179"/>
            <a:ext cx="85725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85750" y="5884329"/>
            <a:ext cx="8572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Part 1 of 2 → Next: Registration logic and security</a:t>
            </a:r>
            <a:endParaRPr lang="en-US" sz="62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364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11b </a:t>
            </a:r>
            <a:r>
              <a:rPr lang="en-US" sz="727" dirty="0">
                <a:solidFill>
                  <a:srgbClr val="6B7280"/>
                </a:solidFill>
              </a:rPr>
              <a:t>// Authentication (continued)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342900" y="485775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Registration and Security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342900" y="885825"/>
            <a:ext cx="4143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Registration Form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342900" y="114300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Complete registration implementation with input validation: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342900" y="1343025"/>
            <a:ext cx="4143375" cy="338613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42900" y="1343025"/>
            <a:ext cx="28575" cy="338613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8625" y="1428750"/>
            <a:ext cx="3971925" cy="321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with</a:t>
            </a:r>
            <a:r>
              <a:rPr lang="en-US" sz="621" dirty="0">
                <a:solidFill>
                  <a:srgbClr val="E5E7EB"/>
                </a:solidFill>
              </a:rPr>
              <a:t> tab_register: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subheader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"Register"</a:t>
            </a:r>
            <a:r>
              <a:rPr lang="en-US" sz="621" dirty="0">
                <a:solidFill>
                  <a:srgbClr val="E5E7EB"/>
                </a:solidFill>
              </a:rPr>
              <a:t>)
</a:t>
            </a:r>
            <a:r>
              <a:rPr lang="en-US" sz="621" dirty="0">
                <a:solidFill>
                  <a:srgbClr val="6B7280"/>
                </a:solidFill>
              </a:rPr>
              <a:t># Input widgets</a:t>
            </a:r>
            <a:r>
              <a:rPr lang="en-US" sz="621" dirty="0">
                <a:solidFill>
                  <a:srgbClr val="E5E7EB"/>
                </a:solidFill>
              </a:rPr>
              <a:t>
 new_username = 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text_input</a:t>
            </a:r>
            <a:r>
              <a:rPr lang="en-US" sz="621" dirty="0">
                <a:solidFill>
                  <a:srgbClr val="E5E7EB"/>
                </a:solidFill>
              </a:rPr>
              <a:t>(
</a:t>
            </a:r>
            <a:r>
              <a:rPr lang="en-US" sz="621" dirty="0">
                <a:solidFill>
                  <a:srgbClr val="F59E0B"/>
                </a:solidFill>
              </a:rPr>
              <a:t>"Choose a username"</a:t>
            </a:r>
            <a:r>
              <a:rPr lang="en-US" sz="621" dirty="0">
                <a:solidFill>
                  <a:srgbClr val="E5E7EB"/>
                </a:solidFill>
              </a:rPr>
              <a:t>, key=</a:t>
            </a:r>
            <a:r>
              <a:rPr lang="en-US" sz="621" dirty="0">
                <a:solidFill>
                  <a:srgbClr val="F59E0B"/>
                </a:solidFill>
              </a:rPr>
              <a:t>"register_username"</a:t>
            </a:r>
            <a:r>
              <a:rPr lang="en-US" sz="621" dirty="0">
                <a:solidFill>
                  <a:srgbClr val="E5E7EB"/>
                </a:solidFill>
              </a:rPr>
              <a:t>)
 new_password = 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text_input</a:t>
            </a:r>
            <a:r>
              <a:rPr lang="en-US" sz="621" dirty="0">
                <a:solidFill>
                  <a:srgbClr val="E5E7EB"/>
                </a:solidFill>
              </a:rPr>
              <a:t>(
</a:t>
            </a:r>
            <a:r>
              <a:rPr lang="en-US" sz="621" dirty="0">
                <a:solidFill>
                  <a:srgbClr val="F59E0B"/>
                </a:solidFill>
              </a:rPr>
              <a:t>"Choose a password"</a:t>
            </a:r>
            <a:r>
              <a:rPr lang="en-US" sz="621" dirty="0">
                <a:solidFill>
                  <a:srgbClr val="E5E7EB"/>
                </a:solidFill>
              </a:rPr>
              <a:t>, type=</a:t>
            </a:r>
            <a:r>
              <a:rPr lang="en-US" sz="621" dirty="0">
                <a:solidFill>
                  <a:srgbClr val="F59E0B"/>
                </a:solidFill>
              </a:rPr>
              <a:t>"password"</a:t>
            </a:r>
            <a:r>
              <a:rPr lang="en-US" sz="621" dirty="0">
                <a:solidFill>
                  <a:srgbClr val="E5E7EB"/>
                </a:solidFill>
              </a:rPr>
              <a:t>,
 key=</a:t>
            </a:r>
            <a:r>
              <a:rPr lang="en-US" sz="621" dirty="0">
                <a:solidFill>
                  <a:srgbClr val="F59E0B"/>
                </a:solidFill>
              </a:rPr>
              <a:t>"register_password"</a:t>
            </a:r>
            <a:r>
              <a:rPr lang="en-US" sz="621" dirty="0">
                <a:solidFill>
                  <a:srgbClr val="E5E7EB"/>
                </a:solidFill>
              </a:rPr>
              <a:t>)
 confirm_password = 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text_input</a:t>
            </a:r>
            <a:r>
              <a:rPr lang="en-US" sz="621" dirty="0">
                <a:solidFill>
                  <a:srgbClr val="E5E7EB"/>
                </a:solidFill>
              </a:rPr>
              <a:t>(
</a:t>
            </a:r>
            <a:r>
              <a:rPr lang="en-US" sz="621" dirty="0">
                <a:solidFill>
                  <a:srgbClr val="F59E0B"/>
                </a:solidFill>
              </a:rPr>
              <a:t>"Confirm password"</a:t>
            </a:r>
            <a:r>
              <a:rPr lang="en-US" sz="621" dirty="0">
                <a:solidFill>
                  <a:srgbClr val="E5E7EB"/>
                </a:solidFill>
              </a:rPr>
              <a:t>, type=</a:t>
            </a:r>
            <a:r>
              <a:rPr lang="en-US" sz="621" dirty="0">
                <a:solidFill>
                  <a:srgbClr val="F59E0B"/>
                </a:solidFill>
              </a:rPr>
              <a:t>"password"</a:t>
            </a:r>
            <a:r>
              <a:rPr lang="en-US" sz="621" dirty="0">
                <a:solidFill>
                  <a:srgbClr val="E5E7EB"/>
                </a:solidFill>
              </a:rPr>
              <a:t>,
 key=</a:t>
            </a:r>
            <a:r>
              <a:rPr lang="en-US" sz="621" dirty="0">
                <a:solidFill>
                  <a:srgbClr val="F59E0B"/>
                </a:solidFill>
              </a:rPr>
              <a:t>"register_confirm"</a:t>
            </a:r>
            <a:r>
              <a:rPr lang="en-US" sz="621" dirty="0">
                <a:solidFill>
                  <a:srgbClr val="E5E7EB"/>
                </a:solidFill>
              </a:rPr>
              <a:t>)
</a:t>
            </a:r>
            <a:r>
              <a:rPr lang="en-US" sz="621" dirty="0">
                <a:solidFill>
                  <a:srgbClr val="6B7280"/>
                </a:solidFill>
              </a:rPr>
              <a:t># Validation and registration</a:t>
            </a:r>
            <a:r>
              <a:rPr lang="en-US" sz="621" dirty="0">
                <a:solidFill>
                  <a:srgbClr val="E5E7EB"/>
                </a:solidFill>
              </a:rPr>
              <a:t>
</a:t>
            </a:r>
            <a:r>
              <a:rPr lang="en-US" sz="621" dirty="0">
                <a:solidFill>
                  <a:srgbClr val="F59E0B"/>
                </a:solidFill>
              </a:rPr>
              <a:t>if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button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"Create account"</a:t>
            </a:r>
            <a:r>
              <a:rPr lang="en-US" sz="621" dirty="0">
                <a:solidFill>
                  <a:srgbClr val="E5E7EB"/>
                </a:solidFill>
              </a:rPr>
              <a:t>):
</a:t>
            </a:r>
            <a:r>
              <a:rPr lang="en-US" sz="621" dirty="0">
                <a:solidFill>
                  <a:srgbClr val="F59E0B"/>
                </a:solidFill>
              </a:rPr>
              <a:t>ifnot</a:t>
            </a:r>
            <a:r>
              <a:rPr lang="en-US" sz="621" dirty="0">
                <a:solidFill>
                  <a:srgbClr val="E5E7EB"/>
                </a:solidFill>
              </a:rPr>
              <a:t> new_username </a:t>
            </a:r>
            <a:r>
              <a:rPr lang="en-US" sz="621" dirty="0">
                <a:solidFill>
                  <a:srgbClr val="F59E0B"/>
                </a:solidFill>
              </a:rPr>
              <a:t>or not</a:t>
            </a:r>
            <a:r>
              <a:rPr lang="en-US" sz="621" dirty="0">
                <a:solidFill>
                  <a:srgbClr val="E5E7EB"/>
                </a:solidFill>
              </a:rPr>
              <a:t> new_password: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warning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"Please fill in all fields."</a:t>
            </a:r>
            <a:r>
              <a:rPr lang="en-US" sz="621" dirty="0">
                <a:solidFill>
                  <a:srgbClr val="E5E7EB"/>
                </a:solidFill>
              </a:rPr>
              <a:t>)
</a:t>
            </a:r>
            <a:r>
              <a:rPr lang="en-US" sz="621" dirty="0">
                <a:solidFill>
                  <a:srgbClr val="F59E0B"/>
                </a:solidFill>
              </a:rPr>
              <a:t>elif</a:t>
            </a:r>
            <a:r>
              <a:rPr lang="en-US" sz="621" dirty="0">
                <a:solidFill>
                  <a:srgbClr val="E5E7EB"/>
                </a:solidFill>
              </a:rPr>
              <a:t> new_password != confirm_password: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error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"Passwords do not match."</a:t>
            </a:r>
            <a:r>
              <a:rPr lang="en-US" sz="621" dirty="0">
                <a:solidFill>
                  <a:srgbClr val="E5E7EB"/>
                </a:solidFill>
              </a:rPr>
              <a:t>)
</a:t>
            </a:r>
            <a:r>
              <a:rPr lang="en-US" sz="621" dirty="0">
                <a:solidFill>
                  <a:srgbClr val="F59E0B"/>
                </a:solidFill>
              </a:rPr>
              <a:t>elif</a:t>
            </a:r>
            <a:r>
              <a:rPr lang="en-US" sz="621" dirty="0">
                <a:solidFill>
                  <a:srgbClr val="E5E7EB"/>
                </a:solidFill>
              </a:rPr>
              <a:t> new_username </a:t>
            </a:r>
            <a:r>
              <a:rPr lang="en-US" sz="621" dirty="0">
                <a:solidFill>
                  <a:srgbClr val="F59E0B"/>
                </a:solidFill>
              </a:rPr>
              <a:t>in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.session_state.users: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error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"Username already exists."</a:t>
            </a:r>
            <a:r>
              <a:rPr lang="en-US" sz="621" dirty="0">
                <a:solidFill>
                  <a:srgbClr val="E5E7EB"/>
                </a:solidFill>
              </a:rPr>
              <a:t>)
</a:t>
            </a:r>
            <a:r>
              <a:rPr lang="en-US" sz="621" dirty="0">
                <a:solidFill>
                  <a:srgbClr val="F59E0B"/>
                </a:solidFill>
              </a:rPr>
              <a:t>else</a:t>
            </a:r>
            <a:r>
              <a:rPr lang="en-US" sz="621" dirty="0">
                <a:solidFill>
                  <a:srgbClr val="E5E7EB"/>
                </a:solidFill>
              </a:rPr>
              <a:t>: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.session_state.users[new_username] = new_password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success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"Account created! 🎉"</a:t>
            </a:r>
            <a:r>
              <a:rPr lang="en-US" sz="621" dirty="0">
                <a:solidFill>
                  <a:srgbClr val="E5E7EB"/>
                </a:solidFill>
              </a:rPr>
              <a:t>)
</a:t>
            </a:r>
            <a:r>
              <a:rPr lang="en-US" sz="621" dirty="0">
                <a:solidFill>
                  <a:srgbClr val="6366F1"/>
                </a:solidFill>
              </a:rPr>
              <a:t>st</a:t>
            </a:r>
            <a:r>
              <a:rPr lang="en-US" sz="621" dirty="0">
                <a:solidFill>
                  <a:srgbClr val="E5E7EB"/>
                </a:solidFill>
              </a:rPr>
              <a:t>.</a:t>
            </a:r>
            <a:r>
              <a:rPr lang="en-US" sz="621" dirty="0">
                <a:solidFill>
                  <a:srgbClr val="10B981"/>
                </a:solidFill>
              </a:rPr>
              <a:t>info</a:t>
            </a:r>
            <a:r>
              <a:rPr lang="en-US" sz="621" dirty="0">
                <a:solidFill>
                  <a:srgbClr val="E5E7EB"/>
                </a:solidFill>
              </a:rPr>
              <a:t>(</a:t>
            </a:r>
            <a:r>
              <a:rPr lang="en-US" sz="621" dirty="0">
                <a:solidFill>
                  <a:srgbClr val="F59E0B"/>
                </a:solidFill>
              </a:rPr>
              <a:t>"Go to Login tab to sign in."</a:t>
            </a:r>
            <a:r>
              <a:rPr lang="en-US" sz="621" dirty="0">
                <a:solidFill>
                  <a:srgbClr val="E5E7EB"/>
                </a:solidFill>
              </a:rPr>
              <a:t>)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4657725" y="1069665"/>
            <a:ext cx="4143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Validation Pattern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4657725" y="1326840"/>
            <a:ext cx="4143375" cy="937227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43450" y="1422109"/>
            <a:ext cx="39719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Three-Step Validation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743450" y="1622134"/>
            <a:ext cx="39719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1.</a:t>
            </a:r>
            <a:r>
              <a:rPr lang="en-US" sz="683" b="1" dirty="0">
                <a:solidFill>
                  <a:srgbClr val="4B5563"/>
                </a:solidFill>
              </a:rPr>
              <a:t>Empty Field Check:</a:t>
            </a:r>
            <a:r>
              <a:rPr lang="en-US" sz="727" dirty="0">
                <a:solidFill>
                  <a:srgbClr val="4B5563"/>
                </a:solidFill>
              </a:rPr>
              <a:t> Ensure all fields filled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743450" y="1810717"/>
            <a:ext cx="39719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2.</a:t>
            </a:r>
            <a:r>
              <a:rPr lang="en-US" sz="683" b="1" dirty="0">
                <a:solidFill>
                  <a:srgbClr val="4B5563"/>
                </a:solidFill>
              </a:rPr>
              <a:t>Password Match:</a:t>
            </a:r>
            <a:r>
              <a:rPr lang="en-US" sz="727" dirty="0">
                <a:solidFill>
                  <a:srgbClr val="4B5563"/>
                </a:solidFill>
              </a:rPr>
              <a:t> Verify password confirmation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743450" y="1999301"/>
            <a:ext cx="39719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3.</a:t>
            </a:r>
            <a:r>
              <a:rPr lang="en-US" sz="683" b="1" dirty="0">
                <a:solidFill>
                  <a:srgbClr val="4B5563"/>
                </a:solidFill>
              </a:rPr>
              <a:t>Uniqueness Check:</a:t>
            </a:r>
            <a:r>
              <a:rPr lang="en-US" sz="727" dirty="0">
                <a:solidFill>
                  <a:srgbClr val="4B5563"/>
                </a:solidFill>
              </a:rPr>
              <a:t> Confirm username available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657725" y="2330760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User Feedback Methods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4657725" y="2559360"/>
            <a:ext cx="4143375" cy="78291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57725" y="2559360"/>
            <a:ext cx="28575" cy="78291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14875" y="2616510"/>
            <a:ext cx="4029075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st.success()</a:t>
            </a:r>
            <a:r>
              <a:rPr lang="en-US" sz="621" dirty="0">
                <a:solidFill>
                  <a:srgbClr val="4B5563"/>
                </a:solidFill>
              </a:rPr>
              <a:t> - Positive confirmation (green)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4714875" y="2790806"/>
            <a:ext cx="4029075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st.error()</a:t>
            </a:r>
            <a:r>
              <a:rPr lang="en-US" sz="621" dirty="0">
                <a:solidFill>
                  <a:srgbClr val="4B5563"/>
                </a:solidFill>
              </a:rPr>
              <a:t> - Critical errors (red)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4714875" y="2965103"/>
            <a:ext cx="4029075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st.warning()</a:t>
            </a:r>
            <a:r>
              <a:rPr lang="en-US" sz="621" dirty="0">
                <a:solidFill>
                  <a:srgbClr val="4B5563"/>
                </a:solidFill>
              </a:rPr>
              <a:t> - Warnings (yellow)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4714875" y="3139399"/>
            <a:ext cx="4029075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st.info()</a:t>
            </a:r>
            <a:r>
              <a:rPr lang="en-US" sz="621" dirty="0">
                <a:solidFill>
                  <a:srgbClr val="4B5563"/>
                </a:solidFill>
              </a:rPr>
              <a:t> - Informational messages (blue)</a:t>
            </a:r>
            <a:endParaRPr lang="en-US" sz="621" dirty="0"/>
          </a:p>
        </p:txBody>
      </p:sp>
      <p:sp>
        <p:nvSpPr>
          <p:cNvPr id="23" name="Shape 20"/>
          <p:cNvSpPr/>
          <p:nvPr/>
        </p:nvSpPr>
        <p:spPr>
          <a:xfrm>
            <a:off x="4657725" y="3621379"/>
            <a:ext cx="4143375" cy="9144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57725" y="3621379"/>
            <a:ext cx="28575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43450" y="3707104"/>
            <a:ext cx="39719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⚠️ CRITICAL SECURITY NOTE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743450" y="3878554"/>
            <a:ext cx="3971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92400E"/>
                </a:solidFill>
              </a:rPr>
              <a:t>This implementation is for </a:t>
            </a:r>
            <a:r>
              <a:rPr lang="en-US" sz="584" b="1" dirty="0">
                <a:solidFill>
                  <a:srgbClr val="92400E"/>
                </a:solidFill>
              </a:rPr>
              <a:t>learning purposes only</a:t>
            </a:r>
            <a:r>
              <a:rPr lang="en-US" sz="621" dirty="0">
                <a:solidFill>
                  <a:srgbClr val="92400E"/>
                </a:solidFill>
              </a:rPr>
              <a:t>. It stores passwords in plain text, which is extremely insecure.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4743450" y="4192879"/>
            <a:ext cx="3971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92400E"/>
                </a:solidFill>
              </a:rPr>
              <a:t>For real applications:</a:t>
            </a:r>
            <a:r>
              <a:rPr lang="en-US" sz="621" dirty="0">
                <a:solidFill>
                  <a:srgbClr val="92400E"/>
                </a:solidFill>
              </a:rPr>
              <a:t> Use </a:t>
            </a:r>
            <a:r>
              <a:rPr lang="en-US" sz="584" b="1" dirty="0">
                <a:solidFill>
                  <a:srgbClr val="92400E"/>
                </a:solidFill>
              </a:rPr>
              <a:t>bcrypt</a:t>
            </a:r>
            <a:r>
              <a:rPr lang="en-US" sz="621" dirty="0">
                <a:solidFill>
                  <a:srgbClr val="92400E"/>
                </a:solidFill>
              </a:rPr>
              <a:t> for password hashing • Implement proper authentication libraries • Store hashed passwords in database • Use HTTPS</a:t>
            </a:r>
            <a:endParaRPr lang="en-US" sz="584" dirty="0"/>
          </a:p>
        </p:txBody>
      </p:sp>
      <p:sp>
        <p:nvSpPr>
          <p:cNvPr id="28" name="Shape 25"/>
          <p:cNvSpPr/>
          <p:nvPr/>
        </p:nvSpPr>
        <p:spPr>
          <a:xfrm>
            <a:off x="342900" y="4814888"/>
            <a:ext cx="8458200" cy="3786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42900" y="4814888"/>
            <a:ext cx="84582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42900" y="4900613"/>
            <a:ext cx="4143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Key Takeaways:</a:t>
            </a:r>
            <a:r>
              <a:rPr lang="en-US" sz="727" dirty="0">
                <a:solidFill>
                  <a:srgbClr val="4B5563"/>
                </a:solidFill>
              </a:rPr>
              <a:t>Always validate user input • Provide clear feedback • Store data in session state • Integrate with database for production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657725" y="4900613"/>
            <a:ext cx="4143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🔐 Security: </a:t>
            </a:r>
            <a:r>
              <a:rPr lang="en-US" sz="621" dirty="0">
                <a:solidFill>
                  <a:srgbClr val="10B981"/>
                </a:solidFill>
              </a:rPr>
              <a:t>Use bcrypt for hashing</a:t>
            </a:r>
            <a:r>
              <a:rPr lang="en-US" sz="621" dirty="0">
                <a:solidFill>
                  <a:srgbClr val="6B7280"/>
                </a:solidFill>
              </a:rPr>
              <a:t> | </a:t>
            </a:r>
            <a:r>
              <a:rPr lang="en-US" sz="621" dirty="0">
                <a:solidFill>
                  <a:srgbClr val="10B981"/>
                </a:solidFill>
              </a:rPr>
              <a:t>Never store plain text passwords</a:t>
            </a:r>
            <a:endParaRPr lang="en-US" sz="62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76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12 </a:t>
            </a:r>
            <a:r>
              <a:rPr lang="en-US" sz="727" dirty="0">
                <a:solidFill>
                  <a:srgbClr val="6B7280"/>
                </a:solidFill>
              </a:rPr>
              <a:t>// Access Control (Part 1 of 2)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342900" y="485775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Protected Dashboard Pages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342900" y="800100"/>
            <a:ext cx="8458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Part 1: Page Guard Pattern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342900" y="1351508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Dashboard Guard Pattern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342900" y="1637258"/>
            <a:ext cx="4114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At the top of </a:t>
            </a:r>
            <a:r>
              <a:rPr lang="en-US" sz="727" dirty="0">
                <a:solidFill>
                  <a:srgbClr val="10B981"/>
                </a:solidFill>
              </a:rPr>
              <a:t>pages/1_Dashboard.py</a:t>
            </a:r>
            <a:r>
              <a:rPr lang="en-US" sz="727" dirty="0">
                <a:solidFill>
                  <a:srgbClr val="4B5563"/>
                </a:solidFill>
              </a:rPr>
              <a:t>, check if the user is logged in: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342900" y="1865858"/>
            <a:ext cx="4114800" cy="267890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2900" y="1865858"/>
            <a:ext cx="28575" cy="267890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8625" y="1951583"/>
            <a:ext cx="3943350" cy="250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# pages/1_Dashboard.py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B7280"/>
                </a:solidFill>
              </a:rPr>
              <a:t># Initialize session state (in case of direct access)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F59E0B"/>
                </a:solidFill>
              </a:rPr>
              <a:t>if"logged_in"not in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.session_state: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.session_state.logged_in = </a:t>
            </a:r>
            <a:r>
              <a:rPr lang="en-US" sz="674" dirty="0">
                <a:solidFill>
                  <a:srgbClr val="F59E0B"/>
                </a:solidFill>
              </a:rPr>
              <a:t>False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B7280"/>
                </a:solidFill>
              </a:rPr>
              <a:t># Check if user is logged in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F59E0B"/>
                </a:solidFill>
              </a:rPr>
              <a:t>ifnot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.session_state.logged_in: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error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"You must be logged in to view this page"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F59E0B"/>
                </a:solidFill>
              </a:rPr>
              <a:t>if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button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"Go to login"</a:t>
            </a:r>
            <a:r>
              <a:rPr lang="en-US" sz="674" dirty="0">
                <a:solidFill>
                  <a:srgbClr val="E5E7EB"/>
                </a:solidFill>
              </a:rPr>
              <a:t>):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switch_page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"Home.py"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stop</a:t>
            </a:r>
            <a:r>
              <a:rPr lang="en-US" sz="674" dirty="0">
                <a:solidFill>
                  <a:srgbClr val="E5E7EB"/>
                </a:solidFill>
              </a:rPr>
              <a:t>() </a:t>
            </a:r>
            <a:r>
              <a:rPr lang="en-US" sz="674" dirty="0">
                <a:solidFill>
                  <a:srgbClr val="6B7280"/>
                </a:solidFill>
              </a:rPr>
              <a:t># Stop execution here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B7280"/>
                </a:solidFill>
              </a:rPr>
              <a:t># If logged in, show dashboard content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title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"📊 Dashboard"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success</a:t>
            </a:r>
            <a:r>
              <a:rPr lang="en-US" sz="674" dirty="0">
                <a:solidFill>
                  <a:srgbClr val="E5E7EB"/>
                </a:solidFill>
              </a:rPr>
              <a:t>(
</a:t>
            </a:r>
            <a:r>
              <a:rPr lang="en-US" sz="674" dirty="0">
                <a:solidFill>
                  <a:srgbClr val="F59E0B"/>
                </a:solidFill>
              </a:rPr>
              <a:t>f"Welcome, </a:t>
            </a:r>
            <a:r>
              <a:rPr lang="en-US" sz="674" dirty="0">
                <a:solidFill>
                  <a:srgbClr val="E5E7EB"/>
                </a:solidFill>
              </a:rPr>
              <a:t>{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.session_state.username}</a:t>
            </a:r>
            <a:r>
              <a:rPr lang="en-US" sz="674" dirty="0">
                <a:solidFill>
                  <a:srgbClr val="F59E0B"/>
                </a:solidFill>
              </a:rPr>
              <a:t>!"</a:t>
            </a:r>
            <a:r>
              <a:rPr lang="en-US" sz="674" dirty="0">
                <a:solidFill>
                  <a:srgbClr val="E5E7EB"/>
                </a:solidFill>
              </a:rPr>
              <a:t>
 )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686300" y="1143000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Understanding the Guard Pattern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4686300" y="1428750"/>
            <a:ext cx="4114800" cy="1307195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86300" y="1428750"/>
            <a:ext cx="28575" cy="130719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00600" y="1543050"/>
            <a:ext cx="3886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✓ What This Does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800600" y="1771650"/>
            <a:ext cx="3886200" cy="849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1.</a:t>
            </a:r>
            <a:r>
              <a:rPr lang="en-US" sz="727" dirty="0">
                <a:solidFill>
                  <a:srgbClr val="4B5563"/>
                </a:solidFill>
              </a:rPr>
              <a:t> Initializes session state (handles direct URL access)
</a:t>
            </a:r>
            <a:r>
              <a:rPr lang="en-US" sz="683" b="1" dirty="0">
                <a:solidFill>
                  <a:srgbClr val="1F2937"/>
                </a:solidFill>
              </a:rPr>
              <a:t>2.</a:t>
            </a:r>
            <a:r>
              <a:rPr lang="en-US" sz="727" dirty="0">
                <a:solidFill>
                  <a:srgbClr val="4B5563"/>
                </a:solidFill>
              </a:rPr>
              <a:t> Checks if user is logged in
</a:t>
            </a:r>
            <a:r>
              <a:rPr lang="en-US" sz="683" b="1" dirty="0">
                <a:solidFill>
                  <a:srgbClr val="1F2937"/>
                </a:solidFill>
              </a:rPr>
              <a:t>3.</a:t>
            </a:r>
            <a:r>
              <a:rPr lang="en-US" sz="727" dirty="0">
                <a:solidFill>
                  <a:srgbClr val="4B5563"/>
                </a:solidFill>
              </a:rPr>
              <a:t> Shows error and redirect button if not logged in
</a:t>
            </a:r>
            <a:r>
              <a:rPr lang="en-US" sz="683" b="1" dirty="0">
                <a:solidFill>
                  <a:srgbClr val="1F2937"/>
                </a:solidFill>
              </a:rPr>
              <a:t>4.</a:t>
            </a:r>
            <a:r>
              <a:rPr lang="en-US" sz="727" dirty="0">
                <a:solidFill>
                  <a:srgbClr val="4B5563"/>
                </a:solidFill>
              </a:rPr>
              <a:t> Stops script execution with </a:t>
            </a:r>
            <a:r>
              <a:rPr lang="en-US" sz="727" dirty="0">
                <a:solidFill>
                  <a:srgbClr val="10B981"/>
                </a:solidFill>
              </a:rPr>
              <a:t>st.stop()</a:t>
            </a:r>
            <a:r>
              <a:rPr lang="en-US" sz="727" dirty="0">
                <a:solidFill>
                  <a:srgbClr val="4B5563"/>
                </a:solidFill>
              </a:rPr>
              <a:t>
</a:t>
            </a:r>
            <a:r>
              <a:rPr lang="en-US" sz="683" b="1" dirty="0">
                <a:solidFill>
                  <a:srgbClr val="1F2937"/>
                </a:solidFill>
              </a:rPr>
              <a:t>5.</a:t>
            </a:r>
            <a:r>
              <a:rPr lang="en-US" sz="727" dirty="0">
                <a:solidFill>
                  <a:srgbClr val="4B5563"/>
                </a:solidFill>
              </a:rPr>
              <a:t> Only shows dashboard if logged in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686300" y="2821670"/>
            <a:ext cx="4114800" cy="1182960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00600" y="2935970"/>
            <a:ext cx="3886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Why This Pattern?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800600" y="3164570"/>
            <a:ext cx="38862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B5563"/>
                </a:solidFill>
              </a:rPr>
              <a:t>Direct URL Access:</a:t>
            </a:r>
            <a:r>
              <a:rPr lang="en-US" sz="727" dirty="0">
                <a:solidFill>
                  <a:srgbClr val="4B5563"/>
                </a:solidFill>
              </a:rPr>
              <a:t> Users might try to access </a:t>
            </a:r>
            <a:r>
              <a:rPr lang="en-US" sz="727" dirty="0">
                <a:solidFill>
                  <a:srgbClr val="6366F1"/>
                </a:solidFill>
              </a:rPr>
              <a:t>localhost:8501/Dashboard</a:t>
            </a:r>
            <a:r>
              <a:rPr lang="en-US" sz="727" dirty="0">
                <a:solidFill>
                  <a:srgbClr val="4B5563"/>
                </a:solidFill>
              </a:rPr>
              <a:t> directly without logging in. The guard pattern catches this.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800600" y="3541737"/>
            <a:ext cx="38862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B5563"/>
                </a:solidFill>
              </a:rPr>
              <a:t>Security Layer:</a:t>
            </a:r>
            <a:r>
              <a:rPr lang="en-US" sz="727" dirty="0">
                <a:solidFill>
                  <a:srgbClr val="4B5563"/>
                </a:solidFill>
              </a:rPr>
              <a:t> This creates a protective barrier that ensures only authenticated users can view sensitive dashboard content.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4686300" y="4061780"/>
            <a:ext cx="4114800" cy="66291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86300" y="4061780"/>
            <a:ext cx="28575" cy="66291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72025" y="4147505"/>
            <a:ext cx="3943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40AF"/>
                </a:solidFill>
              </a:rPr>
              <a:t>💡 Key Concept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4772025" y="4318955"/>
            <a:ext cx="39433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1E40AF"/>
                </a:solidFill>
              </a:rPr>
              <a:t>The </a:t>
            </a:r>
            <a:r>
              <a:rPr lang="en-US" sz="683" b="1" dirty="0">
                <a:solidFill>
                  <a:srgbClr val="1E40AF"/>
                </a:solidFill>
              </a:rPr>
              <a:t>st.stop()</a:t>
            </a:r>
            <a:r>
              <a:rPr lang="en-US" sz="727" dirty="0">
                <a:solidFill>
                  <a:srgbClr val="1E40AF"/>
                </a:solidFill>
              </a:rPr>
              <a:t> function is critical - it prevents the rest of the script from executing, ensuring unauthorized users never see the dashboard content.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342900" y="4838998"/>
            <a:ext cx="8458200" cy="2071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42900" y="4838998"/>
            <a:ext cx="84582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2900" y="4924723"/>
            <a:ext cx="12519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Part 1 of 2: Page Guard Pattern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6276398" y="4924723"/>
            <a:ext cx="25247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Next: Logout functionality and complete authentication flow →</a:t>
            </a:r>
            <a:endParaRPr lang="en-US" sz="62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24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F59E0B"/>
                </a:solidFill>
              </a:rPr>
              <a:t>14 </a:t>
            </a:r>
            <a:r>
              <a:rPr lang="en-US" sz="727" dirty="0">
                <a:solidFill>
                  <a:srgbClr val="6B7280"/>
                </a:solidFill>
              </a:rPr>
              <a:t>// Week 8 Review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Week 8 Recap: What You Built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Your database foundation from last week's workshop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85750" y="1301055"/>
            <a:ext cx="4200525" cy="1771650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71475" y="1396324"/>
            <a:ext cx="4029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40AF"/>
                </a:solidFill>
              </a:rPr>
              <a:t>🗄️ DATABASE SCHEMA (4 Tables)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371475" y="1653499"/>
            <a:ext cx="1985963" cy="6858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71475" y="1653499"/>
            <a:ext cx="1985963" cy="6858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40AF"/>
                </a:solidFill>
              </a:rPr>
              <a:t>users</a:t>
            </a:r>
            <a:r>
              <a:rPr lang="en-US" sz="621" dirty="0">
                <a:solidFill>
                  <a:srgbClr val="1F2937"/>
                </a:solidFill>
              </a:rPr>
              <a:t>
 • id (PRIMARY KEY)
 • username (UNIQUE)
 • password_hash
 • role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414588" y="1653499"/>
            <a:ext cx="1985963" cy="6858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14588" y="1653499"/>
            <a:ext cx="1985963" cy="6858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40AF"/>
                </a:solidFill>
              </a:rPr>
              <a:t>cyber_incidents</a:t>
            </a:r>
            <a:r>
              <a:rPr lang="en-US" sz="621" dirty="0">
                <a:solidFill>
                  <a:srgbClr val="1F2937"/>
                </a:solidFill>
              </a:rPr>
              <a:t>
 • id (PRIMARY KEY)
 • title, severity
 • status, date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371475" y="2396449"/>
            <a:ext cx="1985963" cy="5715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1475" y="2396449"/>
            <a:ext cx="1985963" cy="5715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40AF"/>
                </a:solidFill>
              </a:rPr>
              <a:t>datasets_metadata</a:t>
            </a:r>
            <a:r>
              <a:rPr lang="en-US" sz="621" dirty="0">
                <a:solidFill>
                  <a:srgbClr val="1F2937"/>
                </a:solidFill>
              </a:rPr>
              <a:t>
 • id (PRIMARY KEY)
 • name, source
 • category, size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2414588" y="2396449"/>
            <a:ext cx="1985963" cy="5715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414588" y="2396449"/>
            <a:ext cx="1985963" cy="5715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40AF"/>
                </a:solidFill>
              </a:rPr>
              <a:t>it_tickets</a:t>
            </a:r>
            <a:r>
              <a:rPr lang="en-US" sz="621" dirty="0">
                <a:solidFill>
                  <a:srgbClr val="1F2937"/>
                </a:solidFill>
              </a:rPr>
              <a:t>
 • id (PRIMARY KEY)
 • title, priority
 • status, created_date</a:t>
            </a:r>
            <a:endParaRPr lang="en-US" sz="584" dirty="0"/>
          </a:p>
        </p:txBody>
      </p:sp>
      <p:sp>
        <p:nvSpPr>
          <p:cNvPr id="16" name="Shape 13"/>
          <p:cNvSpPr/>
          <p:nvPr/>
        </p:nvSpPr>
        <p:spPr>
          <a:xfrm>
            <a:off x="285750" y="3335573"/>
            <a:ext cx="4200525" cy="1928813"/>
          </a:xfrm>
          <a:prstGeom prst="rect">
            <a:avLst/>
          </a:prstGeom>
          <a:solidFill>
            <a:srgbClr val="F0FDF4"/>
          </a:solidFill>
          <a:ln w="18288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71475" y="3516511"/>
            <a:ext cx="4029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65F46"/>
                </a:solidFill>
              </a:rPr>
              <a:t>📁 PROJECT STRUCTURE</a:t>
            </a:r>
            <a:endParaRPr lang="en-US" sz="885" dirty="0"/>
          </a:p>
        </p:txBody>
      </p:sp>
      <p:sp>
        <p:nvSpPr>
          <p:cNvPr id="18" name="Shape 15"/>
          <p:cNvSpPr/>
          <p:nvPr/>
        </p:nvSpPr>
        <p:spPr>
          <a:xfrm>
            <a:off x="371475" y="3773686"/>
            <a:ext cx="4029075" cy="1185863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71475" y="3773686"/>
            <a:ext cx="21431" cy="118586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71475" y="3773686"/>
            <a:ext cx="4029075" cy="118586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E5E7EB"/>
                </a:solidFill>
              </a:rPr>
              <a:t>app/
 ├── data/
 │ ├── db.py </a:t>
            </a:r>
            <a:r>
              <a:rPr lang="en-US" sz="516" dirty="0">
                <a:solidFill>
                  <a:srgbClr val="6B7280"/>
                </a:solidFill>
              </a:rPr>
              <a:t># Connection</a:t>
            </a:r>
            <a:r>
              <a:rPr lang="en-US" sz="516" dirty="0">
                <a:solidFill>
                  <a:srgbClr val="E5E7EB"/>
                </a:solidFill>
              </a:rPr>
              <a:t>
 │ ├── schema.py </a:t>
            </a:r>
            <a:r>
              <a:rPr lang="en-US" sz="516" dirty="0">
                <a:solidFill>
                  <a:srgbClr val="6B7280"/>
                </a:solidFill>
              </a:rPr>
              <a:t># CREATE TABLE</a:t>
            </a:r>
            <a:r>
              <a:rPr lang="en-US" sz="516" dirty="0">
                <a:solidFill>
                  <a:srgbClr val="E5E7EB"/>
                </a:solidFill>
              </a:rPr>
              <a:t>
 │ ├── users.py </a:t>
            </a:r>
            <a:r>
              <a:rPr lang="en-US" sz="516" dirty="0">
                <a:solidFill>
                  <a:srgbClr val="6B7280"/>
                </a:solidFill>
              </a:rPr>
              <a:t># User CRUD</a:t>
            </a:r>
            <a:r>
              <a:rPr lang="en-US" sz="516" dirty="0">
                <a:solidFill>
                  <a:srgbClr val="E5E7EB"/>
                </a:solidFill>
              </a:rPr>
              <a:t>
 │ ├── incidents.py </a:t>
            </a:r>
            <a:r>
              <a:rPr lang="en-US" sz="516" dirty="0">
                <a:solidFill>
                  <a:srgbClr val="6B7280"/>
                </a:solidFill>
              </a:rPr>
              <a:t># Incident CRUD</a:t>
            </a:r>
            <a:r>
              <a:rPr lang="en-US" sz="516" dirty="0">
                <a:solidFill>
                  <a:srgbClr val="E5E7EB"/>
                </a:solidFill>
              </a:rPr>
              <a:t>
 │ ├── datasets.py </a:t>
            </a:r>
            <a:r>
              <a:rPr lang="en-US" sz="516" dirty="0">
                <a:solidFill>
                  <a:srgbClr val="6B7280"/>
                </a:solidFill>
              </a:rPr>
              <a:t># Dataset CRUD</a:t>
            </a:r>
            <a:r>
              <a:rPr lang="en-US" sz="516" dirty="0">
                <a:solidFill>
                  <a:srgbClr val="E5E7EB"/>
                </a:solidFill>
              </a:rPr>
              <a:t>
 │ └── tickets.py </a:t>
            </a:r>
            <a:r>
              <a:rPr lang="en-US" sz="516" dirty="0">
                <a:solidFill>
                  <a:srgbClr val="6B7280"/>
                </a:solidFill>
              </a:rPr>
              <a:t># Ticket CRUD</a:t>
            </a:r>
            <a:r>
              <a:rPr lang="en-US" sz="516" dirty="0">
                <a:solidFill>
                  <a:srgbClr val="E5E7EB"/>
                </a:solidFill>
              </a:rPr>
              <a:t>
 │
 └── services/
 └── user_service.py </a:t>
            </a:r>
            <a:r>
              <a:rPr lang="en-US" sz="516" dirty="0">
                <a:solidFill>
                  <a:srgbClr val="6B7280"/>
                </a:solidFill>
              </a:rPr>
              <a:t># Migration</a:t>
            </a:r>
            <a:endParaRPr lang="en-US" sz="516" dirty="0"/>
          </a:p>
        </p:txBody>
      </p:sp>
      <p:sp>
        <p:nvSpPr>
          <p:cNvPr id="21" name="Text 18"/>
          <p:cNvSpPr/>
          <p:nvPr/>
        </p:nvSpPr>
        <p:spPr>
          <a:xfrm>
            <a:off x="371475" y="5016698"/>
            <a:ext cx="40290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65F46"/>
                </a:solidFill>
              </a:rPr>
              <a:t>Organized Structure:</a:t>
            </a:r>
            <a:r>
              <a:rPr lang="en-US" sz="621" dirty="0">
                <a:solidFill>
                  <a:srgbClr val="065F46"/>
                </a:solidFill>
              </a:rPr>
              <a:t> Each domain has its own CRUD file, keeping code modular and maintainable.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4657725" y="1028700"/>
            <a:ext cx="4200525" cy="2845947"/>
          </a:xfrm>
          <a:prstGeom prst="rect">
            <a:avLst/>
          </a:prstGeom>
          <a:solidFill>
            <a:srgbClr val="FEF3C7"/>
          </a:solidFill>
          <a:ln w="18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43450" y="1114425"/>
            <a:ext cx="4029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92400E"/>
                </a:solidFill>
              </a:rPr>
              <a:t>✅ KEY ACCOMPLISHMENTS</a:t>
            </a:r>
            <a:endParaRPr lang="en-US" sz="885" dirty="0"/>
          </a:p>
        </p:txBody>
      </p:sp>
      <p:sp>
        <p:nvSpPr>
          <p:cNvPr id="24" name="Shape 21"/>
          <p:cNvSpPr/>
          <p:nvPr/>
        </p:nvSpPr>
        <p:spPr>
          <a:xfrm>
            <a:off x="4743450" y="1371600"/>
            <a:ext cx="4029075" cy="434318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00600" y="1439466"/>
            <a:ext cx="8610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1. User Migration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800600" y="1615548"/>
            <a:ext cx="84731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Migrated users from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5647916" y="1615548"/>
            <a:ext cx="3490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users.txt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5997011" y="1615548"/>
            <a:ext cx="17282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to database with bcrypt password hashing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4743450" y="1863068"/>
            <a:ext cx="4029075" cy="914344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00600" y="1930933"/>
            <a:ext cx="9874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2. CSV Data Loading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800600" y="2107016"/>
            <a:ext cx="19188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Loaded 3 CSV files with pandas bulk operations: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4800600" y="2267024"/>
            <a:ext cx="8270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• cyber_incidents.csv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4800600" y="2427033"/>
            <a:ext cx="9699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• datasets_metadata.csv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4800600" y="2587042"/>
            <a:ext cx="5547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• it_tickets.csv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4743450" y="2834562"/>
            <a:ext cx="4029075" cy="434318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743450" y="2834562"/>
            <a:ext cx="4029075" cy="43431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3. CRUD Operations</a:t>
            </a:r>
            <a:r>
              <a:rPr lang="en-US" sz="727" dirty="0">
                <a:solidFill>
                  <a:srgbClr val="1F2937"/>
                </a:solidFill>
              </a:rPr>
              <a:t>
</a:t>
            </a:r>
            <a:r>
              <a:rPr lang="en-US" sz="621" dirty="0">
                <a:solidFill>
                  <a:srgbClr val="1F2937"/>
                </a:solidFill>
              </a:rPr>
              <a:t>Implemented Create, Read, Update, Delete for all 4 domains</a:t>
            </a:r>
            <a:endParaRPr lang="en-US" sz="683" dirty="0"/>
          </a:p>
        </p:txBody>
      </p:sp>
      <p:sp>
        <p:nvSpPr>
          <p:cNvPr id="37" name="Shape 34"/>
          <p:cNvSpPr/>
          <p:nvPr/>
        </p:nvSpPr>
        <p:spPr>
          <a:xfrm>
            <a:off x="4743450" y="3326030"/>
            <a:ext cx="4029075" cy="434318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800600" y="3393895"/>
            <a:ext cx="4743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4. Testing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4800600" y="3569977"/>
            <a:ext cx="9533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Tested all operations in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5753956" y="3569977"/>
            <a:ext cx="3210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main.py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6075006" y="3569977"/>
            <a:ext cx="5010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demo script</a:t>
            </a:r>
            <a:endParaRPr lang="en-US" sz="621" dirty="0"/>
          </a:p>
        </p:txBody>
      </p:sp>
      <p:sp>
        <p:nvSpPr>
          <p:cNvPr id="42" name="Shape 39"/>
          <p:cNvSpPr/>
          <p:nvPr/>
        </p:nvSpPr>
        <p:spPr>
          <a:xfrm>
            <a:off x="4657725" y="3846072"/>
            <a:ext cx="4200525" cy="1671638"/>
          </a:xfrm>
          <a:prstGeom prst="rect">
            <a:avLst/>
          </a:prstGeom>
          <a:solidFill>
            <a:srgbClr val="FEF2F2"/>
          </a:solidFill>
          <a:ln w="18288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743450" y="3931797"/>
            <a:ext cx="4029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991B1B"/>
                </a:solidFill>
              </a:rPr>
              <a:t>🔒 SECURITY: Parameterized Queries</a:t>
            </a:r>
            <a:endParaRPr lang="en-US" sz="885" dirty="0"/>
          </a:p>
        </p:txBody>
      </p:sp>
      <p:sp>
        <p:nvSpPr>
          <p:cNvPr id="44" name="Text 41"/>
          <p:cNvSpPr/>
          <p:nvPr/>
        </p:nvSpPr>
        <p:spPr>
          <a:xfrm>
            <a:off x="4743450" y="4188972"/>
            <a:ext cx="40290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F2937"/>
                </a:solidFill>
              </a:rPr>
              <a:t>You learned to </a:t>
            </a:r>
            <a:r>
              <a:rPr lang="en-US" sz="683" b="1" dirty="0">
                <a:solidFill>
                  <a:srgbClr val="1F2937"/>
                </a:solidFill>
              </a:rPr>
              <a:t>always use ? placeholders</a:t>
            </a:r>
            <a:r>
              <a:rPr lang="en-US" sz="727" dirty="0">
                <a:solidFill>
                  <a:srgbClr val="1F2937"/>
                </a:solidFill>
              </a:rPr>
              <a:t> to prevent SQL injection attacks:</a:t>
            </a:r>
            <a:endParaRPr lang="en-US" sz="727" dirty="0"/>
          </a:p>
        </p:txBody>
      </p:sp>
      <p:sp>
        <p:nvSpPr>
          <p:cNvPr id="45" name="Shape 42"/>
          <p:cNvSpPr/>
          <p:nvPr/>
        </p:nvSpPr>
        <p:spPr>
          <a:xfrm>
            <a:off x="4743450" y="4388997"/>
            <a:ext cx="4029075" cy="58578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743450" y="4388997"/>
            <a:ext cx="21431" cy="5857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743450" y="4388997"/>
            <a:ext cx="4029075" cy="585788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6B7280"/>
                </a:solidFill>
              </a:rPr>
              <a:t># SECURE - Week 8 pattern</a:t>
            </a:r>
            <a:r>
              <a:rPr lang="en-US" sz="516" dirty="0">
                <a:solidFill>
                  <a:srgbClr val="E5E7EB"/>
                </a:solidFill>
              </a:rPr>
              <a:t>
 cursor.</a:t>
            </a:r>
            <a:r>
              <a:rPr lang="en-US" sz="516" dirty="0">
                <a:solidFill>
                  <a:srgbClr val="10B981"/>
                </a:solidFill>
              </a:rPr>
              <a:t>execute</a:t>
            </a:r>
            <a:r>
              <a:rPr lang="en-US" sz="516" dirty="0">
                <a:solidFill>
                  <a:srgbClr val="E5E7EB"/>
                </a:solidFill>
              </a:rPr>
              <a:t>(
</a:t>
            </a:r>
            <a:r>
              <a:rPr lang="en-US" sz="516" dirty="0">
                <a:solidFill>
                  <a:srgbClr val="F59E0B"/>
                </a:solidFill>
              </a:rPr>
              <a:t>"SELECT * FROM users WHERE username = ?"</a:t>
            </a:r>
            <a:r>
              <a:rPr lang="en-US" sz="516" dirty="0">
                <a:solidFill>
                  <a:srgbClr val="E5E7EB"/>
                </a:solidFill>
              </a:rPr>
              <a:t>,
 (username,) </a:t>
            </a:r>
            <a:r>
              <a:rPr lang="en-US" sz="516" dirty="0">
                <a:solidFill>
                  <a:srgbClr val="6B7280"/>
                </a:solidFill>
              </a:rPr>
              <a:t># Tuple with values</a:t>
            </a:r>
            <a:r>
              <a:rPr lang="en-US" sz="516" dirty="0">
                <a:solidFill>
                  <a:srgbClr val="E5E7EB"/>
                </a:solidFill>
              </a:rPr>
              <a:t>
 )</a:t>
            </a:r>
            <a:endParaRPr lang="en-US" sz="516" dirty="0"/>
          </a:p>
        </p:txBody>
      </p:sp>
      <p:sp>
        <p:nvSpPr>
          <p:cNvPr id="48" name="Shape 45"/>
          <p:cNvSpPr/>
          <p:nvPr/>
        </p:nvSpPr>
        <p:spPr>
          <a:xfrm>
            <a:off x="4743450" y="5031935"/>
            <a:ext cx="4029075" cy="371475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800600" y="5089085"/>
            <a:ext cx="39147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991B1B"/>
                </a:solidFill>
              </a:rPr>
              <a:t>Critical:</a:t>
            </a:r>
            <a:r>
              <a:rPr lang="en-US" sz="621" dirty="0">
                <a:solidFill>
                  <a:srgbClr val="991B1B"/>
                </a:solidFill>
              </a:rPr>
              <a:t> Never use f-strings or string concatenation for SQL queries! Always use parameterized queries with ? placeholders.</a:t>
            </a:r>
            <a:endParaRPr lang="en-US" sz="584" dirty="0"/>
          </a:p>
        </p:txBody>
      </p:sp>
      <p:sp>
        <p:nvSpPr>
          <p:cNvPr id="50" name="Shape 47"/>
          <p:cNvSpPr/>
          <p:nvPr/>
        </p:nvSpPr>
        <p:spPr>
          <a:xfrm>
            <a:off x="285750" y="5574860"/>
            <a:ext cx="8572500" cy="2071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285750" y="5574860"/>
            <a:ext cx="85725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285750" y="563201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Week 8 Foundation:</a:t>
            </a:r>
            <a:r>
              <a:rPr lang="en-US" sz="727" dirty="0">
                <a:solidFill>
                  <a:srgbClr val="4B5563"/>
                </a:solidFill>
              </a:rPr>
              <a:t>You built a complete database with CRUD operations. Now in Week 9, you'll connect this to a beautiful Streamlit web interface!</a:t>
            </a:r>
            <a:endParaRPr lang="en-US" sz="6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21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15 </a:t>
            </a:r>
            <a:r>
              <a:rPr lang="en-US" sz="727" dirty="0">
                <a:solidFill>
                  <a:srgbClr val="6B7280"/>
                </a:solidFill>
              </a:rPr>
              <a:t>// Week 8 → Week 9 Bridge (Part 1 of 2)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28600" y="371475"/>
            <a:ext cx="8686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Week 9: Importing Week 8 Database Functions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28600" y="685800"/>
            <a:ext cx="8686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Reuse your Week 8 functions - no need to rewrite database code!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28600" y="942975"/>
            <a:ext cx="8686800" cy="3814539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14325" y="1028700"/>
            <a:ext cx="8515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E40AF"/>
                </a:solidFill>
              </a:rPr>
              <a:t>STEP 1: Import Your Week 8 Database Functions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314325" y="1314450"/>
            <a:ext cx="8515350" cy="231435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14325" y="1314450"/>
            <a:ext cx="28575" cy="23143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4325" y="1314450"/>
            <a:ext cx="8515350" cy="231435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# At the top of your Streamlit page (e.g., pages/1_Dashboard.py)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import</a:t>
            </a:r>
            <a:r>
              <a:rPr lang="en-US" sz="568" dirty="0">
                <a:solidFill>
                  <a:srgbClr val="10B981"/>
                </a:solidFill>
              </a:rPr>
              <a:t>streamlit</a:t>
            </a:r>
            <a:r>
              <a:rPr lang="en-US" sz="568" dirty="0">
                <a:solidFill>
                  <a:srgbClr val="F59E0B"/>
                </a:solidFill>
              </a:rPr>
              <a:t>as</a:t>
            </a:r>
            <a:r>
              <a:rPr lang="en-US" sz="568" dirty="0">
                <a:solidFill>
                  <a:srgbClr val="10B98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6B7280"/>
                </a:solidFill>
              </a:rPr>
              <a:t># Import Week 8 database connection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from</a:t>
            </a:r>
            <a:r>
              <a:rPr lang="en-US" sz="568" dirty="0">
                <a:solidFill>
                  <a:srgbClr val="10B981"/>
                </a:solidFill>
              </a:rPr>
              <a:t>app.data.db</a:t>
            </a:r>
            <a:r>
              <a:rPr lang="en-US" sz="568" dirty="0">
                <a:solidFill>
                  <a:srgbClr val="F59E0B"/>
                </a:solidFill>
              </a:rPr>
              <a:t>import</a:t>
            </a:r>
            <a:r>
              <a:rPr lang="en-US" sz="568" dirty="0">
                <a:solidFill>
                  <a:srgbClr val="E5E7EB"/>
                </a:solidFill>
              </a:rPr>
              <a:t> connect_database
</a:t>
            </a:r>
            <a:r>
              <a:rPr lang="en-US" sz="568" dirty="0">
                <a:solidFill>
                  <a:srgbClr val="6B7280"/>
                </a:solidFill>
              </a:rPr>
              <a:t># Import Week 8 CRUD functions for each domain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from</a:t>
            </a:r>
            <a:r>
              <a:rPr lang="en-US" sz="568" dirty="0">
                <a:solidFill>
                  <a:srgbClr val="10B981"/>
                </a:solidFill>
              </a:rPr>
              <a:t>app.data.users</a:t>
            </a:r>
            <a:r>
              <a:rPr lang="en-US" sz="568" dirty="0">
                <a:solidFill>
                  <a:srgbClr val="F59E0B"/>
                </a:solidFill>
              </a:rPr>
              <a:t>import</a:t>
            </a:r>
            <a:r>
              <a:rPr lang="en-US" sz="568" dirty="0">
                <a:solidFill>
                  <a:srgbClr val="E5E7EB"/>
                </a:solidFill>
              </a:rPr>
              <a:t> verify_user, get_user_role
</a:t>
            </a:r>
            <a:r>
              <a:rPr lang="en-US" sz="568" dirty="0">
                <a:solidFill>
                  <a:srgbClr val="F59E0B"/>
                </a:solidFill>
              </a:rPr>
              <a:t>from</a:t>
            </a:r>
            <a:r>
              <a:rPr lang="en-US" sz="568" dirty="0">
                <a:solidFill>
                  <a:srgbClr val="10B981"/>
                </a:solidFill>
              </a:rPr>
              <a:t>app.data.incidents</a:t>
            </a:r>
            <a:r>
              <a:rPr lang="en-US" sz="568" dirty="0">
                <a:solidFill>
                  <a:srgbClr val="F59E0B"/>
                </a:solidFill>
              </a:rPr>
              <a:t>import</a:t>
            </a:r>
            <a:r>
              <a:rPr lang="en-US" sz="568" dirty="0">
                <a:solidFill>
                  <a:srgbClr val="E5E7EB"/>
                </a:solidFill>
              </a:rPr>
              <a:t> (
 get_all_incidents,
 insert_incident,
 update_incident,
 delete_incident
 )
</a:t>
            </a:r>
            <a:r>
              <a:rPr lang="en-US" sz="568" dirty="0">
                <a:solidFill>
                  <a:srgbClr val="F59E0B"/>
                </a:solidFill>
              </a:rPr>
              <a:t>from</a:t>
            </a:r>
            <a:r>
              <a:rPr lang="en-US" sz="568" dirty="0">
                <a:solidFill>
                  <a:srgbClr val="10B981"/>
                </a:solidFill>
              </a:rPr>
              <a:t>app.data.datasets</a:t>
            </a:r>
            <a:r>
              <a:rPr lang="en-US" sz="568" dirty="0">
                <a:solidFill>
                  <a:srgbClr val="F59E0B"/>
                </a:solidFill>
              </a:rPr>
              <a:t>import</a:t>
            </a:r>
            <a:r>
              <a:rPr lang="en-US" sz="568" dirty="0">
                <a:solidFill>
                  <a:srgbClr val="E5E7EB"/>
                </a:solidFill>
              </a:rPr>
              <a:t> get_all_datasets
</a:t>
            </a:r>
            <a:r>
              <a:rPr lang="en-US" sz="568" dirty="0">
                <a:solidFill>
                  <a:srgbClr val="F59E0B"/>
                </a:solidFill>
              </a:rPr>
              <a:t>from</a:t>
            </a:r>
            <a:r>
              <a:rPr lang="en-US" sz="568" dirty="0">
                <a:solidFill>
                  <a:srgbClr val="10B981"/>
                </a:solidFill>
              </a:rPr>
              <a:t>app.data.tickets</a:t>
            </a:r>
            <a:r>
              <a:rPr lang="en-US" sz="568" dirty="0">
                <a:solidFill>
                  <a:srgbClr val="F59E0B"/>
                </a:solidFill>
              </a:rPr>
              <a:t>import</a:t>
            </a:r>
            <a:r>
              <a:rPr lang="en-US" sz="568" dirty="0">
                <a:solidFill>
                  <a:srgbClr val="E5E7EB"/>
                </a:solidFill>
              </a:rPr>
              <a:t> get_all_tickets</a:t>
            </a:r>
            <a:endParaRPr lang="en-US" sz="568" dirty="0"/>
          </a:p>
        </p:txBody>
      </p:sp>
      <p:sp>
        <p:nvSpPr>
          <p:cNvPr id="11" name="Shape 8"/>
          <p:cNvSpPr/>
          <p:nvPr/>
        </p:nvSpPr>
        <p:spPr>
          <a:xfrm>
            <a:off x="314325" y="3685952"/>
            <a:ext cx="4214813" cy="957263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4325" y="3685952"/>
            <a:ext cx="21431" cy="95726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5763" y="3757389"/>
            <a:ext cx="4071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40AF"/>
                </a:solidFill>
              </a:rPr>
              <a:t>✓ Code Reuse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85763" y="3971702"/>
            <a:ext cx="4071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F2937"/>
                </a:solidFill>
              </a:rPr>
              <a:t>You're importing the </a:t>
            </a:r>
            <a:r>
              <a:rPr lang="en-US" sz="683" b="1" dirty="0">
                <a:solidFill>
                  <a:srgbClr val="1F2937"/>
                </a:solidFill>
              </a:rPr>
              <a:t>exact same functions</a:t>
            </a:r>
            <a:r>
              <a:rPr lang="en-US" sz="727" dirty="0">
                <a:solidFill>
                  <a:srgbClr val="1F2937"/>
                </a:solidFill>
              </a:rPr>
              <a:t> you wrote and tested in Week 8. No need to rewrite any database code!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614863" y="3685952"/>
            <a:ext cx="4214813" cy="957263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14863" y="3685952"/>
            <a:ext cx="21431" cy="95726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86300" y="3757389"/>
            <a:ext cx="4071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40AF"/>
                </a:solidFill>
              </a:rPr>
              <a:t>✓ Week 8 Functions Handle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686300" y="3971702"/>
            <a:ext cx="40719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F2937"/>
                </a:solidFill>
              </a:rPr>
              <a:t>• SQL queries with ? placeholders
 • Database connections
 • Error handling
 • Data validation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228600" y="4786089"/>
            <a:ext cx="8686800" cy="1785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28600" y="4786089"/>
            <a:ext cx="86868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28600" y="4843239"/>
            <a:ext cx="19701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Part 1 of 2: Importing Week 8 database functions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6643660" y="4843239"/>
            <a:ext cx="22717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Next: Connecting to database and using the functions →</a:t>
            </a:r>
            <a:endParaRPr lang="en-US" sz="62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15 </a:t>
            </a:r>
            <a:r>
              <a:rPr lang="en-US" sz="727" dirty="0">
                <a:solidFill>
                  <a:srgbClr val="6B7280"/>
                </a:solidFill>
              </a:rPr>
              <a:t>// Week 8 → Week 9 Bridge (Part 2 of 2)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28600" y="371475"/>
            <a:ext cx="8686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Week 9: Connecting and Using Week 8 Functions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28600" y="685800"/>
            <a:ext cx="8686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Connect to database and use your Week 8 functions in Streamlit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28600" y="1007297"/>
            <a:ext cx="8686800" cy="2171588"/>
          </a:xfrm>
          <a:prstGeom prst="rect">
            <a:avLst/>
          </a:prstGeom>
          <a:solidFill>
            <a:srgbClr val="F0FDF4"/>
          </a:solidFill>
          <a:ln w="18288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14325" y="1102537"/>
            <a:ext cx="8515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65F46"/>
                </a:solidFill>
              </a:rPr>
              <a:t>STEP 2: Establish Database Connection in Streamlit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314325" y="1359712"/>
            <a:ext cx="8515350" cy="121432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14325" y="1359712"/>
            <a:ext cx="28575" cy="121432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4325" y="1359712"/>
            <a:ext cx="8515350" cy="121432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# Connect to your Week 8 database</a:t>
            </a:r>
            <a:r>
              <a:rPr lang="en-US" sz="568" dirty="0">
                <a:solidFill>
                  <a:srgbClr val="E5E7EB"/>
                </a:solidFill>
              </a:rPr>
              <a:t>
 conn = </a:t>
            </a:r>
            <a:r>
              <a:rPr lang="en-US" sz="568" dirty="0">
                <a:solidFill>
                  <a:srgbClr val="6366F1"/>
                </a:solidFill>
              </a:rPr>
              <a:t>connect_database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'DATA/intelligence_platform.db'</a:t>
            </a:r>
            <a:r>
              <a:rPr lang="en-US" sz="568" dirty="0">
                <a:solidFill>
                  <a:srgbClr val="E5E7EB"/>
                </a:solidFill>
              </a:rPr>
              <a:t>)
</a:t>
            </a:r>
            <a:r>
              <a:rPr lang="en-US" sz="568" dirty="0">
                <a:solidFill>
                  <a:srgbClr val="6B7280"/>
                </a:solidFill>
              </a:rPr>
              <a:t># Now you can use all your Week 8 functions!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6B7280"/>
                </a:solidFill>
              </a:rPr>
              <a:t># Example: Get all incidents from database</a:t>
            </a:r>
            <a:r>
              <a:rPr lang="en-US" sz="568" dirty="0">
                <a:solidFill>
                  <a:srgbClr val="E5E7EB"/>
                </a:solidFill>
              </a:rPr>
              <a:t>
 incidents = </a:t>
            </a:r>
            <a:r>
              <a:rPr lang="en-US" sz="568" dirty="0">
                <a:solidFill>
                  <a:srgbClr val="6366F1"/>
                </a:solidFill>
              </a:rPr>
              <a:t>get_all_incidents</a:t>
            </a:r>
            <a:r>
              <a:rPr lang="en-US" sz="568" dirty="0">
                <a:solidFill>
                  <a:srgbClr val="E5E7EB"/>
                </a:solidFill>
              </a:rPr>
              <a:t>(conn) </a:t>
            </a:r>
            <a:r>
              <a:rPr lang="en-US" sz="568" dirty="0">
                <a:solidFill>
                  <a:srgbClr val="6B7280"/>
                </a:solidFill>
              </a:rPr>
              <a:t># Your Week 8 function!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6B7280"/>
                </a:solidFill>
              </a:rPr>
              <a:t># Example: Display in Streamlit table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dataframe</a:t>
            </a:r>
            <a:r>
              <a:rPr lang="en-US" sz="568" dirty="0">
                <a:solidFill>
                  <a:srgbClr val="E5E7EB"/>
                </a:solidFill>
              </a:rPr>
              <a:t>(incidents, use_container_width=</a:t>
            </a:r>
            <a:r>
              <a:rPr lang="en-US" sz="568" dirty="0">
                <a:solidFill>
                  <a:srgbClr val="F59E0B"/>
                </a:solidFill>
              </a:rPr>
              <a:t>True</a:t>
            </a:r>
            <a:r>
              <a:rPr lang="en-US" sz="568" dirty="0">
                <a:solidFill>
                  <a:srgbClr val="E5E7EB"/>
                </a:solidFill>
              </a:rPr>
              <a:t>)</a:t>
            </a:r>
            <a:endParaRPr lang="en-US" sz="568" dirty="0"/>
          </a:p>
        </p:txBody>
      </p:sp>
      <p:sp>
        <p:nvSpPr>
          <p:cNvPr id="11" name="Shape 8"/>
          <p:cNvSpPr/>
          <p:nvPr/>
        </p:nvSpPr>
        <p:spPr>
          <a:xfrm>
            <a:off x="314325" y="2631188"/>
            <a:ext cx="4214813" cy="442913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5763" y="2702626"/>
            <a:ext cx="4071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65F46"/>
                </a:solidFill>
              </a:rPr>
              <a:t>Week 8 Functions:</a:t>
            </a:r>
            <a:r>
              <a:rPr lang="en-US" sz="727" dirty="0">
                <a:solidFill>
                  <a:srgbClr val="065F46"/>
                </a:solidFill>
              </a:rPr>
              <a:t>
 Handle all SQL operations with parameterized queries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4614863" y="2631188"/>
            <a:ext cx="4214813" cy="442913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86300" y="2702626"/>
            <a:ext cx="4071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65F46"/>
                </a:solidFill>
              </a:rPr>
              <a:t>Streamlit (Week 9):</a:t>
            </a:r>
            <a:r>
              <a:rPr lang="en-US" sz="727" dirty="0">
                <a:solidFill>
                  <a:srgbClr val="065F46"/>
                </a:solidFill>
              </a:rPr>
              <a:t>
 Provides beautiful UI to display and interact with data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228600" y="3233663"/>
            <a:ext cx="8686800" cy="1343025"/>
          </a:xfrm>
          <a:prstGeom prst="rect">
            <a:avLst/>
          </a:prstGeom>
          <a:solidFill>
            <a:srgbClr val="FEF3C7"/>
          </a:solidFill>
          <a:ln w="18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14325" y="3338475"/>
            <a:ext cx="8515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92400E"/>
                </a:solidFill>
              </a:rPr>
              <a:t>💡 KEY CONCEPT: Separation of Concerns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314325" y="3595650"/>
            <a:ext cx="2781291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00050" y="3681375"/>
            <a:ext cx="26098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69" dirty="0">
                <a:solidFill>
                  <a:srgbClr val="1F2937"/>
                </a:solidFill>
              </a:rPr>
              <a:t>🗄️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1525888" y="3942122"/>
            <a:ext cx="3581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Week 8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1341713" y="4084997"/>
            <a:ext cx="7265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Database Layer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1207991" y="4227872"/>
            <a:ext cx="9939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(SQL, CRUD, Security)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3181341" y="3595650"/>
            <a:ext cx="2781291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67066" y="3681375"/>
            <a:ext cx="26098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69" dirty="0">
                <a:solidFill>
                  <a:srgbClr val="1F2937"/>
                </a:solidFill>
              </a:rPr>
              <a:t>➡️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4407554" y="3942122"/>
            <a:ext cx="3288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Bridge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4152026" y="4084997"/>
            <a:ext cx="8399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Import &amp; Connect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4311253" y="4227872"/>
            <a:ext cx="5214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(This slide!)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6048356" y="3595650"/>
            <a:ext cx="2781319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134081" y="3700407"/>
            <a:ext cx="2609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69" dirty="0">
                <a:solidFill>
                  <a:srgbClr val="1F2937"/>
                </a:solidFill>
              </a:rPr>
              <a:t>🎨</a:t>
            </a:r>
            <a:endParaRPr lang="en-US" sz="1269" dirty="0"/>
          </a:p>
        </p:txBody>
      </p:sp>
      <p:sp>
        <p:nvSpPr>
          <p:cNvPr id="29" name="Text 26"/>
          <p:cNvSpPr/>
          <p:nvPr/>
        </p:nvSpPr>
        <p:spPr>
          <a:xfrm>
            <a:off x="7259920" y="3961154"/>
            <a:ext cx="3581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Week 9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7243874" y="4104029"/>
            <a:ext cx="3902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UI Layer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6971742" y="4246904"/>
            <a:ext cx="934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(Streamlit Interface)</a:t>
            </a:r>
            <a:endParaRPr lang="en-US" sz="727" dirty="0"/>
          </a:p>
        </p:txBody>
      </p:sp>
      <p:sp>
        <p:nvSpPr>
          <p:cNvPr id="32" name="Shape 29"/>
          <p:cNvSpPr/>
          <p:nvPr/>
        </p:nvSpPr>
        <p:spPr>
          <a:xfrm>
            <a:off x="228600" y="4707731"/>
            <a:ext cx="8686800" cy="2071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228600" y="4707731"/>
            <a:ext cx="86868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28600" y="4772025"/>
            <a:ext cx="8686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Best Practice:</a:t>
            </a:r>
            <a:r>
              <a:rPr lang="en-US" sz="727" dirty="0">
                <a:solidFill>
                  <a:srgbClr val="4B5563"/>
                </a:solidFill>
              </a:rPr>
              <a:t>Keep database logic in Week 8 files, use Streamlit only for UI. This makes your code modular, testable, and maintainable!</a:t>
            </a:r>
            <a:endParaRPr lang="en-US" sz="68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72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16 </a:t>
            </a:r>
            <a:r>
              <a:rPr lang="en-US" sz="727" dirty="0">
                <a:solidFill>
                  <a:srgbClr val="6B7280"/>
                </a:solidFill>
              </a:rPr>
              <a:t>// Complete Integration Example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28600" y="371475"/>
            <a:ext cx="8686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Example: Using Week 8 Functions in Streamlit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28600" y="685800"/>
            <a:ext cx="8686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A complete Streamlit page showing Week 8 database integration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28600" y="942975"/>
            <a:ext cx="8686800" cy="4836319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14325" y="1028700"/>
            <a:ext cx="8515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📄 pages/1_Incidents_Dashboard.py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314325" y="1285875"/>
            <a:ext cx="8515350" cy="3464719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14325" y="1285875"/>
            <a:ext cx="28575" cy="3464719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4325" y="1285875"/>
            <a:ext cx="8515350" cy="34647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6B7280"/>
                </a:solidFill>
              </a:rPr>
              <a:t># Import Streamlit and Week 8 functions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F59E0B"/>
                </a:solidFill>
              </a:rPr>
              <a:t>import</a:t>
            </a:r>
            <a:r>
              <a:rPr lang="en-US" sz="516" dirty="0">
                <a:solidFill>
                  <a:srgbClr val="10B981"/>
                </a:solidFill>
              </a:rPr>
              <a:t>streamlit</a:t>
            </a:r>
            <a:r>
              <a:rPr lang="en-US" sz="516" dirty="0">
                <a:solidFill>
                  <a:srgbClr val="F59E0B"/>
                </a:solidFill>
              </a:rPr>
              <a:t>as</a:t>
            </a:r>
            <a:r>
              <a:rPr lang="en-US" sz="516" dirty="0">
                <a:solidFill>
                  <a:srgbClr val="10B98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F59E0B"/>
                </a:solidFill>
              </a:rPr>
              <a:t>from</a:t>
            </a:r>
            <a:r>
              <a:rPr lang="en-US" sz="516" dirty="0">
                <a:solidFill>
                  <a:srgbClr val="10B981"/>
                </a:solidFill>
              </a:rPr>
              <a:t>app.data.db</a:t>
            </a:r>
            <a:r>
              <a:rPr lang="en-US" sz="516" dirty="0">
                <a:solidFill>
                  <a:srgbClr val="F59E0B"/>
                </a:solidFill>
              </a:rPr>
              <a:t>import</a:t>
            </a:r>
            <a:r>
              <a:rPr lang="en-US" sz="516" dirty="0">
                <a:solidFill>
                  <a:srgbClr val="E5E7EB"/>
                </a:solidFill>
              </a:rPr>
              <a:t> connect_database
</a:t>
            </a:r>
            <a:r>
              <a:rPr lang="en-US" sz="516" dirty="0">
                <a:solidFill>
                  <a:srgbClr val="F59E0B"/>
                </a:solidFill>
              </a:rPr>
              <a:t>from</a:t>
            </a:r>
            <a:r>
              <a:rPr lang="en-US" sz="516" dirty="0">
                <a:solidFill>
                  <a:srgbClr val="10B981"/>
                </a:solidFill>
              </a:rPr>
              <a:t>app.data.incidents</a:t>
            </a:r>
            <a:r>
              <a:rPr lang="en-US" sz="516" dirty="0">
                <a:solidFill>
                  <a:srgbClr val="F59E0B"/>
                </a:solidFill>
              </a:rPr>
              <a:t>import</a:t>
            </a:r>
            <a:r>
              <a:rPr lang="en-US" sz="516" dirty="0">
                <a:solidFill>
                  <a:srgbClr val="E5E7EB"/>
                </a:solidFill>
              </a:rPr>
              <a:t> get_all_incidents, insert_incident
</a:t>
            </a:r>
            <a:r>
              <a:rPr lang="en-US" sz="516" dirty="0">
                <a:solidFill>
                  <a:srgbClr val="6B7280"/>
                </a:solidFill>
              </a:rPr>
              <a:t># Connect to database (Week 8 function)</a:t>
            </a:r>
            <a:r>
              <a:rPr lang="en-US" sz="516" dirty="0">
                <a:solidFill>
                  <a:srgbClr val="E5E7EB"/>
                </a:solidFill>
              </a:rPr>
              <a:t>
 conn = </a:t>
            </a:r>
            <a:r>
              <a:rPr lang="en-US" sz="516" dirty="0">
                <a:solidFill>
                  <a:srgbClr val="6366F1"/>
                </a:solidFill>
              </a:rPr>
              <a:t>connect_database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'DATA/intelligence_platform.db'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6B7280"/>
                </a:solidFill>
              </a:rPr>
              <a:t># Page title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title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"Cyber Incidents Dashboard"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6B7280"/>
                </a:solidFill>
              </a:rPr>
              <a:t># READ: Display incidents in a beautiful table (Week 8 function + Streamlit UI)</a:t>
            </a:r>
            <a:r>
              <a:rPr lang="en-US" sz="516" dirty="0">
                <a:solidFill>
                  <a:srgbClr val="E5E7EB"/>
                </a:solidFill>
              </a:rPr>
              <a:t>
 incidents = </a:t>
            </a:r>
            <a:r>
              <a:rPr lang="en-US" sz="516" dirty="0">
                <a:solidFill>
                  <a:srgbClr val="6366F1"/>
                </a:solidFill>
              </a:rPr>
              <a:t>get_all_incidents</a:t>
            </a:r>
            <a:r>
              <a:rPr lang="en-US" sz="516" dirty="0">
                <a:solidFill>
                  <a:srgbClr val="E5E7EB"/>
                </a:solidFill>
              </a:rPr>
              <a:t>(conn) </a:t>
            </a:r>
            <a:r>
              <a:rPr lang="en-US" sz="516" dirty="0">
                <a:solidFill>
                  <a:srgbClr val="6B7280"/>
                </a:solidFill>
              </a:rPr>
              <a:t># ← Week 8 function handles SQL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dataframe</a:t>
            </a:r>
            <a:r>
              <a:rPr lang="en-US" sz="516" dirty="0">
                <a:solidFill>
                  <a:srgbClr val="E5E7EB"/>
                </a:solidFill>
              </a:rPr>
              <a:t>(incidents, use_container_width=</a:t>
            </a:r>
            <a:r>
              <a:rPr lang="en-US" sz="516" dirty="0">
                <a:solidFill>
                  <a:srgbClr val="F59E0B"/>
                </a:solidFill>
              </a:rPr>
              <a:t>True</a:t>
            </a:r>
            <a:r>
              <a:rPr lang="en-US" sz="516" dirty="0">
                <a:solidFill>
                  <a:srgbClr val="E5E7EB"/>
                </a:solidFill>
              </a:rPr>
              <a:t>) </a:t>
            </a:r>
            <a:r>
              <a:rPr lang="en-US" sz="516" dirty="0">
                <a:solidFill>
                  <a:srgbClr val="6B7280"/>
                </a:solidFill>
              </a:rPr>
              <a:t># ← Streamlit creates UI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6B7280"/>
                </a:solidFill>
              </a:rPr>
              <a:t># CREATE: Add new incident with a form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F59E0B"/>
                </a:solidFill>
              </a:rPr>
              <a:t>with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form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"new_incident"</a:t>
            </a:r>
            <a:r>
              <a:rPr lang="en-US" sz="516" dirty="0">
                <a:solidFill>
                  <a:srgbClr val="E5E7EB"/>
                </a:solidFill>
              </a:rPr>
              <a:t>):
</a:t>
            </a:r>
            <a:r>
              <a:rPr lang="en-US" sz="516" dirty="0">
                <a:solidFill>
                  <a:srgbClr val="6B7280"/>
                </a:solidFill>
              </a:rPr>
              <a:t># Form inputs (Streamlit widgets)</a:t>
            </a:r>
            <a:r>
              <a:rPr lang="en-US" sz="516" dirty="0">
                <a:solidFill>
                  <a:srgbClr val="E5E7EB"/>
                </a:solidFill>
              </a:rPr>
              <a:t>
 title = 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text_input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"Incident Title"</a:t>
            </a:r>
            <a:r>
              <a:rPr lang="en-US" sz="516" dirty="0">
                <a:solidFill>
                  <a:srgbClr val="E5E7EB"/>
                </a:solidFill>
              </a:rPr>
              <a:t>)
 severity = 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selectbox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"Severity"</a:t>
            </a:r>
            <a:r>
              <a:rPr lang="en-US" sz="516" dirty="0">
                <a:solidFill>
                  <a:srgbClr val="E5E7EB"/>
                </a:solidFill>
              </a:rPr>
              <a:t>, [</a:t>
            </a:r>
            <a:r>
              <a:rPr lang="en-US" sz="516" dirty="0">
                <a:solidFill>
                  <a:srgbClr val="F59E0B"/>
                </a:solidFill>
              </a:rPr>
              <a:t>"Low"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"Medium"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"High"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"Critical"</a:t>
            </a:r>
            <a:r>
              <a:rPr lang="en-US" sz="516" dirty="0">
                <a:solidFill>
                  <a:srgbClr val="E5E7EB"/>
                </a:solidFill>
              </a:rPr>
              <a:t>])
 status = 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selectbox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"Status"</a:t>
            </a:r>
            <a:r>
              <a:rPr lang="en-US" sz="516" dirty="0">
                <a:solidFill>
                  <a:srgbClr val="E5E7EB"/>
                </a:solidFill>
              </a:rPr>
              <a:t>, [</a:t>
            </a:r>
            <a:r>
              <a:rPr lang="en-US" sz="516" dirty="0">
                <a:solidFill>
                  <a:srgbClr val="F59E0B"/>
                </a:solidFill>
              </a:rPr>
              <a:t>"Open"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"In Progress"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"Resolved"</a:t>
            </a:r>
            <a:r>
              <a:rPr lang="en-US" sz="516" dirty="0">
                <a:solidFill>
                  <a:srgbClr val="E5E7EB"/>
                </a:solidFill>
              </a:rPr>
              <a:t>])
</a:t>
            </a:r>
            <a:r>
              <a:rPr lang="en-US" sz="516" dirty="0">
                <a:solidFill>
                  <a:srgbClr val="6B7280"/>
                </a:solidFill>
              </a:rPr>
              <a:t># Form submit button</a:t>
            </a:r>
            <a:r>
              <a:rPr lang="en-US" sz="516" dirty="0">
                <a:solidFill>
                  <a:srgbClr val="E5E7EB"/>
                </a:solidFill>
              </a:rPr>
              <a:t>
 submitted = 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form_submit_button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"Add Incident"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6B7280"/>
                </a:solidFill>
              </a:rPr>
              <a:t># When form is submitted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F59E0B"/>
                </a:solidFill>
              </a:rPr>
              <a:t>if</a:t>
            </a:r>
            <a:r>
              <a:rPr lang="en-US" sz="516" dirty="0">
                <a:solidFill>
                  <a:srgbClr val="E5E7EB"/>
                </a:solidFill>
              </a:rPr>
              <a:t> submitted </a:t>
            </a:r>
            <a:r>
              <a:rPr lang="en-US" sz="516" dirty="0">
                <a:solidFill>
                  <a:srgbClr val="F59E0B"/>
                </a:solidFill>
              </a:rPr>
              <a:t>and</a:t>
            </a:r>
            <a:r>
              <a:rPr lang="en-US" sz="516" dirty="0">
                <a:solidFill>
                  <a:srgbClr val="E5E7EB"/>
                </a:solidFill>
              </a:rPr>
              <a:t> title:
</a:t>
            </a:r>
            <a:r>
              <a:rPr lang="en-US" sz="516" dirty="0">
                <a:solidFill>
                  <a:srgbClr val="6B7280"/>
                </a:solidFill>
              </a:rPr>
              <a:t># Call Week 8 function to insert into database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6366F1"/>
                </a:solidFill>
              </a:rPr>
              <a:t>insert_incident</a:t>
            </a:r>
            <a:r>
              <a:rPr lang="en-US" sz="516" dirty="0">
                <a:solidFill>
                  <a:srgbClr val="E5E7EB"/>
                </a:solidFill>
              </a:rPr>
              <a:t>(conn, title, severity, status) </a:t>
            </a:r>
            <a:r>
              <a:rPr lang="en-US" sz="516" dirty="0">
                <a:solidFill>
                  <a:srgbClr val="6B7280"/>
                </a:solidFill>
              </a:rPr>
              <a:t># ← Week 8 function!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success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"✓ Incident added successfully!"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rerun</a:t>
            </a:r>
            <a:r>
              <a:rPr lang="en-US" sz="516" dirty="0">
                <a:solidFill>
                  <a:srgbClr val="E5E7EB"/>
                </a:solidFill>
              </a:rPr>
              <a:t>() </a:t>
            </a:r>
            <a:r>
              <a:rPr lang="en-US" sz="516" dirty="0">
                <a:solidFill>
                  <a:srgbClr val="6B7280"/>
                </a:solidFill>
              </a:rPr>
              <a:t># Refresh the page to show new incident</a:t>
            </a:r>
            <a:endParaRPr lang="en-US" sz="516" dirty="0"/>
          </a:p>
        </p:txBody>
      </p:sp>
      <p:sp>
        <p:nvSpPr>
          <p:cNvPr id="11" name="Shape 8"/>
          <p:cNvSpPr/>
          <p:nvPr/>
        </p:nvSpPr>
        <p:spPr>
          <a:xfrm>
            <a:off x="314325" y="4836319"/>
            <a:ext cx="4214813" cy="82867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4325" y="4836319"/>
            <a:ext cx="21431" cy="8286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5763" y="4907756"/>
            <a:ext cx="40719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40AF"/>
                </a:solidFill>
              </a:rPr>
              <a:t>Week 8 Functions (Database Layer)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385763" y="5079206"/>
            <a:ext cx="40719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• connect_database() - Opens connection
 • get_all_incidents() - SELECT query
 • insert_incident() - INSERT query
 All use parameterized queries (?) for security</a:t>
            </a:r>
            <a:endParaRPr lang="en-US" sz="621" dirty="0"/>
          </a:p>
        </p:txBody>
      </p:sp>
      <p:sp>
        <p:nvSpPr>
          <p:cNvPr id="15" name="Shape 12"/>
          <p:cNvSpPr/>
          <p:nvPr/>
        </p:nvSpPr>
        <p:spPr>
          <a:xfrm>
            <a:off x="4614863" y="4836319"/>
            <a:ext cx="4214813" cy="828675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14863" y="4836319"/>
            <a:ext cx="21431" cy="82867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86300" y="4907756"/>
            <a:ext cx="40719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65F46"/>
                </a:solidFill>
              </a:rPr>
              <a:t>Streamlit (UI Layer)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686300" y="5079206"/>
            <a:ext cx="40719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• st.title() - Page header
 • st.dataframe() - Display data table
 • st.form() - Input form
 • st.text_input(), st.selectbox() - Widgets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228600" y="5807869"/>
            <a:ext cx="8686800" cy="2071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28600" y="5807869"/>
            <a:ext cx="86868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28600" y="5865019"/>
            <a:ext cx="8686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Perfect Integration:</a:t>
            </a:r>
            <a:r>
              <a:rPr lang="en-US" sz="727" dirty="0">
                <a:solidFill>
                  <a:srgbClr val="4B5563"/>
                </a:solidFill>
              </a:rPr>
              <a:t>Week 8 functions handle all database operations, Streamlit provides the beautiful interface. No database code in Streamlit pages!</a:t>
            </a:r>
            <a:endParaRPr lang="en-US" sz="68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748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12 </a:t>
            </a:r>
            <a:r>
              <a:rPr lang="en-US" sz="727" dirty="0">
                <a:solidFill>
                  <a:srgbClr val="6B7280"/>
                </a:solidFill>
              </a:rPr>
              <a:t>// Access Control (Part 2)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342900" y="485775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Logout and Complete Flow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342900" y="800100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Managing user sessions and navigation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342900" y="1424899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Logout Functionality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342900" y="1710649"/>
            <a:ext cx="4114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Add a logout button that resets session state and redirects to login: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342900" y="1939249"/>
            <a:ext cx="4114800" cy="142517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2900" y="1939249"/>
            <a:ext cx="28575" cy="142517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8625" y="2024974"/>
            <a:ext cx="3943350" cy="125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# At the bottom of dashboard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divider</a:t>
            </a:r>
            <a:r>
              <a:rPr lang="en-US" sz="674" dirty="0">
                <a:solidFill>
                  <a:srgbClr val="E5E7EB"/>
                </a:solidFill>
              </a:rPr>
              <a:t>()
</a:t>
            </a:r>
            <a:r>
              <a:rPr lang="en-US" sz="674" dirty="0">
                <a:solidFill>
                  <a:srgbClr val="F59E0B"/>
                </a:solidFill>
              </a:rPr>
              <a:t>if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button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"Log out"</a:t>
            </a:r>
            <a:r>
              <a:rPr lang="en-US" sz="674" dirty="0">
                <a:solidFill>
                  <a:srgbClr val="E5E7EB"/>
                </a:solidFill>
              </a:rPr>
              <a:t>):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.session_state.logged_in = </a:t>
            </a:r>
            <a:r>
              <a:rPr lang="en-US" sz="674" dirty="0">
                <a:solidFill>
                  <a:srgbClr val="F59E0B"/>
                </a:solidFill>
              </a:rPr>
              <a:t>False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.session_state.username = </a:t>
            </a:r>
            <a:r>
              <a:rPr lang="en-US" sz="674" dirty="0">
                <a:solidFill>
                  <a:srgbClr val="F59E0B"/>
                </a:solidFill>
              </a:rPr>
              <a:t>""</a:t>
            </a:r>
            <a:r>
              <a:rPr lang="en-US" sz="674" dirty="0">
                <a:solidFill>
                  <a:srgbClr val="E5E7EB"/>
                </a:solidFill>
              </a:rPr>
              <a:t>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info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"You have been logged out"</a:t>
            </a:r>
            <a:r>
              <a:rPr lang="en-US" sz="674" dirty="0">
                <a:solidFill>
                  <a:srgbClr val="E5E7EB"/>
                </a:solidFill>
              </a:rPr>
              <a:t>)
</a:t>
            </a:r>
            <a:r>
              <a:rPr lang="en-US" sz="674" dirty="0">
                <a:solidFill>
                  <a:srgbClr val="6366F1"/>
                </a:solidFill>
              </a:rPr>
              <a:t>st</a:t>
            </a:r>
            <a:r>
              <a:rPr lang="en-US" sz="674" dirty="0">
                <a:solidFill>
                  <a:srgbClr val="E5E7EB"/>
                </a:solidFill>
              </a:rPr>
              <a:t>.</a:t>
            </a:r>
            <a:r>
              <a:rPr lang="en-US" sz="674" dirty="0">
                <a:solidFill>
                  <a:srgbClr val="10B981"/>
                </a:solidFill>
              </a:rPr>
              <a:t>switch_page</a:t>
            </a:r>
            <a:r>
              <a:rPr lang="en-US" sz="674" dirty="0">
                <a:solidFill>
                  <a:srgbClr val="E5E7EB"/>
                </a:solidFill>
              </a:rPr>
              <a:t>(</a:t>
            </a:r>
            <a:r>
              <a:rPr lang="en-US" sz="674" dirty="0">
                <a:solidFill>
                  <a:srgbClr val="F59E0B"/>
                </a:solidFill>
              </a:rPr>
              <a:t>"Home.py"</a:t>
            </a:r>
            <a:r>
              <a:rPr lang="en-US" sz="674" dirty="0">
                <a:solidFill>
                  <a:srgbClr val="E5E7EB"/>
                </a:solidFill>
              </a:rPr>
              <a:t>)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342900" y="3674901"/>
            <a:ext cx="4114800" cy="69651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2900" y="3674901"/>
            <a:ext cx="28575" cy="6965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8625" y="3760626"/>
            <a:ext cx="3943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⚡ Critical Concept: st.stop()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3960651"/>
            <a:ext cx="394335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st.stop()</a:t>
            </a:r>
            <a:r>
              <a:rPr lang="en-US" sz="727" dirty="0">
                <a:solidFill>
                  <a:srgbClr val="92400E"/>
                </a:solidFill>
              </a:rPr>
              <a:t> prevents the rest of the script from executing. Without it, the dashboard content would still be displayed even for unauthorized users!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686300" y="1114425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Complete Flow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4686300" y="1400175"/>
            <a:ext cx="4114800" cy="2115945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00600" y="1537692"/>
            <a:ext cx="151734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34" b="1" dirty="0">
                <a:solidFill>
                  <a:srgbClr val="6366F1"/>
                </a:solidFill>
              </a:rPr>
              <a:t>1. User visits Dashboard page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4943475" y="1762720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10B981"/>
                </a:solidFill>
              </a:rPr>
              <a:t>↓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800600" y="2019170"/>
            <a:ext cx="166480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34" b="1" dirty="0">
                <a:solidFill>
                  <a:srgbClr val="6366F1"/>
                </a:solidFill>
              </a:rPr>
              <a:t>2. Check session_state.logged_in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4943475" y="2244198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10B981"/>
                </a:solidFill>
              </a:rPr>
              <a:t>↓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800600" y="2500647"/>
            <a:ext cx="169705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34" b="1" dirty="0">
                <a:solidFill>
                  <a:srgbClr val="EF4444"/>
                </a:solidFill>
              </a:rPr>
              <a:t>3a. If False: Show error + st.stop()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4800600" y="2722104"/>
            <a:ext cx="142958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34" b="1" dirty="0">
                <a:solidFill>
                  <a:srgbClr val="10B981"/>
                </a:solidFill>
              </a:rPr>
              <a:t>3b. If True: Show dashboard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4943475" y="2947132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10B981"/>
                </a:solidFill>
              </a:rPr>
              <a:t>↓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4800600" y="3203581"/>
            <a:ext cx="172585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34" b="1" dirty="0">
                <a:solidFill>
                  <a:srgbClr val="6366F1"/>
                </a:solidFill>
              </a:rPr>
              <a:t>4. Logout resets state → Home.py</a:t>
            </a:r>
            <a:endParaRPr lang="en-US" sz="734" dirty="0"/>
          </a:p>
        </p:txBody>
      </p:sp>
      <p:sp>
        <p:nvSpPr>
          <p:cNvPr id="25" name="Shape 22"/>
          <p:cNvSpPr/>
          <p:nvPr/>
        </p:nvSpPr>
        <p:spPr>
          <a:xfrm>
            <a:off x="4686300" y="3487545"/>
            <a:ext cx="4114800" cy="1165771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86300" y="3487545"/>
            <a:ext cx="28575" cy="116577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72025" y="3573270"/>
            <a:ext cx="3943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✓ Key Steps Explained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772025" y="3801870"/>
            <a:ext cx="39433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Step 1-2:</a:t>
            </a:r>
            <a:r>
              <a:rPr lang="en-US" sz="727" dirty="0">
                <a:solidFill>
                  <a:srgbClr val="4B5563"/>
                </a:solidFill>
              </a:rPr>
              <a:t> Check authentication status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772025" y="4000444"/>
            <a:ext cx="39433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Step 3a:</a:t>
            </a:r>
            <a:r>
              <a:rPr lang="en-US" sz="727" dirty="0">
                <a:solidFill>
                  <a:srgbClr val="4B5563"/>
                </a:solidFill>
              </a:rPr>
              <a:t> Block unauthorized access with st.stop()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772025" y="4199018"/>
            <a:ext cx="39433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Step 3b:</a:t>
            </a:r>
            <a:r>
              <a:rPr lang="en-US" sz="727" dirty="0">
                <a:solidFill>
                  <a:srgbClr val="4B5563"/>
                </a:solidFill>
              </a:rPr>
              <a:t> Display protected content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772025" y="4397592"/>
            <a:ext cx="39433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Step 4:</a:t>
            </a:r>
            <a:r>
              <a:rPr lang="en-US" sz="727" dirty="0">
                <a:solidFill>
                  <a:srgbClr val="4B5563"/>
                </a:solidFill>
              </a:rPr>
              <a:t> Clean session state on logout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342900" y="4767616"/>
            <a:ext cx="8458200" cy="2357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42900" y="4767616"/>
            <a:ext cx="84582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42900" y="4853341"/>
            <a:ext cx="8458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Security Pattern:</a:t>
            </a:r>
            <a:r>
              <a:rPr lang="en-US" sz="727" dirty="0">
                <a:solidFill>
                  <a:srgbClr val="4B5563"/>
                </a:solidFill>
              </a:rPr>
              <a:t>Always check authentication status at the top of protected pages and use st.stop() to prevent unauthorized access.</a:t>
            </a:r>
            <a:endParaRPr lang="en-US" sz="68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650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14 </a:t>
            </a:r>
            <a:r>
              <a:rPr lang="en-US" sz="727" dirty="0">
                <a:solidFill>
                  <a:srgbClr val="6B7280"/>
                </a:solidFill>
              </a:rPr>
              <a:t>// Data Management (Part 1 of 2)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342900" y="485775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CRUD Operations in Streamlit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342900" y="800100"/>
            <a:ext cx="8458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Part 1: Create and Read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42900" y="1143000"/>
            <a:ext cx="4114800" cy="4457700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42913" y="1243013"/>
            <a:ext cx="39147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CREATE - Add New Records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42913" y="1500188"/>
            <a:ext cx="39147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Use </a:t>
            </a:r>
            <a:r>
              <a:rPr lang="en-US" sz="621" dirty="0">
                <a:solidFill>
                  <a:srgbClr val="10B981"/>
                </a:solidFill>
              </a:rPr>
              <a:t>st.form()</a:t>
            </a:r>
            <a:r>
              <a:rPr lang="en-US" sz="621" dirty="0">
                <a:solidFill>
                  <a:srgbClr val="6B7280"/>
                </a:solidFill>
              </a:rPr>
              <a:t> to collect input and add to session state: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442913" y="1671638"/>
            <a:ext cx="3914775" cy="1910953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4350" y="1743075"/>
            <a:ext cx="3771900" cy="1768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# Initialize data storage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if"records"not in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.session_state: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 = []
</a:t>
            </a:r>
            <a:r>
              <a:rPr lang="en-US" sz="568" dirty="0">
                <a:solidFill>
                  <a:srgbClr val="6B7280"/>
                </a:solidFill>
              </a:rPr>
              <a:t># Create form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with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form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"add_record"</a:t>
            </a:r>
            <a:r>
              <a:rPr lang="en-US" sz="568" dirty="0">
                <a:solidFill>
                  <a:srgbClr val="E5E7EB"/>
                </a:solidFill>
              </a:rPr>
              <a:t>):
 name = 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text_input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"Name"</a:t>
            </a:r>
            <a:r>
              <a:rPr lang="en-US" sz="568" dirty="0">
                <a:solidFill>
                  <a:srgbClr val="E5E7EB"/>
                </a:solidFill>
              </a:rPr>
              <a:t>)
 email = 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text_input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"Email"</a:t>
            </a:r>
            <a:r>
              <a:rPr lang="en-US" sz="568" dirty="0">
                <a:solidFill>
                  <a:srgbClr val="E5E7EB"/>
                </a:solidFill>
              </a:rPr>
              <a:t>)
 role = 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selectbox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"Role"</a:t>
            </a:r>
            <a:r>
              <a:rPr lang="en-US" sz="568" dirty="0">
                <a:solidFill>
                  <a:srgbClr val="E5E7EB"/>
                </a:solidFill>
              </a:rPr>
              <a:t>, [</a:t>
            </a:r>
            <a:r>
              <a:rPr lang="en-US" sz="568" dirty="0">
                <a:solidFill>
                  <a:srgbClr val="F59E0B"/>
                </a:solidFill>
              </a:rPr>
              <a:t>"User"</a:t>
            </a:r>
            <a:r>
              <a:rPr lang="en-US" sz="568" dirty="0">
                <a:solidFill>
                  <a:srgbClr val="E5E7EB"/>
                </a:solidFill>
              </a:rPr>
              <a:t>, </a:t>
            </a:r>
            <a:r>
              <a:rPr lang="en-US" sz="568" dirty="0">
                <a:solidFill>
                  <a:srgbClr val="F59E0B"/>
                </a:solidFill>
              </a:rPr>
              <a:t>"Admin"</a:t>
            </a:r>
            <a:r>
              <a:rPr lang="en-US" sz="568" dirty="0">
                <a:solidFill>
                  <a:srgbClr val="E5E7EB"/>
                </a:solidFill>
              </a:rPr>
              <a:t>])
</a:t>
            </a:r>
            <a:r>
              <a:rPr lang="en-US" sz="568" dirty="0">
                <a:solidFill>
                  <a:srgbClr val="F59E0B"/>
                </a:solidFill>
              </a:rPr>
              <a:t>if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form_submit_button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"Add Record"</a:t>
            </a:r>
            <a:r>
              <a:rPr lang="en-US" sz="568" dirty="0">
                <a:solidFill>
                  <a:srgbClr val="E5E7EB"/>
                </a:solidFill>
              </a:rPr>
              <a:t>):
 record = {</a:t>
            </a:r>
            <a:r>
              <a:rPr lang="en-US" sz="568" dirty="0">
                <a:solidFill>
                  <a:srgbClr val="F59E0B"/>
                </a:solidFill>
              </a:rPr>
              <a:t>"name"</a:t>
            </a:r>
            <a:r>
              <a:rPr lang="en-US" sz="568" dirty="0">
                <a:solidFill>
                  <a:srgbClr val="E5E7EB"/>
                </a:solidFill>
              </a:rPr>
              <a:t>: name, </a:t>
            </a:r>
            <a:r>
              <a:rPr lang="en-US" sz="568" dirty="0">
                <a:solidFill>
                  <a:srgbClr val="F59E0B"/>
                </a:solidFill>
              </a:rPr>
              <a:t>"email"</a:t>
            </a:r>
            <a:r>
              <a:rPr lang="en-US" sz="568" dirty="0">
                <a:solidFill>
                  <a:srgbClr val="E5E7EB"/>
                </a:solidFill>
              </a:rPr>
              <a:t>: email,
 &amp;: role}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.session_state.records.</a:t>
            </a:r>
            <a:r>
              <a:rPr lang="en-US" sz="568" dirty="0">
                <a:solidFill>
                  <a:srgbClr val="10B981"/>
                </a:solidFill>
              </a:rPr>
              <a:t>append</a:t>
            </a:r>
            <a:r>
              <a:rPr lang="en-US" sz="568" dirty="0">
                <a:solidFill>
                  <a:srgbClr val="E5E7EB"/>
                </a:solidFill>
              </a:rPr>
              <a:t>(record)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success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"Record added!"</a:t>
            </a:r>
            <a:r>
              <a:rPr lang="en-US" sz="568" dirty="0">
                <a:solidFill>
                  <a:srgbClr val="E5E7EB"/>
                </a:solidFill>
              </a:rPr>
              <a:t>)</a:t>
            </a:r>
            <a:endParaRPr lang="en-US" sz="568" dirty="0"/>
          </a:p>
        </p:txBody>
      </p:sp>
      <p:sp>
        <p:nvSpPr>
          <p:cNvPr id="11" name="Shape 8"/>
          <p:cNvSpPr/>
          <p:nvPr/>
        </p:nvSpPr>
        <p:spPr>
          <a:xfrm>
            <a:off x="442913" y="3668316"/>
            <a:ext cx="3914775" cy="1067991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2913" y="3668316"/>
            <a:ext cx="21431" cy="106799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8638" y="3754041"/>
            <a:ext cx="3743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65F46"/>
                </a:solidFill>
              </a:rPr>
              <a:t>✓ Key Steps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28638" y="3954066"/>
            <a:ext cx="3743325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1.</a:t>
            </a:r>
            <a:r>
              <a:rPr lang="en-US" sz="621" dirty="0">
                <a:solidFill>
                  <a:srgbClr val="4B5563"/>
                </a:solidFill>
              </a:rPr>
              <a:t> Initialize session_state.records list
</a:t>
            </a:r>
            <a:r>
              <a:rPr lang="en-US" sz="584" b="1" dirty="0">
                <a:solidFill>
                  <a:srgbClr val="4B5563"/>
                </a:solidFill>
              </a:rPr>
              <a:t>2.</a:t>
            </a:r>
            <a:r>
              <a:rPr lang="en-US" sz="621" dirty="0">
                <a:solidFill>
                  <a:srgbClr val="4B5563"/>
                </a:solidFill>
              </a:rPr>
              <a:t> Create form with st.form()
</a:t>
            </a:r>
            <a:r>
              <a:rPr lang="en-US" sz="584" b="1" dirty="0">
                <a:solidFill>
                  <a:srgbClr val="4B5563"/>
                </a:solidFill>
              </a:rPr>
              <a:t>3.</a:t>
            </a:r>
            <a:r>
              <a:rPr lang="en-US" sz="621" dirty="0">
                <a:solidFill>
                  <a:srgbClr val="4B5563"/>
                </a:solidFill>
              </a:rPr>
              <a:t> Add input widgets (text_input, selectbox)
</a:t>
            </a:r>
            <a:r>
              <a:rPr lang="en-US" sz="584" b="1" dirty="0">
                <a:solidFill>
                  <a:srgbClr val="4B5563"/>
                </a:solidFill>
              </a:rPr>
              <a:t>4.</a:t>
            </a:r>
            <a:r>
              <a:rPr lang="en-US" sz="621" dirty="0">
                <a:solidFill>
                  <a:srgbClr val="4B5563"/>
                </a:solidFill>
              </a:rPr>
              <a:t> Use form_submit_button() for submission
</a:t>
            </a:r>
            <a:r>
              <a:rPr lang="en-US" sz="584" b="1" dirty="0">
                <a:solidFill>
                  <a:srgbClr val="4B5563"/>
                </a:solidFill>
              </a:rPr>
              <a:t>5.</a:t>
            </a:r>
            <a:r>
              <a:rPr lang="en-US" sz="621" dirty="0">
                <a:solidFill>
                  <a:srgbClr val="4B5563"/>
                </a:solidFill>
              </a:rPr>
              <a:t> Append record to list and show success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4686300" y="1143000"/>
            <a:ext cx="4114800" cy="4457700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86313" y="1243013"/>
            <a:ext cx="39147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READ - Display Records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786313" y="1500188"/>
            <a:ext cx="39147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Use </a:t>
            </a:r>
            <a:r>
              <a:rPr lang="en-US" sz="621" dirty="0">
                <a:solidFill>
                  <a:srgbClr val="3B82F6"/>
                </a:solidFill>
              </a:rPr>
              <a:t>st.dataframe()</a:t>
            </a:r>
            <a:r>
              <a:rPr lang="en-US" sz="621" dirty="0">
                <a:solidFill>
                  <a:srgbClr val="6B7280"/>
                </a:solidFill>
              </a:rPr>
              <a:t> or </a:t>
            </a:r>
            <a:r>
              <a:rPr lang="en-US" sz="621" dirty="0">
                <a:solidFill>
                  <a:srgbClr val="3B82F6"/>
                </a:solidFill>
              </a:rPr>
              <a:t>st.table()</a:t>
            </a:r>
            <a:r>
              <a:rPr lang="en-US" sz="621" dirty="0">
                <a:solidFill>
                  <a:srgbClr val="6B7280"/>
                </a:solidFill>
              </a:rPr>
              <a:t> to display data: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4786313" y="1671638"/>
            <a:ext cx="3914775" cy="1910953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57750" y="1743075"/>
            <a:ext cx="3771900" cy="1768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# Display all records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if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.session_state.records: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subheader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"All Records"</a:t>
            </a:r>
            <a:r>
              <a:rPr lang="en-US" sz="568" dirty="0">
                <a:solidFill>
                  <a:srgbClr val="E5E7EB"/>
                </a:solidFill>
              </a:rPr>
              <a:t>)
</a:t>
            </a:r>
            <a:r>
              <a:rPr lang="en-US" sz="568" dirty="0">
                <a:solidFill>
                  <a:srgbClr val="6B7280"/>
                </a:solidFill>
              </a:rPr>
              <a:t># Convert to DataFrame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import</a:t>
            </a:r>
            <a:r>
              <a:rPr lang="en-US" sz="568" dirty="0">
                <a:solidFill>
                  <a:srgbClr val="10B981"/>
                </a:solidFill>
              </a:rPr>
              <a:t>pandas</a:t>
            </a:r>
            <a:r>
              <a:rPr lang="en-US" sz="568" dirty="0">
                <a:solidFill>
                  <a:srgbClr val="F59E0B"/>
                </a:solidFill>
              </a:rPr>
              <a:t>as</a:t>
            </a:r>
            <a:r>
              <a:rPr lang="en-US" sz="568" dirty="0">
                <a:solidFill>
                  <a:srgbClr val="10B981"/>
                </a:solidFill>
              </a:rPr>
              <a:t>pd</a:t>
            </a:r>
            <a:r>
              <a:rPr lang="en-US" sz="568" dirty="0">
                <a:solidFill>
                  <a:srgbClr val="E5E7EB"/>
                </a:solidFill>
              </a:rPr>
              <a:t>
 df = </a:t>
            </a:r>
            <a:r>
              <a:rPr lang="en-US" sz="568" dirty="0">
                <a:solidFill>
                  <a:srgbClr val="6366F1"/>
                </a:solidFill>
              </a:rPr>
              <a:t>pd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DataFrame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.session_state.records)
</a:t>
            </a:r>
            <a:r>
              <a:rPr lang="en-US" sz="568" dirty="0">
                <a:solidFill>
                  <a:srgbClr val="6B7280"/>
                </a:solidFill>
              </a:rPr>
              <a:t># Display interactive table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dataframe</a:t>
            </a:r>
            <a:r>
              <a:rPr lang="en-US" sz="568" dirty="0">
                <a:solidFill>
                  <a:srgbClr val="E5E7EB"/>
                </a:solidFill>
              </a:rPr>
              <a:t>(df, use_container_width=</a:t>
            </a:r>
            <a:r>
              <a:rPr lang="en-US" sz="568" dirty="0">
                <a:solidFill>
                  <a:srgbClr val="F59E0B"/>
                </a:solidFill>
              </a:rPr>
              <a:t>True</a:t>
            </a:r>
            <a:r>
              <a:rPr lang="en-US" sz="568" dirty="0">
                <a:solidFill>
                  <a:srgbClr val="E5E7EB"/>
                </a:solidFill>
              </a:rPr>
              <a:t>)
</a:t>
            </a:r>
            <a:r>
              <a:rPr lang="en-US" sz="568" dirty="0">
                <a:solidFill>
                  <a:srgbClr val="6B7280"/>
                </a:solidFill>
              </a:rPr>
              <a:t># Or use static table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6B7280"/>
                </a:solidFill>
              </a:rPr>
              <a:t># st.table(df)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else</a:t>
            </a:r>
            <a:r>
              <a:rPr lang="en-US" sz="568" dirty="0">
                <a:solidFill>
                  <a:srgbClr val="E5E7EB"/>
                </a:solidFill>
              </a:rPr>
              <a:t>: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info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"No records found"</a:t>
            </a:r>
            <a:r>
              <a:rPr lang="en-US" sz="568" dirty="0">
                <a:solidFill>
                  <a:srgbClr val="E5E7EB"/>
                </a:solidFill>
              </a:rPr>
              <a:t>)</a:t>
            </a:r>
            <a:endParaRPr lang="en-US" sz="568" dirty="0"/>
          </a:p>
        </p:txBody>
      </p:sp>
      <p:sp>
        <p:nvSpPr>
          <p:cNvPr id="20" name="Shape 17"/>
          <p:cNvSpPr/>
          <p:nvPr/>
        </p:nvSpPr>
        <p:spPr>
          <a:xfrm>
            <a:off x="4786313" y="3668316"/>
            <a:ext cx="3914775" cy="78938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86313" y="3668316"/>
            <a:ext cx="21431" cy="78938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72038" y="3754041"/>
            <a:ext cx="3743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40AF"/>
                </a:solidFill>
              </a:rPr>
              <a:t>📊 Display Options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4872038" y="3954066"/>
            <a:ext cx="37433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st.dataframe()</a:t>
            </a:r>
            <a:r>
              <a:rPr lang="en-US" sz="621" dirty="0">
                <a:solidFill>
                  <a:srgbClr val="4B5563"/>
                </a:solidFill>
              </a:rPr>
              <a:t> - Interactive table with sorting, filtering, and scrolling
</a:t>
            </a:r>
            <a:r>
              <a:rPr lang="en-US" sz="584" b="1" dirty="0">
                <a:solidFill>
                  <a:srgbClr val="4B5563"/>
                </a:solidFill>
              </a:rPr>
              <a:t>st.table()</a:t>
            </a:r>
            <a:r>
              <a:rPr lang="en-US" sz="621" dirty="0">
                <a:solidFill>
                  <a:srgbClr val="4B5563"/>
                </a:solidFill>
              </a:rPr>
              <a:t> - Static table, good for small datasets
</a:t>
            </a:r>
            <a:r>
              <a:rPr lang="en-US" sz="584" b="1" dirty="0">
                <a:solidFill>
                  <a:srgbClr val="4B5563"/>
                </a:solidFill>
              </a:rPr>
              <a:t>use_container_width=True</a:t>
            </a:r>
            <a:r>
              <a:rPr lang="en-US" sz="621" dirty="0">
                <a:solidFill>
                  <a:srgbClr val="4B5563"/>
                </a:solidFill>
              </a:rPr>
              <a:t> - Makes table fill the container width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4786313" y="4543425"/>
            <a:ext cx="3914775" cy="928688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86313" y="4543425"/>
            <a:ext cx="21431" cy="9286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72038" y="4629150"/>
            <a:ext cx="3743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65F46"/>
                </a:solidFill>
              </a:rPr>
              <a:t>✓ Key Steps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872038" y="4829175"/>
            <a:ext cx="374332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1.</a:t>
            </a:r>
            <a:r>
              <a:rPr lang="en-US" sz="621" dirty="0">
                <a:solidFill>
                  <a:srgbClr val="4B5563"/>
                </a:solidFill>
              </a:rPr>
              <a:t> Check if records exist
</a:t>
            </a:r>
            <a:r>
              <a:rPr lang="en-US" sz="584" b="1" dirty="0">
                <a:solidFill>
                  <a:srgbClr val="4B5563"/>
                </a:solidFill>
              </a:rPr>
              <a:t>2.</a:t>
            </a:r>
            <a:r>
              <a:rPr lang="en-US" sz="621" dirty="0">
                <a:solidFill>
                  <a:srgbClr val="4B5563"/>
                </a:solidFill>
              </a:rPr>
              <a:t> Convert session_state.records to DataFrame
</a:t>
            </a:r>
            <a:r>
              <a:rPr lang="en-US" sz="584" b="1" dirty="0">
                <a:solidFill>
                  <a:srgbClr val="4B5563"/>
                </a:solidFill>
              </a:rPr>
              <a:t>3.</a:t>
            </a:r>
            <a:r>
              <a:rPr lang="en-US" sz="621" dirty="0">
                <a:solidFill>
                  <a:srgbClr val="4B5563"/>
                </a:solidFill>
              </a:rPr>
              <a:t> Display with st.dataframe() or st.table()
</a:t>
            </a:r>
            <a:r>
              <a:rPr lang="en-US" sz="584" b="1" dirty="0">
                <a:solidFill>
                  <a:srgbClr val="4B5563"/>
                </a:solidFill>
              </a:rPr>
              <a:t>4.</a:t>
            </a:r>
            <a:r>
              <a:rPr lang="en-US" sz="621" dirty="0">
                <a:solidFill>
                  <a:srgbClr val="4B5563"/>
                </a:solidFill>
              </a:rPr>
              <a:t> Show info message if no records found</a:t>
            </a:r>
            <a:endParaRPr lang="en-US" sz="584" dirty="0"/>
          </a:p>
        </p:txBody>
      </p:sp>
      <p:sp>
        <p:nvSpPr>
          <p:cNvPr id="28" name="Shape 25"/>
          <p:cNvSpPr/>
          <p:nvPr/>
        </p:nvSpPr>
        <p:spPr>
          <a:xfrm>
            <a:off x="342900" y="5686425"/>
            <a:ext cx="8458200" cy="2071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42900" y="5686425"/>
            <a:ext cx="84582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42900" y="5772150"/>
            <a:ext cx="159339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Part 1 of 2: Create and Read Operations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7249204" y="5772150"/>
            <a:ext cx="155189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Next: Update and Delete operations →</a:t>
            </a:r>
            <a:endParaRPr lang="en-US" sz="62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14 </a:t>
            </a:r>
            <a:r>
              <a:rPr lang="en-US" sz="727" dirty="0">
                <a:solidFill>
                  <a:srgbClr val="6B7280"/>
                </a:solidFill>
              </a:rPr>
              <a:t>// Data Management (Part 2)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CRUD Operations - Part 2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Update and Delete operations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85750" y="1028700"/>
            <a:ext cx="4200525" cy="3564731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57188" y="1239273"/>
            <a:ext cx="40576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59E0B"/>
                </a:solidFill>
              </a:rPr>
              <a:t>UPDATE - Modify Records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357188" y="1496448"/>
            <a:ext cx="40576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Select a record and update its values: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357188" y="1667898"/>
            <a:ext cx="4057650" cy="2204349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7188" y="1667898"/>
            <a:ext cx="28575" cy="220434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4338" y="1725048"/>
            <a:ext cx="3943350" cy="2090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# Select record to update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if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.session_state.records:
 names = [r[</a:t>
            </a:r>
            <a:r>
              <a:rPr lang="en-US" sz="568" dirty="0">
                <a:solidFill>
                  <a:srgbClr val="F59E0B"/>
                </a:solidFill>
              </a:rPr>
              <a:t>"name"</a:t>
            </a:r>
            <a:r>
              <a:rPr lang="en-US" sz="568" dirty="0">
                <a:solidFill>
                  <a:srgbClr val="E5E7EB"/>
                </a:solidFill>
              </a:rPr>
              <a:t>] </a:t>
            </a:r>
            <a:r>
              <a:rPr lang="en-US" sz="568" dirty="0">
                <a:solidFill>
                  <a:srgbClr val="F59E0B"/>
                </a:solidFill>
              </a:rPr>
              <a:t>for</a:t>
            </a:r>
            <a:r>
              <a:rPr lang="en-US" sz="568" dirty="0">
                <a:solidFill>
                  <a:srgbClr val="E5E7EB"/>
                </a:solidFill>
              </a:rPr>
              <a:t> r </a:t>
            </a:r>
            <a:r>
              <a:rPr lang="en-US" sz="568" dirty="0">
                <a:solidFill>
                  <a:srgbClr val="F59E0B"/>
                </a:solidFill>
              </a:rPr>
              <a:t>in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.session_state.records]
 selected = 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selectbox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"Select record"</a:t>
            </a:r>
            <a:r>
              <a:rPr lang="en-US" sz="568" dirty="0">
                <a:solidFill>
                  <a:srgbClr val="E5E7EB"/>
                </a:solidFill>
              </a:rPr>
              <a:t>, names)
</a:t>
            </a:r>
            <a:r>
              <a:rPr lang="en-US" sz="568" dirty="0">
                <a:solidFill>
                  <a:srgbClr val="6B7280"/>
                </a:solidFill>
              </a:rPr>
              <a:t># Find index</a:t>
            </a:r>
            <a:r>
              <a:rPr lang="en-US" sz="568" dirty="0">
                <a:solidFill>
                  <a:srgbClr val="E5E7EB"/>
                </a:solidFill>
              </a:rPr>
              <a:t>
 idx = names.</a:t>
            </a:r>
            <a:r>
              <a:rPr lang="en-US" sz="568" dirty="0">
                <a:solidFill>
                  <a:srgbClr val="10B981"/>
                </a:solidFill>
              </a:rPr>
              <a:t>index</a:t>
            </a:r>
            <a:r>
              <a:rPr lang="en-US" sz="568" dirty="0">
                <a:solidFill>
                  <a:srgbClr val="E5E7EB"/>
                </a:solidFill>
              </a:rPr>
              <a:t>(selected)
 record = 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.session_state.records[idx]
</a:t>
            </a:r>
            <a:r>
              <a:rPr lang="en-US" sz="568" dirty="0">
                <a:solidFill>
                  <a:srgbClr val="6B7280"/>
                </a:solidFill>
              </a:rPr>
              <a:t># Update form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with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form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"update_form"</a:t>
            </a:r>
            <a:r>
              <a:rPr lang="en-US" sz="568" dirty="0">
                <a:solidFill>
                  <a:srgbClr val="E5E7EB"/>
                </a:solidFill>
              </a:rPr>
              <a:t>):
 new_email = 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text_input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"Email"</a:t>
            </a:r>
            <a:r>
              <a:rPr lang="en-US" sz="568" dirty="0">
                <a:solidFill>
                  <a:srgbClr val="E5E7EB"/>
                </a:solidFill>
              </a:rPr>
              <a:t>, record[</a:t>
            </a:r>
            <a:r>
              <a:rPr lang="en-US" sz="568" dirty="0">
                <a:solidFill>
                  <a:srgbClr val="F59E0B"/>
                </a:solidFill>
              </a:rPr>
              <a:t>"email"</a:t>
            </a:r>
            <a:r>
              <a:rPr lang="en-US" sz="568" dirty="0">
                <a:solidFill>
                  <a:srgbClr val="E5E7EB"/>
                </a:solidFill>
              </a:rPr>
              <a:t>])
 new_role = 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selectbox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"Role"</a:t>
            </a:r>
            <a:r>
              <a:rPr lang="en-US" sz="568" dirty="0">
                <a:solidFill>
                  <a:srgbClr val="E5E7EB"/>
                </a:solidFill>
              </a:rPr>
              <a:t>, [</a:t>
            </a:r>
            <a:r>
              <a:rPr lang="en-US" sz="568" dirty="0">
                <a:solidFill>
                  <a:srgbClr val="F59E0B"/>
                </a:solidFill>
              </a:rPr>
              <a:t>"User"</a:t>
            </a:r>
            <a:r>
              <a:rPr lang="en-US" sz="568" dirty="0">
                <a:solidFill>
                  <a:srgbClr val="E5E7EB"/>
                </a:solidFill>
              </a:rPr>
              <a:t>, </a:t>
            </a:r>
            <a:r>
              <a:rPr lang="en-US" sz="568" dirty="0">
                <a:solidFill>
                  <a:srgbClr val="F59E0B"/>
                </a:solidFill>
              </a:rPr>
              <a:t>"Admin"</a:t>
            </a:r>
            <a:r>
              <a:rPr lang="en-US" sz="568" dirty="0">
                <a:solidFill>
                  <a:srgbClr val="E5E7EB"/>
                </a:solidFill>
              </a:rPr>
              <a:t>],
 index=</a:t>
            </a:r>
            <a:r>
              <a:rPr lang="en-US" sz="568" dirty="0">
                <a:solidFill>
                  <a:srgbClr val="F59E0B"/>
                </a:solidFill>
              </a:rPr>
              <a:t>0if</a:t>
            </a:r>
            <a:r>
              <a:rPr lang="en-US" sz="568" dirty="0">
                <a:solidFill>
                  <a:srgbClr val="E5E7EB"/>
                </a:solidFill>
              </a:rPr>
              <a:t> record[</a:t>
            </a:r>
            <a:r>
              <a:rPr lang="en-US" sz="568" dirty="0">
                <a:solidFill>
                  <a:srgbClr val="F59E0B"/>
                </a:solidFill>
              </a:rPr>
              <a:t>"role"</a:t>
            </a:r>
            <a:r>
              <a:rPr lang="en-US" sz="568" dirty="0">
                <a:solidFill>
                  <a:srgbClr val="E5E7EB"/>
                </a:solidFill>
              </a:rPr>
              <a:t>]==</a:t>
            </a:r>
            <a:r>
              <a:rPr lang="en-US" sz="568" dirty="0">
                <a:solidFill>
                  <a:srgbClr val="F59E0B"/>
                </a:solidFill>
              </a:rPr>
              <a:t>"User"else1</a:t>
            </a:r>
            <a:r>
              <a:rPr lang="en-US" sz="568" dirty="0">
                <a:solidFill>
                  <a:srgbClr val="E5E7EB"/>
                </a:solidFill>
              </a:rPr>
              <a:t>)
</a:t>
            </a:r>
            <a:r>
              <a:rPr lang="en-US" sz="568" dirty="0">
                <a:solidFill>
                  <a:srgbClr val="F59E0B"/>
                </a:solidFill>
              </a:rPr>
              <a:t>if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form_submit_button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"Update"</a:t>
            </a:r>
            <a:r>
              <a:rPr lang="en-US" sz="568" dirty="0">
                <a:solidFill>
                  <a:srgbClr val="E5E7EB"/>
                </a:solidFill>
              </a:rPr>
              <a:t>):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.session_state.records[idx][</a:t>
            </a:r>
            <a:r>
              <a:rPr lang="en-US" sz="568" dirty="0">
                <a:solidFill>
                  <a:srgbClr val="F59E0B"/>
                </a:solidFill>
              </a:rPr>
              <a:t>"email"</a:t>
            </a:r>
            <a:r>
              <a:rPr lang="en-US" sz="568" dirty="0">
                <a:solidFill>
                  <a:srgbClr val="E5E7EB"/>
                </a:solidFill>
              </a:rPr>
              <a:t>] = new_email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.session_state.records[idx][</a:t>
            </a:r>
            <a:r>
              <a:rPr lang="en-US" sz="568" dirty="0">
                <a:solidFill>
                  <a:srgbClr val="F59E0B"/>
                </a:solidFill>
              </a:rPr>
              <a:t>"role"</a:t>
            </a:r>
            <a:r>
              <a:rPr lang="en-US" sz="568" dirty="0">
                <a:solidFill>
                  <a:srgbClr val="E5E7EB"/>
                </a:solidFill>
              </a:rPr>
              <a:t>] = new_role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success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"Record updated!"</a:t>
            </a:r>
            <a:r>
              <a:rPr lang="en-US" sz="568" dirty="0">
                <a:solidFill>
                  <a:srgbClr val="E5E7EB"/>
                </a:solidFill>
              </a:rPr>
              <a:t>)</a:t>
            </a:r>
            <a:endParaRPr lang="en-US" sz="568" dirty="0"/>
          </a:p>
        </p:txBody>
      </p:sp>
      <p:sp>
        <p:nvSpPr>
          <p:cNvPr id="12" name="Shape 9"/>
          <p:cNvSpPr/>
          <p:nvPr/>
        </p:nvSpPr>
        <p:spPr>
          <a:xfrm>
            <a:off x="357188" y="4011383"/>
            <a:ext cx="4057650" cy="371475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7188" y="4011383"/>
            <a:ext cx="21431" cy="37147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4338" y="4068533"/>
            <a:ext cx="3943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92400E"/>
                </a:solidFill>
              </a:rPr>
              <a:t>Update Flow:</a:t>
            </a:r>
            <a:r>
              <a:rPr lang="en-US" sz="621" dirty="0">
                <a:solidFill>
                  <a:srgbClr val="92400E"/>
                </a:solidFill>
              </a:rPr>
              <a:t> Use list comprehension to get names → Select with st.selectbox() → Find index → Pre-fill form with current values → Save changes with index assignment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4657725" y="1028700"/>
            <a:ext cx="4200525" cy="3564731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29163" y="1196411"/>
            <a:ext cx="40576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EF4444"/>
                </a:solidFill>
              </a:rPr>
              <a:t>DELETE - Remove Records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729163" y="1453586"/>
            <a:ext cx="40576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Select and delete records with confirmation: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4729163" y="1625036"/>
            <a:ext cx="4057650" cy="2204349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29163" y="1625036"/>
            <a:ext cx="28575" cy="2204349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86313" y="1682186"/>
            <a:ext cx="3943350" cy="2090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# Select record to delete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if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.session_state.records:
 names = [r[</a:t>
            </a:r>
            <a:r>
              <a:rPr lang="en-US" sz="568" dirty="0">
                <a:solidFill>
                  <a:srgbClr val="F59E0B"/>
                </a:solidFill>
              </a:rPr>
              <a:t>"name"</a:t>
            </a:r>
            <a:r>
              <a:rPr lang="en-US" sz="568" dirty="0">
                <a:solidFill>
                  <a:srgbClr val="E5E7EB"/>
                </a:solidFill>
              </a:rPr>
              <a:t>] </a:t>
            </a:r>
            <a:r>
              <a:rPr lang="en-US" sz="568" dirty="0">
                <a:solidFill>
                  <a:srgbClr val="F59E0B"/>
                </a:solidFill>
              </a:rPr>
              <a:t>for</a:t>
            </a:r>
            <a:r>
              <a:rPr lang="en-US" sz="568" dirty="0">
                <a:solidFill>
                  <a:srgbClr val="E5E7EB"/>
                </a:solidFill>
              </a:rPr>
              <a:t> r </a:t>
            </a:r>
            <a:r>
              <a:rPr lang="en-US" sz="568" dirty="0">
                <a:solidFill>
                  <a:srgbClr val="F59E0B"/>
                </a:solidFill>
              </a:rPr>
              <a:t>in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.session_state.records]
 to_delete = 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selectbox</a:t>
            </a:r>
            <a:r>
              <a:rPr lang="en-US" sz="568" dirty="0">
                <a:solidFill>
                  <a:srgbClr val="E5E7EB"/>
                </a:solidFill>
              </a:rPr>
              <a:t>(
</a:t>
            </a:r>
            <a:r>
              <a:rPr lang="en-US" sz="568" dirty="0">
                <a:solidFill>
                  <a:srgbClr val="F59E0B"/>
                </a:solidFill>
              </a:rPr>
              <a:t>"Select record to delete"</a:t>
            </a:r>
            <a:r>
              <a:rPr lang="en-US" sz="568" dirty="0">
                <a:solidFill>
                  <a:srgbClr val="E5E7EB"/>
                </a:solidFill>
              </a:rPr>
              <a:t>, names
 )
</a:t>
            </a:r>
            <a:r>
              <a:rPr lang="en-US" sz="568" dirty="0">
                <a:solidFill>
                  <a:srgbClr val="6B7280"/>
                </a:solidFill>
              </a:rPr>
              <a:t># Confirmation and delete</a:t>
            </a:r>
            <a:r>
              <a:rPr lang="en-US" sz="568" dirty="0">
                <a:solidFill>
                  <a:srgbClr val="E5E7EB"/>
                </a:solidFill>
              </a:rPr>
              <a:t>
 col1, col2 = 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columns</a:t>
            </a:r>
            <a:r>
              <a:rPr lang="en-US" sz="568" dirty="0">
                <a:solidFill>
                  <a:srgbClr val="E5E7EB"/>
                </a:solidFill>
              </a:rPr>
              <a:t>([</a:t>
            </a:r>
            <a:r>
              <a:rPr lang="en-US" sz="568" dirty="0">
                <a:solidFill>
                  <a:srgbClr val="F59E0B"/>
                </a:solidFill>
              </a:rPr>
              <a:t>3</a:t>
            </a:r>
            <a:r>
              <a:rPr lang="en-US" sz="568" dirty="0">
                <a:solidFill>
                  <a:srgbClr val="E5E7EB"/>
                </a:solidFill>
              </a:rPr>
              <a:t>, </a:t>
            </a:r>
            <a:r>
              <a:rPr lang="en-US" sz="568" dirty="0">
                <a:solidFill>
                  <a:srgbClr val="F59E0B"/>
                </a:solidFill>
              </a:rPr>
              <a:t>1</a:t>
            </a:r>
            <a:r>
              <a:rPr lang="en-US" sz="568" dirty="0">
                <a:solidFill>
                  <a:srgbClr val="E5E7EB"/>
                </a:solidFill>
              </a:rPr>
              <a:t>])
</a:t>
            </a:r>
            <a:r>
              <a:rPr lang="en-US" sz="568" dirty="0">
                <a:solidFill>
                  <a:srgbClr val="F59E0B"/>
                </a:solidFill>
              </a:rPr>
              <a:t>with</a:t>
            </a:r>
            <a:r>
              <a:rPr lang="en-US" sz="568" dirty="0">
                <a:solidFill>
                  <a:srgbClr val="E5E7EB"/>
                </a:solidFill>
              </a:rPr>
              <a:t> col1: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warning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f"Delete {to_delete}?"</a:t>
            </a:r>
            <a:r>
              <a:rPr lang="en-US" sz="568" dirty="0">
                <a:solidFill>
                  <a:srgbClr val="E5E7EB"/>
                </a:solidFill>
              </a:rPr>
              <a:t>)
</a:t>
            </a:r>
            <a:r>
              <a:rPr lang="en-US" sz="568" dirty="0">
                <a:solidFill>
                  <a:srgbClr val="F59E0B"/>
                </a:solidFill>
              </a:rPr>
              <a:t>with</a:t>
            </a:r>
            <a:r>
              <a:rPr lang="en-US" sz="568" dirty="0">
                <a:solidFill>
                  <a:srgbClr val="E5E7EB"/>
                </a:solidFill>
              </a:rPr>
              <a:t> col2:
</a:t>
            </a:r>
            <a:r>
              <a:rPr lang="en-US" sz="568" dirty="0">
                <a:solidFill>
                  <a:srgbClr val="F59E0B"/>
                </a:solidFill>
              </a:rPr>
              <a:t>if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button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"Delete"</a:t>
            </a:r>
            <a:r>
              <a:rPr lang="en-US" sz="568" dirty="0">
                <a:solidFill>
                  <a:srgbClr val="E5E7EB"/>
                </a:solidFill>
              </a:rPr>
              <a:t>, type=</a:t>
            </a:r>
            <a:r>
              <a:rPr lang="en-US" sz="568" dirty="0">
                <a:solidFill>
                  <a:srgbClr val="F59E0B"/>
                </a:solidFill>
              </a:rPr>
              <a:t>"primary"</a:t>
            </a:r>
            <a:r>
              <a:rPr lang="en-US" sz="568" dirty="0">
                <a:solidFill>
                  <a:srgbClr val="E5E7EB"/>
                </a:solidFill>
              </a:rPr>
              <a:t>):
 idx = names.</a:t>
            </a:r>
            <a:r>
              <a:rPr lang="en-US" sz="568" dirty="0">
                <a:solidFill>
                  <a:srgbClr val="10B981"/>
                </a:solidFill>
              </a:rPr>
              <a:t>index</a:t>
            </a:r>
            <a:r>
              <a:rPr lang="en-US" sz="568" dirty="0">
                <a:solidFill>
                  <a:srgbClr val="E5E7EB"/>
                </a:solidFill>
              </a:rPr>
              <a:t>(to_delete)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.session_state.records.</a:t>
            </a:r>
            <a:r>
              <a:rPr lang="en-US" sz="568" dirty="0">
                <a:solidFill>
                  <a:srgbClr val="10B981"/>
                </a:solidFill>
              </a:rPr>
              <a:t>pop</a:t>
            </a:r>
            <a:r>
              <a:rPr lang="en-US" sz="568" dirty="0">
                <a:solidFill>
                  <a:srgbClr val="E5E7EB"/>
                </a:solidFill>
              </a:rPr>
              <a:t>(idx)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success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"Record deleted!"</a:t>
            </a:r>
            <a:r>
              <a:rPr lang="en-US" sz="568" dirty="0">
                <a:solidFill>
                  <a:srgbClr val="E5E7EB"/>
                </a:solidFill>
              </a:rPr>
              <a:t>)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rerun</a:t>
            </a:r>
            <a:r>
              <a:rPr lang="en-US" sz="568" dirty="0">
                <a:solidFill>
                  <a:srgbClr val="E5E7EB"/>
                </a:solidFill>
              </a:rPr>
              <a:t>()</a:t>
            </a:r>
            <a:endParaRPr lang="en-US" sz="568" dirty="0"/>
          </a:p>
        </p:txBody>
      </p:sp>
      <p:sp>
        <p:nvSpPr>
          <p:cNvPr id="21" name="Shape 18"/>
          <p:cNvSpPr/>
          <p:nvPr/>
        </p:nvSpPr>
        <p:spPr>
          <a:xfrm>
            <a:off x="4729163" y="3925658"/>
            <a:ext cx="4057650" cy="500063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29163" y="3925658"/>
            <a:ext cx="21431" cy="50006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86313" y="3982808"/>
            <a:ext cx="39433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991B1B"/>
                </a:solidFill>
              </a:rPr>
              <a:t>⚠️ Always confirm before deleting data.</a:t>
            </a:r>
            <a:r>
              <a:rPr lang="en-US" sz="621" dirty="0">
                <a:solidFill>
                  <a:srgbClr val="991B1B"/>
                </a:solidFill>
              </a:rPr>
              <a:t> Use st.columns() to layout warning and button side by side. The type="primary" parameter makes the delete button prominent. Call st.rerun() to refresh display after deletion.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285750" y="4679156"/>
            <a:ext cx="8572500" cy="1785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85750" y="4679156"/>
            <a:ext cx="85725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85750" y="4743450"/>
            <a:ext cx="278129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Forms:</a:t>
            </a:r>
            <a:r>
              <a:rPr lang="en-US" sz="621" dirty="0">
                <a:solidFill>
                  <a:srgbClr val="4B5563"/>
                </a:solidFill>
              </a:rPr>
              <a:t> Use st.form() to batch input submissions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3181341" y="4743450"/>
            <a:ext cx="278129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Storage:</a:t>
            </a:r>
            <a:r>
              <a:rPr lang="en-US" sz="621" dirty="0">
                <a:solidFill>
                  <a:srgbClr val="4B5563"/>
                </a:solidFill>
              </a:rPr>
              <a:t> Session state for learning, database for production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6076931" y="4743450"/>
            <a:ext cx="27813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Validation:</a:t>
            </a:r>
            <a:r>
              <a:rPr lang="en-US" sz="621" dirty="0">
                <a:solidFill>
                  <a:srgbClr val="4B5563"/>
                </a:solidFill>
              </a:rPr>
              <a:t> Always validate input before CRUD operations</a:t>
            </a:r>
            <a:endParaRPr lang="en-US" sz="58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15 </a:t>
            </a:r>
            <a:r>
              <a:rPr lang="en-US" sz="727" dirty="0">
                <a:solidFill>
                  <a:srgbClr val="6B7280"/>
                </a:solidFill>
              </a:rPr>
              <a:t>// Domain Analytics (Part 1 of 2)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28600" y="371475"/>
            <a:ext cx="8686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Domain-Specific Visualizations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28600" y="685800"/>
            <a:ext cx="8686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Part 1: Cybersecurity and Data Science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28600" y="942975"/>
            <a:ext cx="4257675" cy="3736181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00038" y="1149083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EF4444"/>
                </a:solidFill>
              </a:rPr>
              <a:t>🔒 CYBERSECURITY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300038" y="1391971"/>
            <a:ext cx="41148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Security metrics and threat monitoring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300038" y="1563421"/>
            <a:ext cx="4114800" cy="1814513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0038" y="1563421"/>
            <a:ext cx="28575" cy="181451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7188" y="1620571"/>
            <a:ext cx="4000500" cy="170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6B7280"/>
                </a:solidFill>
              </a:rPr>
              <a:t># Security metrics</a:t>
            </a:r>
            <a:r>
              <a:rPr lang="en-US" sz="516" dirty="0">
                <a:solidFill>
                  <a:srgbClr val="E5E7EB"/>
                </a:solidFill>
              </a:rPr>
              <a:t>
 col1, col2, col3 = 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columns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3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F59E0B"/>
                </a:solidFill>
              </a:rPr>
              <a:t>with</a:t>
            </a:r>
            <a:r>
              <a:rPr lang="en-US" sz="516" dirty="0">
                <a:solidFill>
                  <a:srgbClr val="E5E7EB"/>
                </a:solidFill>
              </a:rPr>
              <a:t> col1: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metric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"Threats Detected"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247</a:t>
            </a:r>
            <a:r>
              <a:rPr lang="en-US" sz="516" dirty="0">
                <a:solidFill>
                  <a:srgbClr val="E5E7EB"/>
                </a:solidFill>
              </a:rPr>
              <a:t>, delta=</a:t>
            </a:r>
            <a:r>
              <a:rPr lang="en-US" sz="516" dirty="0">
                <a:solidFill>
                  <a:srgbClr val="F59E0B"/>
                </a:solidFill>
              </a:rPr>
              <a:t>"+12"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F59E0B"/>
                </a:solidFill>
              </a:rPr>
              <a:t>with</a:t>
            </a:r>
            <a:r>
              <a:rPr lang="en-US" sz="516" dirty="0">
                <a:solidFill>
                  <a:srgbClr val="E5E7EB"/>
                </a:solidFill>
              </a:rPr>
              <a:t> col2: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metric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"Vulnerabilities"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8</a:t>
            </a:r>
            <a:r>
              <a:rPr lang="en-US" sz="516" dirty="0">
                <a:solidFill>
                  <a:srgbClr val="E5E7EB"/>
                </a:solidFill>
              </a:rPr>
              <a:t>, delta=</a:t>
            </a:r>
            <a:r>
              <a:rPr lang="en-US" sz="516" dirty="0">
                <a:solidFill>
                  <a:srgbClr val="F59E0B"/>
                </a:solidFill>
              </a:rPr>
              <a:t>"-3"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F59E0B"/>
                </a:solidFill>
              </a:rPr>
              <a:t>with</a:t>
            </a:r>
            <a:r>
              <a:rPr lang="en-US" sz="516" dirty="0">
                <a:solidFill>
                  <a:srgbClr val="E5E7EB"/>
                </a:solidFill>
              </a:rPr>
              <a:t> col3: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metric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"Incidents"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3</a:t>
            </a:r>
            <a:r>
              <a:rPr lang="en-US" sz="516" dirty="0">
                <a:solidFill>
                  <a:srgbClr val="E5E7EB"/>
                </a:solidFill>
              </a:rPr>
              <a:t>, delta=</a:t>
            </a:r>
            <a:r>
              <a:rPr lang="en-US" sz="516" dirty="0">
                <a:solidFill>
                  <a:srgbClr val="F59E0B"/>
                </a:solidFill>
              </a:rPr>
              <a:t>"+1"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6B7280"/>
                </a:solidFill>
              </a:rPr>
              <a:t># Threat distribution</a:t>
            </a:r>
            <a:r>
              <a:rPr lang="en-US" sz="516" dirty="0">
                <a:solidFill>
                  <a:srgbClr val="E5E7EB"/>
                </a:solidFill>
              </a:rPr>
              <a:t>
 threat_data = {</a:t>
            </a:r>
            <a:r>
              <a:rPr lang="en-US" sz="516" dirty="0">
                <a:solidFill>
                  <a:srgbClr val="F59E0B"/>
                </a:solidFill>
              </a:rPr>
              <a:t>"Malware"</a:t>
            </a:r>
            <a:r>
              <a:rPr lang="en-US" sz="516" dirty="0">
                <a:solidFill>
                  <a:srgbClr val="E5E7EB"/>
                </a:solidFill>
              </a:rPr>
              <a:t>: </a:t>
            </a:r>
            <a:r>
              <a:rPr lang="en-US" sz="516" dirty="0">
                <a:solidFill>
                  <a:srgbClr val="F59E0B"/>
                </a:solidFill>
              </a:rPr>
              <a:t>89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"Phishing"</a:t>
            </a:r>
            <a:r>
              <a:rPr lang="en-US" sz="516" dirty="0">
                <a:solidFill>
                  <a:srgbClr val="E5E7EB"/>
                </a:solidFill>
              </a:rPr>
              <a:t>: </a:t>
            </a:r>
            <a:r>
              <a:rPr lang="en-US" sz="516" dirty="0">
                <a:solidFill>
                  <a:srgbClr val="F59E0B"/>
                </a:solidFill>
              </a:rPr>
              <a:t>67</a:t>
            </a:r>
            <a:r>
              <a:rPr lang="en-US" sz="516" dirty="0">
                <a:solidFill>
                  <a:srgbClr val="E5E7EB"/>
                </a:solidFill>
              </a:rPr>
              <a:t>,
</a:t>
            </a:r>
            <a:r>
              <a:rPr lang="en-US" sz="516" dirty="0">
                <a:solidFill>
                  <a:srgbClr val="F59E0B"/>
                </a:solidFill>
              </a:rPr>
              <a:t>"DDoS"</a:t>
            </a:r>
            <a:r>
              <a:rPr lang="en-US" sz="516" dirty="0">
                <a:solidFill>
                  <a:srgbClr val="E5E7EB"/>
                </a:solidFill>
              </a:rPr>
              <a:t>: </a:t>
            </a:r>
            <a:r>
              <a:rPr lang="en-US" sz="516" dirty="0">
                <a:solidFill>
                  <a:srgbClr val="F59E0B"/>
                </a:solidFill>
              </a:rPr>
              <a:t>45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"Intrusion"</a:t>
            </a:r>
            <a:r>
              <a:rPr lang="en-US" sz="516" dirty="0">
                <a:solidFill>
                  <a:srgbClr val="E5E7EB"/>
                </a:solidFill>
              </a:rPr>
              <a:t>: </a:t>
            </a:r>
            <a:r>
              <a:rPr lang="en-US" sz="516" dirty="0">
                <a:solidFill>
                  <a:srgbClr val="F59E0B"/>
                </a:solidFill>
              </a:rPr>
              <a:t>46</a:t>
            </a:r>
            <a:r>
              <a:rPr lang="en-US" sz="516" dirty="0">
                <a:solidFill>
                  <a:srgbClr val="E5E7EB"/>
                </a:solidFill>
              </a:rPr>
              <a:t>}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bar_chart</a:t>
            </a:r>
            <a:r>
              <a:rPr lang="en-US" sz="516" dirty="0">
                <a:solidFill>
                  <a:srgbClr val="E5E7EB"/>
                </a:solidFill>
              </a:rPr>
              <a:t>(threat_data)</a:t>
            </a:r>
            <a:endParaRPr lang="en-US" sz="516" dirty="0"/>
          </a:p>
        </p:txBody>
      </p:sp>
      <p:sp>
        <p:nvSpPr>
          <p:cNvPr id="12" name="Shape 9"/>
          <p:cNvSpPr/>
          <p:nvPr/>
        </p:nvSpPr>
        <p:spPr>
          <a:xfrm>
            <a:off x="300038" y="3555467"/>
            <a:ext cx="4114800" cy="371475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00038" y="3555467"/>
            <a:ext cx="21431" cy="37147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57188" y="3612617"/>
            <a:ext cx="4000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991B1B"/>
                </a:solidFill>
              </a:rPr>
              <a:t>Key Visualizations:</a:t>
            </a:r>
            <a:r>
              <a:rPr lang="en-US" sz="621" dirty="0">
                <a:solidFill>
                  <a:srgbClr val="991B1B"/>
                </a:solidFill>
              </a:rPr>
              <a:t> st.metric() for KPIs with delta • Bar charts for threat types • Line charts for trends • Heatmaps for attack patterns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300038" y="4104475"/>
            <a:ext cx="4114800" cy="36857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7188" y="4172341"/>
            <a:ext cx="40005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F4444"/>
                </a:solidFill>
              </a:rPr>
              <a:t>Project Focus:</a:t>
            </a:r>
            <a:r>
              <a:rPr lang="en-US" sz="621" dirty="0">
                <a:solidFill>
                  <a:srgbClr val="4B5563"/>
                </a:solidFill>
              </a:rPr>
              <a:t> Monitor security events, display threat intelligence, track vulnerability remediation status</a:t>
            </a:r>
            <a:endParaRPr lang="en-US" sz="584" dirty="0"/>
          </a:p>
        </p:txBody>
      </p:sp>
      <p:sp>
        <p:nvSpPr>
          <p:cNvPr id="17" name="Shape 14"/>
          <p:cNvSpPr/>
          <p:nvPr/>
        </p:nvSpPr>
        <p:spPr>
          <a:xfrm>
            <a:off x="4657725" y="942975"/>
            <a:ext cx="4257675" cy="3736181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29163" y="1049071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6366F1"/>
                </a:solidFill>
              </a:rPr>
              <a:t>📊 DATA SCIENCE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729163" y="1291958"/>
            <a:ext cx="41148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ML metrics and data analysis</a:t>
            </a:r>
            <a:endParaRPr lang="en-US" sz="621" dirty="0"/>
          </a:p>
        </p:txBody>
      </p:sp>
      <p:sp>
        <p:nvSpPr>
          <p:cNvPr id="20" name="Shape 17"/>
          <p:cNvSpPr/>
          <p:nvPr/>
        </p:nvSpPr>
        <p:spPr>
          <a:xfrm>
            <a:off x="4729163" y="1463408"/>
            <a:ext cx="4114800" cy="2214563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29163" y="1463408"/>
            <a:ext cx="28575" cy="2214563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86313" y="1520558"/>
            <a:ext cx="4000500" cy="2100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6B7280"/>
                </a:solidFill>
              </a:rPr>
              <a:t># Model performance</a:t>
            </a:r>
            <a:r>
              <a:rPr lang="en-US" sz="516" dirty="0">
                <a:solidFill>
                  <a:srgbClr val="E5E7EB"/>
                </a:solidFill>
              </a:rPr>
              <a:t>
 col1, col2, col3 = 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columns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3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F59E0B"/>
                </a:solidFill>
              </a:rPr>
              <a:t>with</a:t>
            </a:r>
            <a:r>
              <a:rPr lang="en-US" sz="516" dirty="0">
                <a:solidFill>
                  <a:srgbClr val="E5E7EB"/>
                </a:solidFill>
              </a:rPr>
              <a:t> col1: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metric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"Accuracy"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"94.2%"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F59E0B"/>
                </a:solidFill>
              </a:rPr>
              <a:t>with</a:t>
            </a:r>
            <a:r>
              <a:rPr lang="en-US" sz="516" dirty="0">
                <a:solidFill>
                  <a:srgbClr val="E5E7EB"/>
                </a:solidFill>
              </a:rPr>
              <a:t> col2: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metric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"Precision"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"91.8%"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F59E0B"/>
                </a:solidFill>
              </a:rPr>
              <a:t>with</a:t>
            </a:r>
            <a:r>
              <a:rPr lang="en-US" sz="516" dirty="0">
                <a:solidFill>
                  <a:srgbClr val="E5E7EB"/>
                </a:solidFill>
              </a:rPr>
              <a:t> col3: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metric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"Recall"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"89.5%"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6B7280"/>
                </a:solidFill>
              </a:rPr>
              <a:t># Training history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F59E0B"/>
                </a:solidFill>
              </a:rPr>
              <a:t>import</a:t>
            </a:r>
            <a:r>
              <a:rPr lang="en-US" sz="516" dirty="0">
                <a:solidFill>
                  <a:srgbClr val="10B981"/>
                </a:solidFill>
              </a:rPr>
              <a:t>pandas</a:t>
            </a:r>
            <a:r>
              <a:rPr lang="en-US" sz="516" dirty="0">
                <a:solidFill>
                  <a:srgbClr val="F59E0B"/>
                </a:solidFill>
              </a:rPr>
              <a:t>as</a:t>
            </a:r>
            <a:r>
              <a:rPr lang="en-US" sz="516" dirty="0">
                <a:solidFill>
                  <a:srgbClr val="10B981"/>
                </a:solidFill>
              </a:rPr>
              <a:t>pd</a:t>
            </a:r>
            <a:r>
              <a:rPr lang="en-US" sz="516" dirty="0">
                <a:solidFill>
                  <a:srgbClr val="E5E7EB"/>
                </a:solidFill>
              </a:rPr>
              <a:t>
 history = </a:t>
            </a:r>
            <a:r>
              <a:rPr lang="en-US" sz="516" dirty="0">
                <a:solidFill>
                  <a:srgbClr val="6366F1"/>
                </a:solidFill>
              </a:rPr>
              <a:t>pd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DataFrame</a:t>
            </a:r>
            <a:r>
              <a:rPr lang="en-US" sz="516" dirty="0">
                <a:solidFill>
                  <a:srgbClr val="E5E7EB"/>
                </a:solidFill>
              </a:rPr>
              <a:t>({
</a:t>
            </a:r>
            <a:r>
              <a:rPr lang="en-US" sz="516" dirty="0">
                <a:solidFill>
                  <a:srgbClr val="F59E0B"/>
                </a:solidFill>
              </a:rPr>
              <a:t>"epoch"</a:t>
            </a:r>
            <a:r>
              <a:rPr lang="en-US" sz="516" dirty="0">
                <a:solidFill>
                  <a:srgbClr val="E5E7EB"/>
                </a:solidFill>
              </a:rPr>
              <a:t>: [</a:t>
            </a:r>
            <a:r>
              <a:rPr lang="en-US" sz="516" dirty="0">
                <a:solidFill>
                  <a:srgbClr val="F59E0B"/>
                </a:solidFill>
              </a:rPr>
              <a:t>1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2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3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4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5</a:t>
            </a:r>
            <a:r>
              <a:rPr lang="en-US" sz="516" dirty="0">
                <a:solidFill>
                  <a:srgbClr val="E5E7EB"/>
                </a:solidFill>
              </a:rPr>
              <a:t>],
</a:t>
            </a:r>
            <a:r>
              <a:rPr lang="en-US" sz="516" dirty="0">
                <a:solidFill>
                  <a:srgbClr val="F59E0B"/>
                </a:solidFill>
              </a:rPr>
              <a:t>"loss"</a:t>
            </a:r>
            <a:r>
              <a:rPr lang="en-US" sz="516" dirty="0">
                <a:solidFill>
                  <a:srgbClr val="E5E7EB"/>
                </a:solidFill>
              </a:rPr>
              <a:t>: [</a:t>
            </a:r>
            <a:r>
              <a:rPr lang="en-US" sz="516" dirty="0">
                <a:solidFill>
                  <a:srgbClr val="F59E0B"/>
                </a:solidFill>
              </a:rPr>
              <a:t>0.45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0.32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0.24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0.18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0.15</a:t>
            </a:r>
            <a:r>
              <a:rPr lang="en-US" sz="516" dirty="0">
                <a:solidFill>
                  <a:srgbClr val="E5E7EB"/>
                </a:solidFill>
              </a:rPr>
              <a:t>],
</a:t>
            </a:r>
            <a:r>
              <a:rPr lang="en-US" sz="516" dirty="0">
                <a:solidFill>
                  <a:srgbClr val="F59E0B"/>
                </a:solidFill>
              </a:rPr>
              <a:t>"accuracy"</a:t>
            </a:r>
            <a:r>
              <a:rPr lang="en-US" sz="516" dirty="0">
                <a:solidFill>
                  <a:srgbClr val="E5E7EB"/>
                </a:solidFill>
              </a:rPr>
              <a:t>: [</a:t>
            </a:r>
            <a:r>
              <a:rPr lang="en-US" sz="516" dirty="0">
                <a:solidFill>
                  <a:srgbClr val="F59E0B"/>
                </a:solidFill>
              </a:rPr>
              <a:t>0.78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0.85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0.89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0.92</a:t>
            </a:r>
            <a:r>
              <a:rPr lang="en-US" sz="516" dirty="0">
                <a:solidFill>
                  <a:srgbClr val="E5E7EB"/>
                </a:solidFill>
              </a:rPr>
              <a:t>,</a:t>
            </a:r>
            <a:r>
              <a:rPr lang="en-US" sz="516" dirty="0">
                <a:solidFill>
                  <a:srgbClr val="F59E0B"/>
                </a:solidFill>
              </a:rPr>
              <a:t>0.94</a:t>
            </a:r>
            <a:r>
              <a:rPr lang="en-US" sz="516" dirty="0">
                <a:solidFill>
                  <a:srgbClr val="E5E7EB"/>
                </a:solidFill>
              </a:rPr>
              <a:t>]
 })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10B981"/>
                </a:solidFill>
              </a:rPr>
              <a:t>line_chart</a:t>
            </a:r>
            <a:r>
              <a:rPr lang="en-US" sz="516" dirty="0">
                <a:solidFill>
                  <a:srgbClr val="E5E7EB"/>
                </a:solidFill>
              </a:rPr>
              <a:t>(history, x=</a:t>
            </a:r>
            <a:r>
              <a:rPr lang="en-US" sz="516" dirty="0">
                <a:solidFill>
                  <a:srgbClr val="F59E0B"/>
                </a:solidFill>
              </a:rPr>
              <a:t>"epoch"</a:t>
            </a:r>
            <a:r>
              <a:rPr lang="en-US" sz="516" dirty="0">
                <a:solidFill>
                  <a:srgbClr val="E5E7EB"/>
                </a:solidFill>
              </a:rPr>
              <a:t>,
 y=[</a:t>
            </a:r>
            <a:r>
              <a:rPr lang="en-US" sz="516" dirty="0">
                <a:solidFill>
                  <a:srgbClr val="F59E0B"/>
                </a:solidFill>
              </a:rPr>
              <a:t>"loss"</a:t>
            </a:r>
            <a:r>
              <a:rPr lang="en-US" sz="516" dirty="0">
                <a:solidFill>
                  <a:srgbClr val="E5E7EB"/>
                </a:solidFill>
              </a:rPr>
              <a:t>, </a:t>
            </a:r>
            <a:r>
              <a:rPr lang="en-US" sz="516" dirty="0">
                <a:solidFill>
                  <a:srgbClr val="F59E0B"/>
                </a:solidFill>
              </a:rPr>
              <a:t>"accuracy"</a:t>
            </a:r>
            <a:r>
              <a:rPr lang="en-US" sz="516" dirty="0">
                <a:solidFill>
                  <a:srgbClr val="E5E7EB"/>
                </a:solidFill>
              </a:rPr>
              <a:t>])</a:t>
            </a:r>
            <a:endParaRPr lang="en-US" sz="516" dirty="0"/>
          </a:p>
        </p:txBody>
      </p:sp>
      <p:sp>
        <p:nvSpPr>
          <p:cNvPr id="23" name="Shape 20"/>
          <p:cNvSpPr/>
          <p:nvPr/>
        </p:nvSpPr>
        <p:spPr>
          <a:xfrm>
            <a:off x="4729163" y="3755492"/>
            <a:ext cx="4114800" cy="371475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29163" y="3755492"/>
            <a:ext cx="21431" cy="37147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86313" y="3812642"/>
            <a:ext cx="4000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730A3"/>
                </a:solidFill>
              </a:rPr>
              <a:t>Key Visualizations:</a:t>
            </a:r>
            <a:r>
              <a:rPr lang="en-US" sz="621" dirty="0">
                <a:solidFill>
                  <a:srgbClr val="3730A3"/>
                </a:solidFill>
              </a:rPr>
              <a:t> st.metric() for model metrics • Line charts for training curves • Scatter plots for correlations • Confusion matrix heatmaps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4729163" y="4204488"/>
            <a:ext cx="4114800" cy="36857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86313" y="4272353"/>
            <a:ext cx="40005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6366F1"/>
                </a:solidFill>
              </a:rPr>
              <a:t>Project Focus:</a:t>
            </a:r>
            <a:r>
              <a:rPr lang="en-US" sz="621" dirty="0">
                <a:solidFill>
                  <a:srgbClr val="4B5563"/>
                </a:solidFill>
              </a:rPr>
              <a:t> Display ML model performance, visualize data distributions, show feature importance</a:t>
            </a:r>
            <a:endParaRPr lang="en-US" sz="584" dirty="0"/>
          </a:p>
        </p:txBody>
      </p:sp>
      <p:sp>
        <p:nvSpPr>
          <p:cNvPr id="28" name="Shape 25"/>
          <p:cNvSpPr/>
          <p:nvPr/>
        </p:nvSpPr>
        <p:spPr>
          <a:xfrm>
            <a:off x="228600" y="4736306"/>
            <a:ext cx="8686800" cy="1785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28600" y="4736306"/>
            <a:ext cx="86868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28600" y="4800600"/>
            <a:ext cx="22890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Part 1 of 2: Cybersecurity and Data Science Visualizations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6711553" y="4800600"/>
            <a:ext cx="22038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Next: IT Operations visualizations and best practices →</a:t>
            </a:r>
            <a:endParaRPr lang="en-US" sz="62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432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15 </a:t>
            </a:r>
            <a:r>
              <a:rPr lang="en-US" sz="727" dirty="0">
                <a:solidFill>
                  <a:srgbClr val="6B7280"/>
                </a:solidFill>
              </a:rPr>
              <a:t>// Domain Analytics (Part 2)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IT Operations &amp; Best Practices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System monitoring and visualization techniques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285750" y="1028700"/>
            <a:ext cx="42005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⚙️ IT OPERATIONS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85750" y="1314450"/>
            <a:ext cx="42005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System monitoring and health metrics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285750" y="1514475"/>
            <a:ext cx="4200525" cy="3964391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85750" y="1514475"/>
            <a:ext cx="28575" cy="396439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2900" y="1571625"/>
            <a:ext cx="4086225" cy="385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# System health metrics</a:t>
            </a:r>
            <a:r>
              <a:rPr lang="en-US" sz="568" dirty="0">
                <a:solidFill>
                  <a:srgbClr val="E5E7EB"/>
                </a:solidFill>
              </a:rPr>
              <a:t>
 col1, col2, col3 = 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columns</a:t>
            </a:r>
            <a:r>
              <a:rPr lang="en-US" sz="568" dirty="0">
                <a:solidFill>
                  <a:srgbClr val="E5E7EB"/>
                </a:solidFill>
              </a:rPr>
              <a:t>(</a:t>
            </a:r>
            <a:r>
              <a:rPr lang="en-US" sz="568" dirty="0">
                <a:solidFill>
                  <a:srgbClr val="F59E0B"/>
                </a:solidFill>
              </a:rPr>
              <a:t>3</a:t>
            </a:r>
            <a:r>
              <a:rPr lang="en-US" sz="568" dirty="0">
                <a:solidFill>
                  <a:srgbClr val="E5E7EB"/>
                </a:solidFill>
              </a:rPr>
              <a:t>)
</a:t>
            </a:r>
            <a:r>
              <a:rPr lang="en-US" sz="568" dirty="0">
                <a:solidFill>
                  <a:srgbClr val="F59E0B"/>
                </a:solidFill>
              </a:rPr>
              <a:t>with</a:t>
            </a:r>
            <a:r>
              <a:rPr lang="en-US" sz="568" dirty="0">
                <a:solidFill>
                  <a:srgbClr val="E5E7EB"/>
                </a:solidFill>
              </a:rPr>
              <a:t> col1: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metric</a:t>
            </a:r>
            <a:r>
              <a:rPr lang="en-US" sz="568" dirty="0">
                <a:solidFill>
                  <a:srgbClr val="E5E7EB"/>
                </a:solidFill>
              </a:rPr>
              <a:t>(
</a:t>
            </a:r>
            <a:r>
              <a:rPr lang="en-US" sz="568" dirty="0">
                <a:solidFill>
                  <a:srgbClr val="F59E0B"/>
                </a:solidFill>
              </a:rPr>
              <a:t>"CPU Usage"</a:t>
            </a:r>
            <a:r>
              <a:rPr lang="en-US" sz="568" dirty="0">
                <a:solidFill>
                  <a:srgbClr val="E5E7EB"/>
                </a:solidFill>
              </a:rPr>
              <a:t>,
</a:t>
            </a:r>
            <a:r>
              <a:rPr lang="en-US" sz="568" dirty="0">
                <a:solidFill>
                  <a:srgbClr val="F59E0B"/>
                </a:solidFill>
              </a:rPr>
              <a:t>"67%"</a:t>
            </a:r>
            <a:r>
              <a:rPr lang="en-US" sz="568" dirty="0">
                <a:solidFill>
                  <a:srgbClr val="E5E7EB"/>
                </a:solidFill>
              </a:rPr>
              <a:t>,
 delta=</a:t>
            </a:r>
            <a:r>
              <a:rPr lang="en-US" sz="568" dirty="0">
                <a:solidFill>
                  <a:srgbClr val="F59E0B"/>
                </a:solidFill>
              </a:rPr>
              <a:t>"+5%"</a:t>
            </a:r>
            <a:r>
              <a:rPr lang="en-US" sz="568" dirty="0">
                <a:solidFill>
                  <a:srgbClr val="E5E7EB"/>
                </a:solidFill>
              </a:rPr>
              <a:t>
 )
</a:t>
            </a:r>
            <a:r>
              <a:rPr lang="en-US" sz="568" dirty="0">
                <a:solidFill>
                  <a:srgbClr val="F59E0B"/>
                </a:solidFill>
              </a:rPr>
              <a:t>with</a:t>
            </a:r>
            <a:r>
              <a:rPr lang="en-US" sz="568" dirty="0">
                <a:solidFill>
                  <a:srgbClr val="E5E7EB"/>
                </a:solidFill>
              </a:rPr>
              <a:t> col2: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metric</a:t>
            </a:r>
            <a:r>
              <a:rPr lang="en-US" sz="568" dirty="0">
                <a:solidFill>
                  <a:srgbClr val="E5E7EB"/>
                </a:solidFill>
              </a:rPr>
              <a:t>(
</a:t>
            </a:r>
            <a:r>
              <a:rPr lang="en-US" sz="568" dirty="0">
                <a:solidFill>
                  <a:srgbClr val="F59E0B"/>
                </a:solidFill>
              </a:rPr>
              <a:t>"Memory"</a:t>
            </a:r>
            <a:r>
              <a:rPr lang="en-US" sz="568" dirty="0">
                <a:solidFill>
                  <a:srgbClr val="E5E7EB"/>
                </a:solidFill>
              </a:rPr>
              <a:t>,
</a:t>
            </a:r>
            <a:r>
              <a:rPr lang="en-US" sz="568" dirty="0">
                <a:solidFill>
                  <a:srgbClr val="F59E0B"/>
                </a:solidFill>
              </a:rPr>
              <a:t>"8.2 GB"</a:t>
            </a:r>
            <a:r>
              <a:rPr lang="en-US" sz="568" dirty="0">
                <a:solidFill>
                  <a:srgbClr val="E5E7EB"/>
                </a:solidFill>
              </a:rPr>
              <a:t>,
 delta=</a:t>
            </a:r>
            <a:r>
              <a:rPr lang="en-US" sz="568" dirty="0">
                <a:solidFill>
                  <a:srgbClr val="F59E0B"/>
                </a:solidFill>
              </a:rPr>
              <a:t>"+0.3 GB"</a:t>
            </a:r>
            <a:r>
              <a:rPr lang="en-US" sz="568" dirty="0">
                <a:solidFill>
                  <a:srgbClr val="E5E7EB"/>
                </a:solidFill>
              </a:rPr>
              <a:t>
 )
</a:t>
            </a:r>
            <a:r>
              <a:rPr lang="en-US" sz="568" dirty="0">
                <a:solidFill>
                  <a:srgbClr val="F59E0B"/>
                </a:solidFill>
              </a:rPr>
              <a:t>with</a:t>
            </a:r>
            <a:r>
              <a:rPr lang="en-US" sz="568" dirty="0">
                <a:solidFill>
                  <a:srgbClr val="E5E7EB"/>
                </a:solidFill>
              </a:rPr>
              <a:t> col3: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metric</a:t>
            </a:r>
            <a:r>
              <a:rPr lang="en-US" sz="568" dirty="0">
                <a:solidFill>
                  <a:srgbClr val="E5E7EB"/>
                </a:solidFill>
              </a:rPr>
              <a:t>(
</a:t>
            </a:r>
            <a:r>
              <a:rPr lang="en-US" sz="568" dirty="0">
                <a:solidFill>
                  <a:srgbClr val="F59E0B"/>
                </a:solidFill>
              </a:rPr>
              <a:t>"Uptime"</a:t>
            </a:r>
            <a:r>
              <a:rPr lang="en-US" sz="568" dirty="0">
                <a:solidFill>
                  <a:srgbClr val="E5E7EB"/>
                </a:solidFill>
              </a:rPr>
              <a:t>,
</a:t>
            </a:r>
            <a:r>
              <a:rPr lang="en-US" sz="568" dirty="0">
                <a:solidFill>
                  <a:srgbClr val="F59E0B"/>
                </a:solidFill>
              </a:rPr>
              <a:t>"99.8%"</a:t>
            </a:r>
            <a:r>
              <a:rPr lang="en-US" sz="568" dirty="0">
                <a:solidFill>
                  <a:srgbClr val="E5E7EB"/>
                </a:solidFill>
              </a:rPr>
              <a:t>,
 delta=</a:t>
            </a:r>
            <a:r>
              <a:rPr lang="en-US" sz="568" dirty="0">
                <a:solidFill>
                  <a:srgbClr val="F59E0B"/>
                </a:solidFill>
              </a:rPr>
              <a:t>"+0.1%"</a:t>
            </a:r>
            <a:r>
              <a:rPr lang="en-US" sz="568" dirty="0">
                <a:solidFill>
                  <a:srgbClr val="E5E7EB"/>
                </a:solidFill>
              </a:rPr>
              <a:t>
 )
</a:t>
            </a:r>
            <a:r>
              <a:rPr lang="en-US" sz="568" dirty="0">
                <a:solidFill>
                  <a:srgbClr val="6B7280"/>
                </a:solidFill>
              </a:rPr>
              <a:t># Resource usage over time</a:t>
            </a:r>
            <a:r>
              <a:rPr lang="en-US" sz="568" dirty="0">
                <a:solidFill>
                  <a:srgbClr val="E5E7EB"/>
                </a:solidFill>
              </a:rPr>
              <a:t>
</a:t>
            </a:r>
            <a:r>
              <a:rPr lang="en-US" sz="568" dirty="0">
                <a:solidFill>
                  <a:srgbClr val="F59E0B"/>
                </a:solidFill>
              </a:rPr>
              <a:t>import</a:t>
            </a:r>
            <a:r>
              <a:rPr lang="en-US" sz="568" dirty="0">
                <a:solidFill>
                  <a:srgbClr val="10B981"/>
                </a:solidFill>
              </a:rPr>
              <a:t>pandas</a:t>
            </a:r>
            <a:r>
              <a:rPr lang="en-US" sz="568" dirty="0">
                <a:solidFill>
                  <a:srgbClr val="F59E0B"/>
                </a:solidFill>
              </a:rPr>
              <a:t>as</a:t>
            </a:r>
            <a:r>
              <a:rPr lang="en-US" sz="568" dirty="0">
                <a:solidFill>
                  <a:srgbClr val="10B981"/>
                </a:solidFill>
              </a:rPr>
              <a:t>pd</a:t>
            </a:r>
            <a:r>
              <a:rPr lang="en-US" sz="568" dirty="0">
                <a:solidFill>
                  <a:srgbClr val="E5E7EB"/>
                </a:solidFill>
              </a:rPr>
              <a:t>
 usage = </a:t>
            </a:r>
            <a:r>
              <a:rPr lang="en-US" sz="568" dirty="0">
                <a:solidFill>
                  <a:srgbClr val="6366F1"/>
                </a:solidFill>
              </a:rPr>
              <a:t>pd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DataFrame</a:t>
            </a:r>
            <a:r>
              <a:rPr lang="en-US" sz="568" dirty="0">
                <a:solidFill>
                  <a:srgbClr val="E5E7EB"/>
                </a:solidFill>
              </a:rPr>
              <a:t>({
</a:t>
            </a:r>
            <a:r>
              <a:rPr lang="en-US" sz="568" dirty="0">
                <a:solidFill>
                  <a:srgbClr val="F59E0B"/>
                </a:solidFill>
              </a:rPr>
              <a:t>"time"</a:t>
            </a:r>
            <a:r>
              <a:rPr lang="en-US" sz="568" dirty="0">
                <a:solidFill>
                  <a:srgbClr val="E5E7EB"/>
                </a:solidFill>
              </a:rPr>
              <a:t>: [</a:t>
            </a:r>
            <a:r>
              <a:rPr lang="en-US" sz="568" dirty="0">
                <a:solidFill>
                  <a:srgbClr val="F59E0B"/>
                </a:solidFill>
              </a:rPr>
              <a:t>"00:00"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"06:00"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"12:00"</a:t>
            </a:r>
            <a:r>
              <a:rPr lang="en-US" sz="568" dirty="0">
                <a:solidFill>
                  <a:srgbClr val="E5E7EB"/>
                </a:solidFill>
              </a:rPr>
              <a:t>,
</a:t>
            </a:r>
            <a:r>
              <a:rPr lang="en-US" sz="568" dirty="0">
                <a:solidFill>
                  <a:srgbClr val="F59E0B"/>
                </a:solidFill>
              </a:rPr>
              <a:t>"18:00"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"23:59"</a:t>
            </a:r>
            <a:r>
              <a:rPr lang="en-US" sz="568" dirty="0">
                <a:solidFill>
                  <a:srgbClr val="E5E7EB"/>
                </a:solidFill>
              </a:rPr>
              <a:t>],
</a:t>
            </a:r>
            <a:r>
              <a:rPr lang="en-US" sz="568" dirty="0">
                <a:solidFill>
                  <a:srgbClr val="F59E0B"/>
                </a:solidFill>
              </a:rPr>
              <a:t>"CPU"</a:t>
            </a:r>
            <a:r>
              <a:rPr lang="en-US" sz="568" dirty="0">
                <a:solidFill>
                  <a:srgbClr val="E5E7EB"/>
                </a:solidFill>
              </a:rPr>
              <a:t>: [</a:t>
            </a:r>
            <a:r>
              <a:rPr lang="en-US" sz="568" dirty="0">
                <a:solidFill>
                  <a:srgbClr val="F59E0B"/>
                </a:solidFill>
              </a:rPr>
              <a:t>45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52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78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82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67</a:t>
            </a:r>
            <a:r>
              <a:rPr lang="en-US" sz="568" dirty="0">
                <a:solidFill>
                  <a:srgbClr val="E5E7EB"/>
                </a:solidFill>
              </a:rPr>
              <a:t>],
</a:t>
            </a:r>
            <a:r>
              <a:rPr lang="en-US" sz="568" dirty="0">
                <a:solidFill>
                  <a:srgbClr val="F59E0B"/>
                </a:solidFill>
              </a:rPr>
              <a:t>"Memory"</a:t>
            </a:r>
            <a:r>
              <a:rPr lang="en-US" sz="568" dirty="0">
                <a:solidFill>
                  <a:srgbClr val="E5E7EB"/>
                </a:solidFill>
              </a:rPr>
              <a:t>: [</a:t>
            </a:r>
            <a:r>
              <a:rPr lang="en-US" sz="568" dirty="0">
                <a:solidFill>
                  <a:srgbClr val="F59E0B"/>
                </a:solidFill>
              </a:rPr>
              <a:t>6.2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6.8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8.5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9.1</a:t>
            </a:r>
            <a:r>
              <a:rPr lang="en-US" sz="568" dirty="0">
                <a:solidFill>
                  <a:srgbClr val="E5E7EB"/>
                </a:solidFill>
              </a:rPr>
              <a:t>,</a:t>
            </a:r>
            <a:r>
              <a:rPr lang="en-US" sz="568" dirty="0">
                <a:solidFill>
                  <a:srgbClr val="F59E0B"/>
                </a:solidFill>
              </a:rPr>
              <a:t>8.2</a:t>
            </a:r>
            <a:r>
              <a:rPr lang="en-US" sz="568" dirty="0">
                <a:solidFill>
                  <a:srgbClr val="E5E7EB"/>
                </a:solidFill>
              </a:rPr>
              <a:t>]
 })
</a:t>
            </a:r>
            <a:r>
              <a:rPr lang="en-US" sz="568" dirty="0">
                <a:solidFill>
                  <a:srgbClr val="6366F1"/>
                </a:solidFill>
              </a:rPr>
              <a:t>st</a:t>
            </a:r>
            <a:r>
              <a:rPr lang="en-US" sz="568" dirty="0">
                <a:solidFill>
                  <a:srgbClr val="E5E7EB"/>
                </a:solidFill>
              </a:rPr>
              <a:t>.</a:t>
            </a:r>
            <a:r>
              <a:rPr lang="en-US" sz="568" dirty="0">
                <a:solidFill>
                  <a:srgbClr val="10B981"/>
                </a:solidFill>
              </a:rPr>
              <a:t>line_chart</a:t>
            </a:r>
            <a:r>
              <a:rPr lang="en-US" sz="568" dirty="0">
                <a:solidFill>
                  <a:srgbClr val="E5E7EB"/>
                </a:solidFill>
              </a:rPr>
              <a:t>(usage, x=</a:t>
            </a:r>
            <a:r>
              <a:rPr lang="en-US" sz="568" dirty="0">
                <a:solidFill>
                  <a:srgbClr val="F59E0B"/>
                </a:solidFill>
              </a:rPr>
              <a:t>"time"</a:t>
            </a:r>
            <a:r>
              <a:rPr lang="en-US" sz="568" dirty="0">
                <a:solidFill>
                  <a:srgbClr val="E5E7EB"/>
                </a:solidFill>
              </a:rPr>
              <a:t>)</a:t>
            </a:r>
            <a:endParaRPr lang="en-US" sz="568" dirty="0"/>
          </a:p>
        </p:txBody>
      </p:sp>
      <p:sp>
        <p:nvSpPr>
          <p:cNvPr id="11" name="Text 8"/>
          <p:cNvSpPr/>
          <p:nvPr/>
        </p:nvSpPr>
        <p:spPr>
          <a:xfrm>
            <a:off x="4657725" y="2025058"/>
            <a:ext cx="42005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Key Visualizations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4657725" y="2282233"/>
            <a:ext cx="4200525" cy="714375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57725" y="2282233"/>
            <a:ext cx="21431" cy="71437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14875" y="2339383"/>
            <a:ext cx="4086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4532D"/>
                </a:solidFill>
              </a:rPr>
              <a:t>• st.metric()</a:t>
            </a:r>
            <a:r>
              <a:rPr lang="en-US" sz="727" dirty="0">
                <a:solidFill>
                  <a:srgbClr val="14532D"/>
                </a:solidFill>
              </a:rPr>
              <a:t> for system health
</a:t>
            </a:r>
            <a:r>
              <a:rPr lang="en-US" sz="683" b="1" dirty="0">
                <a:solidFill>
                  <a:srgbClr val="14532D"/>
                </a:solidFill>
              </a:rPr>
              <a:t>• Line charts</a:t>
            </a:r>
            <a:r>
              <a:rPr lang="en-US" sz="727" dirty="0">
                <a:solidFill>
                  <a:srgbClr val="14532D"/>
                </a:solidFill>
              </a:rPr>
              <a:t> for resource trends
</a:t>
            </a:r>
            <a:r>
              <a:rPr lang="en-US" sz="683" b="1" dirty="0">
                <a:solidFill>
                  <a:srgbClr val="14532D"/>
                </a:solidFill>
              </a:rPr>
              <a:t>• Area charts</a:t>
            </a:r>
            <a:r>
              <a:rPr lang="en-US" sz="727" dirty="0">
                <a:solidFill>
                  <a:srgbClr val="14532D"/>
                </a:solidFill>
              </a:rPr>
              <a:t> for network traffic
</a:t>
            </a:r>
            <a:r>
              <a:rPr lang="en-US" sz="683" b="1" dirty="0">
                <a:solidFill>
                  <a:srgbClr val="14532D"/>
                </a:solidFill>
              </a:rPr>
              <a:t>• Status indicators</a:t>
            </a:r>
            <a:r>
              <a:rPr lang="en-US" sz="727" dirty="0">
                <a:solidFill>
                  <a:srgbClr val="14532D"/>
                </a:solidFill>
              </a:rPr>
              <a:t> for services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657725" y="3053758"/>
            <a:ext cx="42005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Project Focus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4657725" y="3310933"/>
            <a:ext cx="4200525" cy="292894"/>
          </a:xfrm>
          <a:prstGeom prst="rect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14875" y="3382370"/>
            <a:ext cx="40862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Monitor system resources</a:t>
            </a:r>
            <a:r>
              <a:rPr lang="en-US" sz="727" dirty="0">
                <a:solidFill>
                  <a:srgbClr val="4B5563"/>
                </a:solidFill>
              </a:rPr>
              <a:t>, track service uptime, and display infrastructure health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657725" y="3646689"/>
            <a:ext cx="42005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Common Pattern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4657725" y="3903864"/>
            <a:ext cx="4200525" cy="564356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57725" y="3903864"/>
            <a:ext cx="21431" cy="5643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14875" y="3961014"/>
            <a:ext cx="40862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E40AF"/>
                </a:solidFill>
              </a:rPr>
              <a:t>All three domains use similar patterns but with domain-specific data and metrics. Use st.columns(3) for organizing metrics, and combine st.metric() with charts for comprehensive dashboards.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285750" y="5564591"/>
            <a:ext cx="8572500" cy="2928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85750" y="5564591"/>
            <a:ext cx="85725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85750" y="5621741"/>
            <a:ext cx="2781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Built-in Charts:</a:t>
            </a:r>
            <a:r>
              <a:rPr lang="en-US" sz="621" dirty="0">
                <a:solidFill>
                  <a:srgbClr val="4B5563"/>
                </a:solidFill>
              </a:rPr>
              <a:t> st.line_chart(), st.bar_chart(), st.area_chart()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3181341" y="5621741"/>
            <a:ext cx="2781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Advanced Libraries:</a:t>
            </a:r>
            <a:r>
              <a:rPr lang="en-US" sz="621" dirty="0">
                <a:solidFill>
                  <a:srgbClr val="4B5563"/>
                </a:solidFill>
              </a:rPr>
              <a:t> Plotly, Altair, Matplotlib for complex visualizations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6076931" y="5621741"/>
            <a:ext cx="27813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Real-time Updates:</a:t>
            </a:r>
            <a:r>
              <a:rPr lang="en-US" sz="621" dirty="0">
                <a:solidFill>
                  <a:srgbClr val="4B5563"/>
                </a:solidFill>
              </a:rPr>
              <a:t> Use st.empty() and loops for live dashboards</a:t>
            </a:r>
            <a:endParaRPr lang="en-US" sz="58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078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16 </a:t>
            </a:r>
            <a:r>
              <a:rPr lang="en-US" sz="727" dirty="0">
                <a:solidFill>
                  <a:srgbClr val="6B7280"/>
                </a:solidFill>
              </a:rPr>
              <a:t>// System Design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Project Architecture Overview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Three-layer architecture for the Multi-Domain Intelligence Platform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85750" y="1028700"/>
            <a:ext cx="8572500" cy="1314450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5763" y="1128713"/>
            <a:ext cx="17459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40AF"/>
                </a:solidFill>
              </a:rPr>
              <a:t>LAYER 1: Presentation Layer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8000191" y="1128713"/>
            <a:ext cx="758047" cy="20002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0191" y="1128713"/>
            <a:ext cx="758047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Streamlit UI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385763" y="1385888"/>
            <a:ext cx="27146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40AF"/>
                </a:solidFill>
              </a:rPr>
              <a:t>User Interface Components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385763" y="1557338"/>
            <a:ext cx="2714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• st.form() - Input forms
 • st.dataframe() - Data display
 • st.button() - User actions
 • st.plotly_chart() - Visualizations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3214688" y="1385888"/>
            <a:ext cx="27146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40AF"/>
                </a:solidFill>
              </a:rPr>
              <a:t>Page Structure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3214688" y="1557338"/>
            <a:ext cx="2714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• Home.py - Login page
 • 1_Dashboard.py - Main dashboard
 • 2_Analytics.py - Domain analytics
 • 3_Settings.py - User settings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6043613" y="1385888"/>
            <a:ext cx="27146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40AF"/>
                </a:solidFill>
              </a:rPr>
              <a:t>Responsibilities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043613" y="1557338"/>
            <a:ext cx="27146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• Display data to users
 • Capture user input
 • Handle navigation
 • Render visualizations
 • Manage session state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285750" y="2300288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↓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85750" y="2443163"/>
            <a:ext cx="8572500" cy="1314450"/>
          </a:xfrm>
          <a:prstGeom prst="rect">
            <a:avLst/>
          </a:prstGeom>
          <a:solidFill>
            <a:srgbClr val="F0FDF4"/>
          </a:solidFill>
          <a:ln w="18288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85763" y="2543175"/>
            <a:ext cx="18551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65F46"/>
                </a:solidFill>
              </a:rPr>
              <a:t>LAYER 2: Business Logic Layer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7796761" y="2543175"/>
            <a:ext cx="961476" cy="2000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96761" y="2543175"/>
            <a:ext cx="961476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Python Modules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385763" y="2800350"/>
            <a:ext cx="27146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65F46"/>
                </a:solidFill>
              </a:rPr>
              <a:t>Core Modules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385763" y="2971800"/>
            <a:ext cx="2714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• authentication.py - User auth
 • crud_operations.py - Data ops
 • analytics.py - Data analysis
 • database.py - DB manager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3214688" y="2800350"/>
            <a:ext cx="27146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65F46"/>
                </a:solidFill>
              </a:rPr>
              <a:t>Domain Modules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3214688" y="2971800"/>
            <a:ext cx="2714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• cybersecurity.py - Security analytics
 • data_science.py - ML/AI features
 • it_operations.py - IT monitoring
 • utils.py - Helper functions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6043613" y="2800350"/>
            <a:ext cx="27146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65F46"/>
                </a:solidFill>
              </a:rPr>
              <a:t>Responsibilities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043613" y="2971800"/>
            <a:ext cx="27146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• Process user requests
 • Validate input data
 • Apply business rules
 • Coordinate data access
 • Handle errors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285750" y="3714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↓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85750" y="3857625"/>
            <a:ext cx="8572500" cy="1314450"/>
          </a:xfrm>
          <a:prstGeom prst="rect">
            <a:avLst/>
          </a:prstGeom>
          <a:solidFill>
            <a:srgbClr val="FEF3C7"/>
          </a:solidFill>
          <a:ln w="18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85763" y="3957638"/>
            <a:ext cx="12371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92400E"/>
                </a:solidFill>
              </a:rPr>
              <a:t>LAYER 3: Data Layer</a:t>
            </a:r>
            <a:endParaRPr lang="en-US" sz="885" dirty="0"/>
          </a:p>
        </p:txBody>
      </p:sp>
      <p:sp>
        <p:nvSpPr>
          <p:cNvPr id="30" name="Shape 27"/>
          <p:cNvSpPr/>
          <p:nvPr/>
        </p:nvSpPr>
        <p:spPr>
          <a:xfrm>
            <a:off x="7783981" y="3957638"/>
            <a:ext cx="974257" cy="2000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783981" y="3957638"/>
            <a:ext cx="974257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SQLite Database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385763" y="4214813"/>
            <a:ext cx="27146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Database Tables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385763" y="4386263"/>
            <a:ext cx="2714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• users - User accounts
 • records - Application data
 • logs - Activity logs
 • analytics - Metrics data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3214688" y="4214813"/>
            <a:ext cx="27146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Data Operations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3214688" y="4386263"/>
            <a:ext cx="2714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• SELECT - Read data
 • INSERT - Create records
 • UPDATE - Modify records
 • DELETE - Remove records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6043613" y="4214813"/>
            <a:ext cx="27146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Responsibilities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6043613" y="4386263"/>
            <a:ext cx="27146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• Persist application data
 • Ensure data integrity
 • Support transactions
 • Provide data security
 • Enable data queries</a:t>
            </a:r>
            <a:endParaRPr lang="en-US" sz="621" dirty="0"/>
          </a:p>
        </p:txBody>
      </p:sp>
      <p:sp>
        <p:nvSpPr>
          <p:cNvPr id="38" name="Shape 35"/>
          <p:cNvSpPr/>
          <p:nvPr/>
        </p:nvSpPr>
        <p:spPr>
          <a:xfrm>
            <a:off x="285750" y="5214938"/>
            <a:ext cx="8572500" cy="1785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285750" y="5214938"/>
            <a:ext cx="85725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285750" y="5272088"/>
            <a:ext cx="2743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Separation of Concerns:</a:t>
            </a:r>
            <a:r>
              <a:rPr lang="en-US" sz="621" dirty="0">
                <a:solidFill>
                  <a:srgbClr val="4B5563"/>
                </a:solidFill>
              </a:rPr>
              <a:t> Each layer has distinct responsibilities</a:t>
            </a:r>
            <a:endParaRPr lang="en-US" sz="584" dirty="0"/>
          </a:p>
        </p:txBody>
      </p:sp>
      <p:sp>
        <p:nvSpPr>
          <p:cNvPr id="41" name="Text 38"/>
          <p:cNvSpPr/>
          <p:nvPr/>
        </p:nvSpPr>
        <p:spPr>
          <a:xfrm>
            <a:off x="3200400" y="5272088"/>
            <a:ext cx="2743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Data Flow:</a:t>
            </a:r>
            <a:r>
              <a:rPr lang="en-US" sz="621" dirty="0">
                <a:solidFill>
                  <a:srgbClr val="4B5563"/>
                </a:solidFill>
              </a:rPr>
              <a:t> User → UI → Logic → Data → Logic → UI → User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6115050" y="5272088"/>
            <a:ext cx="2743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Modularity:</a:t>
            </a:r>
            <a:r>
              <a:rPr lang="en-US" sz="621" dirty="0">
                <a:solidFill>
                  <a:srgbClr val="4B5563"/>
                </a:solidFill>
              </a:rPr>
              <a:t> Changes in one layer don't affect others</a:t>
            </a:r>
            <a:endParaRPr lang="en-US" sz="58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19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17 </a:t>
            </a:r>
            <a:r>
              <a:rPr lang="en-US" sz="727" dirty="0">
                <a:solidFill>
                  <a:srgbClr val="6B7280"/>
                </a:solidFill>
              </a:rPr>
              <a:t>// Best Practices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28600" y="371475"/>
            <a:ext cx="8686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Development Best Practices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28600" y="685800"/>
            <a:ext cx="8686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Essential guidelines for building maintainable Streamlit applications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28600" y="942975"/>
            <a:ext cx="4286250" cy="2348843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14325" y="1038216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40AF"/>
                </a:solidFill>
              </a:rPr>
              <a:t>📁 CODE ORGANIZATION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314325" y="1281103"/>
            <a:ext cx="41148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• Project Structure:</a:t>
            </a:r>
            <a:r>
              <a:rPr lang="en-US" sz="621" dirty="0">
                <a:solidFill>
                  <a:srgbClr val="4B5563"/>
                </a:solidFill>
              </a:rPr>
              <a:t> Organize files logically
</a:t>
            </a:r>
            <a:r>
              <a:rPr lang="en-US" sz="584" b="1" dirty="0">
                <a:solidFill>
                  <a:srgbClr val="4B5563"/>
                </a:solidFill>
              </a:rPr>
              <a:t>• Separation of Concerns:</a:t>
            </a:r>
            <a:r>
              <a:rPr lang="en-US" sz="621" dirty="0">
                <a:solidFill>
                  <a:srgbClr val="4B5563"/>
                </a:solidFill>
              </a:rPr>
              <a:t> UI vs business logic
</a:t>
            </a:r>
            <a:r>
              <a:rPr lang="en-US" sz="584" b="1" dirty="0">
                <a:solidFill>
                  <a:srgbClr val="4B5563"/>
                </a:solidFill>
              </a:rPr>
              <a:t>• Modularity:</a:t>
            </a:r>
            <a:r>
              <a:rPr lang="en-US" sz="621" dirty="0">
                <a:solidFill>
                  <a:srgbClr val="4B5563"/>
                </a:solidFill>
              </a:rPr>
              <a:t> Use functions and classes
</a:t>
            </a:r>
            <a:r>
              <a:rPr lang="en-US" sz="584" b="1" dirty="0">
                <a:solidFill>
                  <a:srgbClr val="4B5563"/>
                </a:solidFill>
              </a:rPr>
              <a:t>• Naming:</a:t>
            </a:r>
            <a:r>
              <a:rPr lang="en-US" sz="621" dirty="0">
                <a:solidFill>
                  <a:srgbClr val="4B5563"/>
                </a:solidFill>
              </a:rPr>
              <a:t> Clear, descriptive names
</a:t>
            </a:r>
            <a:r>
              <a:rPr lang="en-US" sz="584" b="1" dirty="0">
                <a:solidFill>
                  <a:srgbClr val="4B5563"/>
                </a:solidFill>
              </a:rPr>
              <a:t>• Documentation:</a:t>
            </a:r>
            <a:r>
              <a:rPr lang="en-US" sz="621" dirty="0">
                <a:solidFill>
                  <a:srgbClr val="4B5563"/>
                </a:solidFill>
              </a:rPr>
              <a:t> Comments and docstrings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314325" y="1966903"/>
            <a:ext cx="4114800" cy="97155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14325" y="1966903"/>
            <a:ext cx="21431" cy="9715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14325" y="1966903"/>
            <a:ext cx="4114800" cy="971550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6B7280"/>
                </a:solidFill>
              </a:rPr>
              <a:t># Good structure</a:t>
            </a:r>
            <a:r>
              <a:rPr lang="en-US" sz="516" dirty="0">
                <a:solidFill>
                  <a:srgbClr val="E5E7EB"/>
                </a:solidFill>
              </a:rPr>
              <a:t>
 project/
 ├── Home.py </a:t>
            </a:r>
            <a:r>
              <a:rPr lang="en-US" sz="516" dirty="0">
                <a:solidFill>
                  <a:srgbClr val="6B7280"/>
                </a:solidFill>
              </a:rPr>
              <a:t># Login page</a:t>
            </a:r>
            <a:r>
              <a:rPr lang="en-US" sz="516" dirty="0">
                <a:solidFill>
                  <a:srgbClr val="E5E7EB"/>
                </a:solidFill>
              </a:rPr>
              <a:t>
 ├── pages/
 │ ├── 1_Dashboard.py
 │ └── 2_Analytics.py
 ├── database.py </a:t>
            </a:r>
            <a:r>
              <a:rPr lang="en-US" sz="516" dirty="0">
                <a:solidFill>
                  <a:srgbClr val="6B7280"/>
                </a:solidFill>
              </a:rPr>
              <a:t># DB operations</a:t>
            </a:r>
            <a:r>
              <a:rPr lang="en-US" sz="516" dirty="0">
                <a:solidFill>
                  <a:srgbClr val="E5E7EB"/>
                </a:solidFill>
              </a:rPr>
              <a:t>
 ├── auth.py </a:t>
            </a:r>
            <a:r>
              <a:rPr lang="en-US" sz="516" dirty="0">
                <a:solidFill>
                  <a:srgbClr val="6B7280"/>
                </a:solidFill>
              </a:rPr>
              <a:t># Authentication</a:t>
            </a:r>
            <a:r>
              <a:rPr lang="en-US" sz="516" dirty="0">
                <a:solidFill>
                  <a:srgbClr val="E5E7EB"/>
                </a:solidFill>
              </a:rPr>
              <a:t>
 └── utils.py </a:t>
            </a:r>
            <a:r>
              <a:rPr lang="en-US" sz="516" dirty="0">
                <a:solidFill>
                  <a:srgbClr val="6B7280"/>
                </a:solidFill>
              </a:rPr>
              <a:t># Helper functions</a:t>
            </a:r>
            <a:endParaRPr lang="en-US" sz="516" dirty="0"/>
          </a:p>
        </p:txBody>
      </p:sp>
      <p:sp>
        <p:nvSpPr>
          <p:cNvPr id="12" name="Shape 9"/>
          <p:cNvSpPr/>
          <p:nvPr/>
        </p:nvSpPr>
        <p:spPr>
          <a:xfrm>
            <a:off x="314325" y="2990831"/>
            <a:ext cx="4114800" cy="20571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4325" y="2990831"/>
            <a:ext cx="21431" cy="20571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57188" y="3033694"/>
            <a:ext cx="40290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40AF"/>
                </a:solidFill>
              </a:rPr>
              <a:t>Tip:</a:t>
            </a:r>
            <a:r>
              <a:rPr lang="en-US" sz="621" dirty="0">
                <a:solidFill>
                  <a:srgbClr val="1E40AF"/>
                </a:solidFill>
              </a:rPr>
              <a:t> Keep UI code in page files, move business logic to separate modules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4629150" y="942975"/>
            <a:ext cx="4286250" cy="2348843"/>
          </a:xfrm>
          <a:prstGeom prst="rect">
            <a:avLst/>
          </a:prstGeom>
          <a:solidFill>
            <a:srgbClr val="FEF2F2"/>
          </a:solidFill>
          <a:ln w="18288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14875" y="1028700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991B1B"/>
                </a:solidFill>
              </a:rPr>
              <a:t>⚠️ ERROR HANDLING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714875" y="1271588"/>
            <a:ext cx="41148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• Try-Except Blocks:</a:t>
            </a:r>
            <a:r>
              <a:rPr lang="en-US" sz="621" dirty="0">
                <a:solidFill>
                  <a:srgbClr val="4B5563"/>
                </a:solidFill>
              </a:rPr>
              <a:t> Catch exceptions gracefully
</a:t>
            </a:r>
            <a:r>
              <a:rPr lang="en-US" sz="584" b="1" dirty="0">
                <a:solidFill>
                  <a:srgbClr val="4B5563"/>
                </a:solidFill>
              </a:rPr>
              <a:t>• User Feedback:</a:t>
            </a:r>
            <a:r>
              <a:rPr lang="en-US" sz="621" dirty="0">
                <a:solidFill>
                  <a:srgbClr val="4B5563"/>
                </a:solidFill>
              </a:rPr>
              <a:t> Use st.error() for messages
</a:t>
            </a:r>
            <a:r>
              <a:rPr lang="en-US" sz="584" b="1" dirty="0">
                <a:solidFill>
                  <a:srgbClr val="4B5563"/>
                </a:solidFill>
              </a:rPr>
              <a:t>• Input Validation:</a:t>
            </a:r>
            <a:r>
              <a:rPr lang="en-US" sz="621" dirty="0">
                <a:solidFill>
                  <a:srgbClr val="4B5563"/>
                </a:solidFill>
              </a:rPr>
              <a:t> Check before processing
</a:t>
            </a:r>
            <a:r>
              <a:rPr lang="en-US" sz="584" b="1" dirty="0">
                <a:solidFill>
                  <a:srgbClr val="4B5563"/>
                </a:solidFill>
              </a:rPr>
              <a:t>• Database Errors:</a:t>
            </a:r>
            <a:r>
              <a:rPr lang="en-US" sz="621" dirty="0">
                <a:solidFill>
                  <a:srgbClr val="4B5563"/>
                </a:solidFill>
              </a:rPr>
              <a:t> Handle connection issues
</a:t>
            </a:r>
            <a:r>
              <a:rPr lang="en-US" sz="584" b="1" dirty="0">
                <a:solidFill>
                  <a:srgbClr val="4B5563"/>
                </a:solidFill>
              </a:rPr>
              <a:t>• Logging:</a:t>
            </a:r>
            <a:r>
              <a:rPr lang="en-US" sz="621" dirty="0">
                <a:solidFill>
                  <a:srgbClr val="4B5563"/>
                </a:solidFill>
              </a:rPr>
              <a:t> Record errors for debugging</a:t>
            </a:r>
            <a:endParaRPr lang="en-US" sz="584" dirty="0"/>
          </a:p>
        </p:txBody>
      </p:sp>
      <p:sp>
        <p:nvSpPr>
          <p:cNvPr id="18" name="Shape 15"/>
          <p:cNvSpPr/>
          <p:nvPr/>
        </p:nvSpPr>
        <p:spPr>
          <a:xfrm>
            <a:off x="4714875" y="1957388"/>
            <a:ext cx="4114800" cy="97155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14875" y="1957388"/>
            <a:ext cx="21431" cy="9715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14875" y="1957388"/>
            <a:ext cx="4114800" cy="971550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F59E0B"/>
                </a:solidFill>
              </a:rPr>
              <a:t>try</a:t>
            </a:r>
            <a:r>
              <a:rPr lang="en-US" sz="516" dirty="0">
                <a:solidFill>
                  <a:srgbClr val="E5E7EB"/>
                </a:solidFill>
              </a:rPr>
              <a:t>:
 conn = sqlite3.</a:t>
            </a:r>
            <a:r>
              <a:rPr lang="en-US" sz="516" dirty="0">
                <a:solidFill>
                  <a:srgbClr val="10B981"/>
                </a:solidFill>
              </a:rPr>
              <a:t>connect</a:t>
            </a:r>
            <a:r>
              <a:rPr lang="en-US" sz="516" dirty="0">
                <a:solidFill>
                  <a:srgbClr val="E5E7EB"/>
                </a:solidFill>
              </a:rPr>
              <a:t>(db_path)
 cursor = conn.</a:t>
            </a:r>
            <a:r>
              <a:rPr lang="en-US" sz="516" dirty="0">
                <a:solidFill>
                  <a:srgbClr val="10B981"/>
                </a:solidFill>
              </a:rPr>
              <a:t>cursor</a:t>
            </a:r>
            <a:r>
              <a:rPr lang="en-US" sz="516" dirty="0">
                <a:solidFill>
                  <a:srgbClr val="E5E7EB"/>
                </a:solidFill>
              </a:rPr>
              <a:t>()
 cursor.</a:t>
            </a:r>
            <a:r>
              <a:rPr lang="en-US" sz="516" dirty="0">
                <a:solidFill>
                  <a:srgbClr val="10B981"/>
                </a:solidFill>
              </a:rPr>
              <a:t>execute</a:t>
            </a:r>
            <a:r>
              <a:rPr lang="en-US" sz="516" dirty="0">
                <a:solidFill>
                  <a:srgbClr val="E5E7EB"/>
                </a:solidFill>
              </a:rPr>
              <a:t>(query, params)
 result = cursor.</a:t>
            </a:r>
            <a:r>
              <a:rPr lang="en-US" sz="516" dirty="0">
                <a:solidFill>
                  <a:srgbClr val="10B981"/>
                </a:solidFill>
              </a:rPr>
              <a:t>fetchall</a:t>
            </a:r>
            <a:r>
              <a:rPr lang="en-US" sz="516" dirty="0">
                <a:solidFill>
                  <a:srgbClr val="E5E7EB"/>
                </a:solidFill>
              </a:rPr>
              <a:t>()
</a:t>
            </a:r>
            <a:r>
              <a:rPr lang="en-US" sz="516" dirty="0">
                <a:solidFill>
                  <a:srgbClr val="F59E0B"/>
                </a:solidFill>
              </a:rPr>
              <a:t>except</a:t>
            </a:r>
            <a:r>
              <a:rPr lang="en-US" sz="516" dirty="0">
                <a:solidFill>
                  <a:srgbClr val="E5E7EB"/>
                </a:solidFill>
              </a:rPr>
              <a:t> sqlite3.</a:t>
            </a:r>
            <a:r>
              <a:rPr lang="en-US" sz="516" dirty="0">
                <a:solidFill>
                  <a:srgbClr val="EF4444"/>
                </a:solidFill>
              </a:rPr>
              <a:t>Error</a:t>
            </a:r>
            <a:r>
              <a:rPr lang="en-US" sz="516" dirty="0">
                <a:solidFill>
                  <a:srgbClr val="F59E0B"/>
                </a:solidFill>
              </a:rPr>
              <a:t>as</a:t>
            </a:r>
            <a:r>
              <a:rPr lang="en-US" sz="516" dirty="0">
                <a:solidFill>
                  <a:srgbClr val="E5E7EB"/>
                </a:solidFill>
              </a:rPr>
              <a:t> e:
</a:t>
            </a:r>
            <a:r>
              <a:rPr lang="en-US" sz="516" dirty="0">
                <a:solidFill>
                  <a:srgbClr val="6366F1"/>
                </a:solidFill>
              </a:rPr>
              <a:t>st</a:t>
            </a:r>
            <a:r>
              <a:rPr lang="en-US" sz="516" dirty="0">
                <a:solidFill>
                  <a:srgbClr val="E5E7EB"/>
                </a:solidFill>
              </a:rPr>
              <a:t>.</a:t>
            </a:r>
            <a:r>
              <a:rPr lang="en-US" sz="516" dirty="0">
                <a:solidFill>
                  <a:srgbClr val="EF4444"/>
                </a:solidFill>
              </a:rPr>
              <a:t>error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f"Database error: {e}"</a:t>
            </a:r>
            <a:r>
              <a:rPr lang="en-US" sz="516" dirty="0">
                <a:solidFill>
                  <a:srgbClr val="E5E7EB"/>
                </a:solidFill>
              </a:rPr>
              <a:t>)
</a:t>
            </a:r>
            <a:r>
              <a:rPr lang="en-US" sz="516" dirty="0">
                <a:solidFill>
                  <a:srgbClr val="F59E0B"/>
                </a:solidFill>
              </a:rPr>
              <a:t>finally</a:t>
            </a:r>
            <a:r>
              <a:rPr lang="en-US" sz="516" dirty="0">
                <a:solidFill>
                  <a:srgbClr val="E5E7EB"/>
                </a:solidFill>
              </a:rPr>
              <a:t>:
 conn.</a:t>
            </a:r>
            <a:r>
              <a:rPr lang="en-US" sz="516" dirty="0">
                <a:solidFill>
                  <a:srgbClr val="10B981"/>
                </a:solidFill>
              </a:rPr>
              <a:t>close</a:t>
            </a:r>
            <a:r>
              <a:rPr lang="en-US" sz="516" dirty="0">
                <a:solidFill>
                  <a:srgbClr val="E5E7EB"/>
                </a:solidFill>
              </a:rPr>
              <a:t>()</a:t>
            </a:r>
            <a:endParaRPr lang="en-US" sz="516" dirty="0"/>
          </a:p>
        </p:txBody>
      </p:sp>
      <p:sp>
        <p:nvSpPr>
          <p:cNvPr id="21" name="Shape 18"/>
          <p:cNvSpPr/>
          <p:nvPr/>
        </p:nvSpPr>
        <p:spPr>
          <a:xfrm>
            <a:off x="4714875" y="2971800"/>
            <a:ext cx="4114800" cy="20571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14875" y="2971800"/>
            <a:ext cx="21431" cy="20571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57738" y="3014663"/>
            <a:ext cx="40290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991B1B"/>
                </a:solidFill>
              </a:rPr>
              <a:t>Tip:</a:t>
            </a:r>
            <a:r>
              <a:rPr lang="en-US" sz="621" dirty="0">
                <a:solidFill>
                  <a:srgbClr val="991B1B"/>
                </a:solidFill>
              </a:rPr>
              <a:t> Always validate user input before database operations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228600" y="3377543"/>
            <a:ext cx="4286250" cy="2348843"/>
          </a:xfrm>
          <a:prstGeom prst="rect">
            <a:avLst/>
          </a:prstGeom>
          <a:solidFill>
            <a:srgbClr val="F0FDF4"/>
          </a:solidFill>
          <a:ln w="18288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14325" y="3463268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65F46"/>
                </a:solidFill>
              </a:rPr>
              <a:t>⚡ PERFORMANCE OPTIMIZATION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314325" y="3706155"/>
            <a:ext cx="41148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• @st.cache_data:</a:t>
            </a:r>
            <a:r>
              <a:rPr lang="en-US" sz="621" dirty="0">
                <a:solidFill>
                  <a:srgbClr val="4B5563"/>
                </a:solidFill>
              </a:rPr>
              <a:t> Cache data loading functions
</a:t>
            </a:r>
            <a:r>
              <a:rPr lang="en-US" sz="584" b="1" dirty="0">
                <a:solidFill>
                  <a:srgbClr val="4B5563"/>
                </a:solidFill>
              </a:rPr>
              <a:t>• @st.cache_resource:</a:t>
            </a:r>
            <a:r>
              <a:rPr lang="en-US" sz="621" dirty="0">
                <a:solidFill>
                  <a:srgbClr val="4B5563"/>
                </a:solidFill>
              </a:rPr>
              <a:t> Cache DB connections
</a:t>
            </a:r>
            <a:r>
              <a:rPr lang="en-US" sz="584" b="1" dirty="0">
                <a:solidFill>
                  <a:srgbClr val="4B5563"/>
                </a:solidFill>
              </a:rPr>
              <a:t>• Minimize Reruns:</a:t>
            </a:r>
            <a:r>
              <a:rPr lang="en-US" sz="621" dirty="0">
                <a:solidFill>
                  <a:srgbClr val="4B5563"/>
                </a:solidFill>
              </a:rPr>
              <a:t> Reduce st.rerun() calls
</a:t>
            </a:r>
            <a:r>
              <a:rPr lang="en-US" sz="584" b="1" dirty="0">
                <a:solidFill>
                  <a:srgbClr val="4B5563"/>
                </a:solidFill>
              </a:rPr>
              <a:t>• Query Optimization:</a:t>
            </a:r>
            <a:r>
              <a:rPr lang="en-US" sz="621" dirty="0">
                <a:solidFill>
                  <a:srgbClr val="4B5563"/>
                </a:solidFill>
              </a:rPr>
              <a:t> Efficient SQL queries
</a:t>
            </a:r>
            <a:r>
              <a:rPr lang="en-US" sz="584" b="1" dirty="0">
                <a:solidFill>
                  <a:srgbClr val="4B5563"/>
                </a:solidFill>
              </a:rPr>
              <a:t>• Session State:</a:t>
            </a:r>
            <a:r>
              <a:rPr lang="en-US" sz="621" dirty="0">
                <a:solidFill>
                  <a:srgbClr val="4B5563"/>
                </a:solidFill>
              </a:rPr>
              <a:t> Store data efficiently</a:t>
            </a:r>
            <a:endParaRPr lang="en-US" sz="584" dirty="0"/>
          </a:p>
        </p:txBody>
      </p:sp>
      <p:sp>
        <p:nvSpPr>
          <p:cNvPr id="27" name="Shape 24"/>
          <p:cNvSpPr/>
          <p:nvPr/>
        </p:nvSpPr>
        <p:spPr>
          <a:xfrm>
            <a:off x="314325" y="4391955"/>
            <a:ext cx="4114800" cy="97155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14325" y="4391955"/>
            <a:ext cx="21431" cy="9715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14325" y="4391955"/>
            <a:ext cx="4114800" cy="971550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6B7280"/>
                </a:solidFill>
              </a:rPr>
              <a:t># Cache expensive operations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F59E0B"/>
                </a:solidFill>
              </a:rPr>
              <a:t>@st.cache_data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F59E0B"/>
                </a:solidFill>
              </a:rPr>
              <a:t>def</a:t>
            </a:r>
            <a:r>
              <a:rPr lang="en-US" sz="516" dirty="0">
                <a:solidFill>
                  <a:srgbClr val="10B981"/>
                </a:solidFill>
              </a:rPr>
              <a:t>load_data</a:t>
            </a:r>
            <a:r>
              <a:rPr lang="en-US" sz="516" dirty="0">
                <a:solidFill>
                  <a:srgbClr val="E5E7EB"/>
                </a:solidFill>
              </a:rPr>
              <a:t>(file_path):
</a:t>
            </a:r>
            <a:r>
              <a:rPr lang="en-US" sz="516" dirty="0">
                <a:solidFill>
                  <a:srgbClr val="F59E0B"/>
                </a:solidFill>
              </a:rPr>
              <a:t>return</a:t>
            </a:r>
            <a:r>
              <a:rPr lang="en-US" sz="516" dirty="0">
                <a:solidFill>
                  <a:srgbClr val="E5E7EB"/>
                </a:solidFill>
              </a:rPr>
              <a:t> pd.</a:t>
            </a:r>
            <a:r>
              <a:rPr lang="en-US" sz="516" dirty="0">
                <a:solidFill>
                  <a:srgbClr val="10B981"/>
                </a:solidFill>
              </a:rPr>
              <a:t>read_csv</a:t>
            </a:r>
            <a:r>
              <a:rPr lang="en-US" sz="516" dirty="0">
                <a:solidFill>
                  <a:srgbClr val="E5E7EB"/>
                </a:solidFill>
              </a:rPr>
              <a:t>(file_path)
</a:t>
            </a:r>
            <a:r>
              <a:rPr lang="en-US" sz="516" dirty="0">
                <a:solidFill>
                  <a:srgbClr val="6B7280"/>
                </a:solidFill>
              </a:rPr>
              <a:t># Cache database connection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F59E0B"/>
                </a:solidFill>
              </a:rPr>
              <a:t>@st.cache_resource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F59E0B"/>
                </a:solidFill>
              </a:rPr>
              <a:t>def</a:t>
            </a:r>
            <a:r>
              <a:rPr lang="en-US" sz="516" dirty="0">
                <a:solidFill>
                  <a:srgbClr val="10B981"/>
                </a:solidFill>
              </a:rPr>
              <a:t>get_database</a:t>
            </a:r>
            <a:r>
              <a:rPr lang="en-US" sz="516" dirty="0">
                <a:solidFill>
                  <a:srgbClr val="E5E7EB"/>
                </a:solidFill>
              </a:rPr>
              <a:t>():
</a:t>
            </a:r>
            <a:r>
              <a:rPr lang="en-US" sz="516" dirty="0">
                <a:solidFill>
                  <a:srgbClr val="F59E0B"/>
                </a:solidFill>
              </a:rPr>
              <a:t>return</a:t>
            </a:r>
            <a:r>
              <a:rPr lang="en-US" sz="516" dirty="0">
                <a:solidFill>
                  <a:srgbClr val="6366F1"/>
                </a:solidFill>
              </a:rPr>
              <a:t>DatabaseManager</a:t>
            </a:r>
            <a:r>
              <a:rPr lang="en-US" sz="516" dirty="0">
                <a:solidFill>
                  <a:srgbClr val="E5E7EB"/>
                </a:solidFill>
              </a:rPr>
              <a:t>(db_path)</a:t>
            </a:r>
            <a:endParaRPr lang="en-US" sz="516" dirty="0"/>
          </a:p>
        </p:txBody>
      </p:sp>
      <p:sp>
        <p:nvSpPr>
          <p:cNvPr id="30" name="Shape 27"/>
          <p:cNvSpPr/>
          <p:nvPr/>
        </p:nvSpPr>
        <p:spPr>
          <a:xfrm>
            <a:off x="314325" y="5406368"/>
            <a:ext cx="4114800" cy="20571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14325" y="5406368"/>
            <a:ext cx="21431" cy="20571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57188" y="5449230"/>
            <a:ext cx="40290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65F46"/>
                </a:solidFill>
              </a:rPr>
              <a:t>Tip:</a:t>
            </a:r>
            <a:r>
              <a:rPr lang="en-US" sz="621" dirty="0">
                <a:solidFill>
                  <a:srgbClr val="065F46"/>
                </a:solidFill>
              </a:rPr>
              <a:t> Use caching for data that doesn't change frequently</a:t>
            </a:r>
            <a:endParaRPr lang="en-US" sz="584" dirty="0"/>
          </a:p>
        </p:txBody>
      </p:sp>
      <p:sp>
        <p:nvSpPr>
          <p:cNvPr id="33" name="Shape 30"/>
          <p:cNvSpPr/>
          <p:nvPr/>
        </p:nvSpPr>
        <p:spPr>
          <a:xfrm>
            <a:off x="4629150" y="3377543"/>
            <a:ext cx="4286250" cy="2320268"/>
          </a:xfrm>
          <a:prstGeom prst="rect">
            <a:avLst/>
          </a:prstGeom>
          <a:solidFill>
            <a:srgbClr val="F5F3FF"/>
          </a:solidFill>
          <a:ln w="18288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714875" y="3496587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4338CA"/>
                </a:solidFill>
              </a:rPr>
              <a:t>🧪 TESTING STRATEGIES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4714875" y="3739474"/>
            <a:ext cx="41148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• Unit Testing:</a:t>
            </a:r>
            <a:r>
              <a:rPr lang="en-US" sz="621" dirty="0">
                <a:solidFill>
                  <a:srgbClr val="4B5563"/>
                </a:solidFill>
              </a:rPr>
              <a:t> Test functions separately
</a:t>
            </a:r>
            <a:r>
              <a:rPr lang="en-US" sz="584" b="1" dirty="0">
                <a:solidFill>
                  <a:srgbClr val="4B5563"/>
                </a:solidFill>
              </a:rPr>
              <a:t>• Database Testing:</a:t>
            </a:r>
            <a:r>
              <a:rPr lang="en-US" sz="621" dirty="0">
                <a:solidFill>
                  <a:srgbClr val="4B5563"/>
                </a:solidFill>
              </a:rPr>
              <a:t> Test CRUD operations
</a:t>
            </a:r>
            <a:r>
              <a:rPr lang="en-US" sz="584" b="1" dirty="0">
                <a:solidFill>
                  <a:srgbClr val="4B5563"/>
                </a:solidFill>
              </a:rPr>
              <a:t>• Auth Testing:</a:t>
            </a:r>
            <a:r>
              <a:rPr lang="en-US" sz="621" dirty="0">
                <a:solidFill>
                  <a:srgbClr val="4B5563"/>
                </a:solidFill>
              </a:rPr>
              <a:t> Test login/logout flows
</a:t>
            </a:r>
            <a:r>
              <a:rPr lang="en-US" sz="584" b="1" dirty="0">
                <a:solidFill>
                  <a:srgbClr val="4B5563"/>
                </a:solidFill>
              </a:rPr>
              <a:t>• Manual Testing:</a:t>
            </a:r>
            <a:r>
              <a:rPr lang="en-US" sz="621" dirty="0">
                <a:solidFill>
                  <a:srgbClr val="4B5563"/>
                </a:solidFill>
              </a:rPr>
              <a:t> Test with different users
</a:t>
            </a:r>
            <a:r>
              <a:rPr lang="en-US" sz="584" b="1" dirty="0">
                <a:solidFill>
                  <a:srgbClr val="4B5563"/>
                </a:solidFill>
              </a:rPr>
              <a:t>• Edge Cases:</a:t>
            </a:r>
            <a:r>
              <a:rPr lang="en-US" sz="621" dirty="0">
                <a:solidFill>
                  <a:srgbClr val="4B5563"/>
                </a:solidFill>
              </a:rPr>
              <a:t> Test boundary conditions</a:t>
            </a:r>
            <a:endParaRPr lang="en-US" sz="584" dirty="0"/>
          </a:p>
        </p:txBody>
      </p:sp>
      <p:sp>
        <p:nvSpPr>
          <p:cNvPr id="36" name="Shape 33"/>
          <p:cNvSpPr/>
          <p:nvPr/>
        </p:nvSpPr>
        <p:spPr>
          <a:xfrm>
            <a:off x="4714875" y="4425274"/>
            <a:ext cx="4114800" cy="87153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714875" y="4425274"/>
            <a:ext cx="21431" cy="87153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714875" y="4425274"/>
            <a:ext cx="4114800" cy="871538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6B7280"/>
                </a:solidFill>
              </a:rPr>
              <a:t># Test database operations</a:t>
            </a:r>
            <a:r>
              <a:rPr lang="en-US" sz="516" dirty="0">
                <a:solidFill>
                  <a:srgbClr val="E5E7EB"/>
                </a:solidFill>
              </a:rPr>
              <a:t>
</a:t>
            </a:r>
            <a:r>
              <a:rPr lang="en-US" sz="516" dirty="0">
                <a:solidFill>
                  <a:srgbClr val="F59E0B"/>
                </a:solidFill>
              </a:rPr>
              <a:t>def</a:t>
            </a:r>
            <a:r>
              <a:rPr lang="en-US" sz="516" dirty="0">
                <a:solidFill>
                  <a:srgbClr val="10B981"/>
                </a:solidFill>
              </a:rPr>
              <a:t>test_verify_user</a:t>
            </a:r>
            <a:r>
              <a:rPr lang="en-US" sz="516" dirty="0">
                <a:solidFill>
                  <a:srgbClr val="E5E7EB"/>
                </a:solidFill>
              </a:rPr>
              <a:t>():
 db = </a:t>
            </a:r>
            <a:r>
              <a:rPr lang="en-US" sz="516" dirty="0">
                <a:solidFill>
                  <a:srgbClr val="6366F1"/>
                </a:solidFill>
              </a:rPr>
              <a:t>DatabaseManager</a:t>
            </a:r>
            <a:r>
              <a:rPr lang="en-US" sz="516" dirty="0">
                <a:solidFill>
                  <a:srgbClr val="E5E7EB"/>
                </a:solidFill>
              </a:rPr>
              <a:t>(</a:t>
            </a:r>
            <a:r>
              <a:rPr lang="en-US" sz="516" dirty="0">
                <a:solidFill>
                  <a:srgbClr val="F59E0B"/>
                </a:solidFill>
              </a:rPr>
              <a:t>"test.db"</a:t>
            </a:r>
            <a:r>
              <a:rPr lang="en-US" sz="516" dirty="0">
                <a:solidFill>
                  <a:srgbClr val="E5E7EB"/>
                </a:solidFill>
              </a:rPr>
              <a:t>)
 result = db.</a:t>
            </a:r>
            <a:r>
              <a:rPr lang="en-US" sz="516" dirty="0">
                <a:solidFill>
                  <a:srgbClr val="10B981"/>
                </a:solidFill>
              </a:rPr>
              <a:t>verify_user</a:t>
            </a:r>
            <a:r>
              <a:rPr lang="en-US" sz="516" dirty="0">
                <a:solidFill>
                  <a:srgbClr val="E5E7EB"/>
                </a:solidFill>
              </a:rPr>
              <a:t>(
</a:t>
            </a:r>
            <a:r>
              <a:rPr lang="en-US" sz="516" dirty="0">
                <a:solidFill>
                  <a:srgbClr val="F59E0B"/>
                </a:solidFill>
              </a:rPr>
              <a:t>"testuser"</a:t>
            </a:r>
            <a:r>
              <a:rPr lang="en-US" sz="516" dirty="0">
                <a:solidFill>
                  <a:srgbClr val="E5E7EB"/>
                </a:solidFill>
              </a:rPr>
              <a:t>,
</a:t>
            </a:r>
            <a:r>
              <a:rPr lang="en-US" sz="516" dirty="0">
                <a:solidFill>
                  <a:srgbClr val="F59E0B"/>
                </a:solidFill>
              </a:rPr>
              <a:t>"hash123"</a:t>
            </a:r>
            <a:r>
              <a:rPr lang="en-US" sz="516" dirty="0">
                <a:solidFill>
                  <a:srgbClr val="E5E7EB"/>
                </a:solidFill>
              </a:rPr>
              <a:t>
 )
</a:t>
            </a:r>
            <a:r>
              <a:rPr lang="en-US" sz="516" dirty="0">
                <a:solidFill>
                  <a:srgbClr val="F59E0B"/>
                </a:solidFill>
              </a:rPr>
              <a:t>assert</a:t>
            </a:r>
            <a:r>
              <a:rPr lang="en-US" sz="516" dirty="0">
                <a:solidFill>
                  <a:srgbClr val="E5E7EB"/>
                </a:solidFill>
              </a:rPr>
              <a:t> result == </a:t>
            </a:r>
            <a:r>
              <a:rPr lang="en-US" sz="516" dirty="0">
                <a:solidFill>
                  <a:srgbClr val="F59E0B"/>
                </a:solidFill>
              </a:rPr>
              <a:t>True</a:t>
            </a:r>
            <a:endParaRPr lang="en-US" sz="516" dirty="0"/>
          </a:p>
        </p:txBody>
      </p:sp>
      <p:sp>
        <p:nvSpPr>
          <p:cNvPr id="39" name="Shape 36"/>
          <p:cNvSpPr/>
          <p:nvPr/>
        </p:nvSpPr>
        <p:spPr>
          <a:xfrm>
            <a:off x="4714875" y="5372993"/>
            <a:ext cx="4114800" cy="205718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714875" y="5372993"/>
            <a:ext cx="21431" cy="20571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757738" y="5415855"/>
            <a:ext cx="40290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4338CA"/>
                </a:solidFill>
              </a:rPr>
              <a:t>Tip:</a:t>
            </a:r>
            <a:r>
              <a:rPr lang="en-US" sz="621" dirty="0">
                <a:solidFill>
                  <a:srgbClr val="4338CA"/>
                </a:solidFill>
              </a:rPr>
              <a:t> Test with both valid and invalid inputs to ensure robustness</a:t>
            </a:r>
            <a:endParaRPr lang="en-US" sz="584" dirty="0"/>
          </a:p>
        </p:txBody>
      </p:sp>
      <p:sp>
        <p:nvSpPr>
          <p:cNvPr id="42" name="Shape 39"/>
          <p:cNvSpPr/>
          <p:nvPr/>
        </p:nvSpPr>
        <p:spPr>
          <a:xfrm>
            <a:off x="228600" y="5754960"/>
            <a:ext cx="8686800" cy="1785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228600" y="5754960"/>
            <a:ext cx="86868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28600" y="5812110"/>
            <a:ext cx="86868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Remember:</a:t>
            </a:r>
            <a:r>
              <a:rPr lang="en-US" sz="621" dirty="0">
                <a:solidFill>
                  <a:srgbClr val="4B5563"/>
                </a:solidFill>
              </a:rPr>
              <a:t> Good practices lead to maintainable code. Start with clean structure, handle errors gracefully, optimize when needed, and test thoroughly.</a:t>
            </a:r>
            <a:endParaRPr lang="en-US" sz="58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935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17 </a:t>
            </a:r>
            <a:r>
              <a:rPr lang="en-US" sz="727" dirty="0">
                <a:solidFill>
                  <a:srgbClr val="6B7280"/>
                </a:solidFill>
              </a:rPr>
              <a:t>// Debugging Guide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Common Pitfalls and Solutions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Troubleshooting guide for Streamlit development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85750" y="1028700"/>
            <a:ext cx="4214813" cy="1285875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71475" y="1114425"/>
            <a:ext cx="396004" cy="1714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71475" y="1114425"/>
            <a:ext cx="396004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ERROR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824629" y="1114425"/>
            <a:ext cx="1249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Session State KeyError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371475" y="1343025"/>
            <a:ext cx="4043363" cy="2286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71475" y="1343025"/>
            <a:ext cx="21431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8625" y="1400175"/>
            <a:ext cx="3929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991B1B"/>
                </a:solidFill>
              </a:rPr>
              <a:t>KeyError: 'logged_in'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371475" y="1628775"/>
            <a:ext cx="40433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Cause:</a:t>
            </a:r>
            <a:r>
              <a:rPr lang="en-US" sz="621" dirty="0">
                <a:solidFill>
                  <a:srgbClr val="4B5563"/>
                </a:solidFill>
              </a:rPr>
              <a:t> Accessing session_state variable before initialization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371475" y="1819870"/>
            <a:ext cx="3799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Solution: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751433" y="1819870"/>
            <a:ext cx="170029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Always check if key exists or initialize first:</a:t>
            </a:r>
            <a:endParaRPr lang="en-US" sz="621" dirty="0"/>
          </a:p>
        </p:txBody>
      </p:sp>
      <p:sp>
        <p:nvSpPr>
          <p:cNvPr id="16" name="Shape 13"/>
          <p:cNvSpPr/>
          <p:nvPr/>
        </p:nvSpPr>
        <p:spPr>
          <a:xfrm>
            <a:off x="371475" y="1934170"/>
            <a:ext cx="1496895" cy="27324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00050" y="1948458"/>
            <a:ext cx="14683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if "logged_in" not in st.session_state: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371475" y="2077045"/>
            <a:ext cx="13452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st.session_state.logged_in = False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4643438" y="1028700"/>
            <a:ext cx="4214813" cy="1285875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29163" y="1114425"/>
            <a:ext cx="396004" cy="1714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29163" y="1114425"/>
            <a:ext cx="396004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ERROR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5182316" y="1114425"/>
            <a:ext cx="11154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Duplicate Widget ID</a:t>
            </a:r>
            <a:endParaRPr lang="en-US" sz="784" dirty="0"/>
          </a:p>
        </p:txBody>
      </p:sp>
      <p:sp>
        <p:nvSpPr>
          <p:cNvPr id="23" name="Shape 20"/>
          <p:cNvSpPr/>
          <p:nvPr/>
        </p:nvSpPr>
        <p:spPr>
          <a:xfrm>
            <a:off x="4729163" y="1343025"/>
            <a:ext cx="4043363" cy="2286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29163" y="1343025"/>
            <a:ext cx="21431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86313" y="1400175"/>
            <a:ext cx="3929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991B1B"/>
                </a:solidFill>
              </a:rPr>
              <a:t>DuplicateWidgetID: There are multiple widgets with the same key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4729163" y="1628775"/>
            <a:ext cx="40433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Cause:</a:t>
            </a:r>
            <a:r>
              <a:rPr lang="en-US" sz="621" dirty="0">
                <a:solidFill>
                  <a:srgbClr val="4B5563"/>
                </a:solidFill>
              </a:rPr>
              <a:t> Using same key for multiple widgets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4729163" y="1819870"/>
            <a:ext cx="3799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Solution: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5109121" y="1819870"/>
            <a:ext cx="134966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Use unique keys for each widget: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4729163" y="1934170"/>
            <a:ext cx="1504011" cy="27324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57738" y="1948458"/>
            <a:ext cx="14754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st.text_input("Name", key="name_1")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4729163" y="2077045"/>
            <a:ext cx="14754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st.text_input("Name", key="name_2")</a:t>
            </a:r>
            <a:endParaRPr lang="en-US" sz="621" dirty="0"/>
          </a:p>
        </p:txBody>
      </p:sp>
      <p:sp>
        <p:nvSpPr>
          <p:cNvPr id="32" name="Shape 29"/>
          <p:cNvSpPr/>
          <p:nvPr/>
        </p:nvSpPr>
        <p:spPr>
          <a:xfrm>
            <a:off x="285750" y="2428875"/>
            <a:ext cx="4214813" cy="1314450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71475" y="2514600"/>
            <a:ext cx="352192" cy="1714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71475" y="2514600"/>
            <a:ext cx="352192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ISSUE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780817" y="2514600"/>
            <a:ext cx="11800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Form Not Submitting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371475" y="2743200"/>
            <a:ext cx="40433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Symptom:</a:t>
            </a:r>
            <a:r>
              <a:rPr lang="en-US" sz="621" dirty="0">
                <a:solidFill>
                  <a:srgbClr val="4B5563"/>
                </a:solidFill>
              </a:rPr>
              <a:t> Form button clicked but nothing happens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371475" y="2928938"/>
            <a:ext cx="40433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Cause:</a:t>
            </a:r>
            <a:r>
              <a:rPr lang="en-US" sz="621" dirty="0">
                <a:solidFill>
                  <a:srgbClr val="4B5563"/>
                </a:solidFill>
              </a:rPr>
              <a:t> Using st.button() instead of st.form_submit_button() inside form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371475" y="3120033"/>
            <a:ext cx="3799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Solution: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751433" y="3120033"/>
            <a:ext cx="148126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Always use st.form_submit_button():</a:t>
            </a:r>
            <a:endParaRPr lang="en-US" sz="621" dirty="0"/>
          </a:p>
        </p:txBody>
      </p:sp>
      <p:sp>
        <p:nvSpPr>
          <p:cNvPr id="40" name="Shape 37"/>
          <p:cNvSpPr/>
          <p:nvPr/>
        </p:nvSpPr>
        <p:spPr>
          <a:xfrm>
            <a:off x="371475" y="3234333"/>
            <a:ext cx="1863709" cy="40183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00050" y="3248620"/>
            <a:ext cx="9874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with st.form("my_form"):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371475" y="3377208"/>
            <a:ext cx="11841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name = st.text_input("Name")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371475" y="3505795"/>
            <a:ext cx="18351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submitted = st.form_submit_button("Submit")</a:t>
            </a:r>
            <a:endParaRPr lang="en-US" sz="621" dirty="0"/>
          </a:p>
        </p:txBody>
      </p:sp>
      <p:sp>
        <p:nvSpPr>
          <p:cNvPr id="44" name="Shape 41"/>
          <p:cNvSpPr/>
          <p:nvPr/>
        </p:nvSpPr>
        <p:spPr>
          <a:xfrm>
            <a:off x="4643438" y="2428875"/>
            <a:ext cx="4214813" cy="1285875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729163" y="2514600"/>
            <a:ext cx="352192" cy="1714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729163" y="2514600"/>
            <a:ext cx="352192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ISSUE</a:t>
            </a:r>
            <a:endParaRPr lang="en-US" sz="584" dirty="0"/>
          </a:p>
        </p:txBody>
      </p:sp>
      <p:sp>
        <p:nvSpPr>
          <p:cNvPr id="47" name="Text 44"/>
          <p:cNvSpPr/>
          <p:nvPr/>
        </p:nvSpPr>
        <p:spPr>
          <a:xfrm>
            <a:off x="5138505" y="2514600"/>
            <a:ext cx="12321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Page Navigation Error</a:t>
            </a:r>
            <a:endParaRPr lang="en-US" sz="784" dirty="0"/>
          </a:p>
        </p:txBody>
      </p:sp>
      <p:sp>
        <p:nvSpPr>
          <p:cNvPr id="48" name="Shape 45"/>
          <p:cNvSpPr/>
          <p:nvPr/>
        </p:nvSpPr>
        <p:spPr>
          <a:xfrm>
            <a:off x="4729163" y="2743200"/>
            <a:ext cx="4043363" cy="2286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4729163" y="2743200"/>
            <a:ext cx="21431" cy="228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786313" y="2800350"/>
            <a:ext cx="3929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92400E"/>
                </a:solidFill>
              </a:rPr>
              <a:t>FileNotFoundError: pages/Dashboard.py</a:t>
            </a:r>
            <a:endParaRPr lang="en-US" sz="621" dirty="0"/>
          </a:p>
        </p:txBody>
      </p:sp>
      <p:sp>
        <p:nvSpPr>
          <p:cNvPr id="51" name="Text 48"/>
          <p:cNvSpPr/>
          <p:nvPr/>
        </p:nvSpPr>
        <p:spPr>
          <a:xfrm>
            <a:off x="4729163" y="3028950"/>
            <a:ext cx="40433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Cause:</a:t>
            </a:r>
            <a:r>
              <a:rPr lang="en-US" sz="621" dirty="0">
                <a:solidFill>
                  <a:srgbClr val="4B5563"/>
                </a:solidFill>
              </a:rPr>
              <a:t> Incorrect file path in st.switch_page()</a:t>
            </a:r>
            <a:endParaRPr lang="en-US" sz="584" dirty="0"/>
          </a:p>
        </p:txBody>
      </p:sp>
      <p:sp>
        <p:nvSpPr>
          <p:cNvPr id="52" name="Text 49"/>
          <p:cNvSpPr/>
          <p:nvPr/>
        </p:nvSpPr>
        <p:spPr>
          <a:xfrm>
            <a:off x="4729163" y="3214688"/>
            <a:ext cx="4043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Solution:</a:t>
            </a:r>
            <a:r>
              <a:rPr lang="en-US" sz="621" dirty="0">
                <a:solidFill>
                  <a:srgbClr val="4B5563"/>
                </a:solidFill>
              </a:rPr>
              <a:t> Use correct path format:
 st.switch_page("pages/1_Dashboard.py") 
 Ensure file is in pages/ folder with correct naming</a:t>
            </a:r>
            <a:endParaRPr lang="en-US" sz="584" dirty="0"/>
          </a:p>
        </p:txBody>
      </p:sp>
      <p:sp>
        <p:nvSpPr>
          <p:cNvPr id="53" name="Shape 50"/>
          <p:cNvSpPr/>
          <p:nvPr/>
        </p:nvSpPr>
        <p:spPr>
          <a:xfrm>
            <a:off x="285750" y="3857625"/>
            <a:ext cx="4214813" cy="1314450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371475" y="3943350"/>
            <a:ext cx="535391" cy="1714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371475" y="3943350"/>
            <a:ext cx="535391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WARNING</a:t>
            </a:r>
            <a:endParaRPr lang="en-US" sz="584" dirty="0"/>
          </a:p>
        </p:txBody>
      </p:sp>
      <p:sp>
        <p:nvSpPr>
          <p:cNvPr id="56" name="Text 53"/>
          <p:cNvSpPr/>
          <p:nvPr/>
        </p:nvSpPr>
        <p:spPr>
          <a:xfrm>
            <a:off x="964016" y="3943350"/>
            <a:ext cx="14852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Database Connection Leak</a:t>
            </a:r>
            <a:endParaRPr lang="en-US" sz="784" dirty="0"/>
          </a:p>
        </p:txBody>
      </p:sp>
      <p:sp>
        <p:nvSpPr>
          <p:cNvPr id="57" name="Text 54"/>
          <p:cNvSpPr/>
          <p:nvPr/>
        </p:nvSpPr>
        <p:spPr>
          <a:xfrm>
            <a:off x="371475" y="4171950"/>
            <a:ext cx="40433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Symptom:</a:t>
            </a:r>
            <a:r>
              <a:rPr lang="en-US" sz="621" dirty="0">
                <a:solidFill>
                  <a:srgbClr val="4B5563"/>
                </a:solidFill>
              </a:rPr>
              <a:t> Database locked or too many connections</a:t>
            </a:r>
            <a:endParaRPr lang="en-US" sz="584" dirty="0"/>
          </a:p>
        </p:txBody>
      </p:sp>
      <p:sp>
        <p:nvSpPr>
          <p:cNvPr id="58" name="Text 55"/>
          <p:cNvSpPr/>
          <p:nvPr/>
        </p:nvSpPr>
        <p:spPr>
          <a:xfrm>
            <a:off x="371475" y="4357688"/>
            <a:ext cx="40433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Cause:</a:t>
            </a:r>
            <a:r>
              <a:rPr lang="en-US" sz="621" dirty="0">
                <a:solidFill>
                  <a:srgbClr val="4B5563"/>
                </a:solidFill>
              </a:rPr>
              <a:t> Forgetting to close database connection</a:t>
            </a:r>
            <a:endParaRPr lang="en-US" sz="584" dirty="0"/>
          </a:p>
        </p:txBody>
      </p:sp>
      <p:sp>
        <p:nvSpPr>
          <p:cNvPr id="59" name="Text 56"/>
          <p:cNvSpPr/>
          <p:nvPr/>
        </p:nvSpPr>
        <p:spPr>
          <a:xfrm>
            <a:off x="371475" y="4548783"/>
            <a:ext cx="3799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Solution:</a:t>
            </a:r>
            <a:endParaRPr lang="en-US" sz="584" dirty="0"/>
          </a:p>
        </p:txBody>
      </p:sp>
      <p:sp>
        <p:nvSpPr>
          <p:cNvPr id="60" name="Text 57"/>
          <p:cNvSpPr/>
          <p:nvPr/>
        </p:nvSpPr>
        <p:spPr>
          <a:xfrm>
            <a:off x="751433" y="4548783"/>
            <a:ext cx="10589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Always close connections:</a:t>
            </a:r>
            <a:endParaRPr lang="en-US" sz="621" dirty="0"/>
          </a:p>
        </p:txBody>
      </p:sp>
      <p:sp>
        <p:nvSpPr>
          <p:cNvPr id="61" name="Shape 58"/>
          <p:cNvSpPr/>
          <p:nvPr/>
        </p:nvSpPr>
        <p:spPr>
          <a:xfrm>
            <a:off x="371475" y="4663083"/>
            <a:ext cx="1279150" cy="40183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400050" y="4677370"/>
            <a:ext cx="12505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conn = sqlite3.connect("db.db")</a:t>
            </a:r>
            <a:endParaRPr lang="en-US" sz="621" dirty="0"/>
          </a:p>
        </p:txBody>
      </p:sp>
      <p:sp>
        <p:nvSpPr>
          <p:cNvPr id="63" name="Text 60"/>
          <p:cNvSpPr/>
          <p:nvPr/>
        </p:nvSpPr>
        <p:spPr>
          <a:xfrm>
            <a:off x="371475" y="4805958"/>
            <a:ext cx="5874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# ... do work ...</a:t>
            </a:r>
            <a:endParaRPr lang="en-US" sz="621" dirty="0"/>
          </a:p>
        </p:txBody>
      </p:sp>
      <p:sp>
        <p:nvSpPr>
          <p:cNvPr id="64" name="Text 61"/>
          <p:cNvSpPr/>
          <p:nvPr/>
        </p:nvSpPr>
        <p:spPr>
          <a:xfrm>
            <a:off x="371475" y="4934545"/>
            <a:ext cx="110493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conn.close() # Always close!</a:t>
            </a:r>
            <a:endParaRPr lang="en-US" sz="621" dirty="0"/>
          </a:p>
        </p:txBody>
      </p:sp>
      <p:sp>
        <p:nvSpPr>
          <p:cNvPr id="65" name="Shape 62"/>
          <p:cNvSpPr/>
          <p:nvPr/>
        </p:nvSpPr>
        <p:spPr>
          <a:xfrm>
            <a:off x="4643438" y="3857625"/>
            <a:ext cx="4214813" cy="1314450"/>
          </a:xfrm>
          <a:prstGeom prst="rect">
            <a:avLst/>
          </a:prstGeom>
          <a:solidFill>
            <a:srgbClr val="F9FAFB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4729163" y="3943350"/>
            <a:ext cx="535391" cy="1714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4729163" y="3943350"/>
            <a:ext cx="535391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WARNING</a:t>
            </a:r>
            <a:endParaRPr lang="en-US" sz="584" dirty="0"/>
          </a:p>
        </p:txBody>
      </p:sp>
      <p:sp>
        <p:nvSpPr>
          <p:cNvPr id="68" name="Text 65"/>
          <p:cNvSpPr/>
          <p:nvPr/>
        </p:nvSpPr>
        <p:spPr>
          <a:xfrm>
            <a:off x="5321703" y="3943350"/>
            <a:ext cx="10813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Infinite Rerun Loop</a:t>
            </a:r>
            <a:endParaRPr lang="en-US" sz="784" dirty="0"/>
          </a:p>
        </p:txBody>
      </p:sp>
      <p:sp>
        <p:nvSpPr>
          <p:cNvPr id="69" name="Text 66"/>
          <p:cNvSpPr/>
          <p:nvPr/>
        </p:nvSpPr>
        <p:spPr>
          <a:xfrm>
            <a:off x="4729163" y="4171950"/>
            <a:ext cx="40433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Symptom:</a:t>
            </a:r>
            <a:r>
              <a:rPr lang="en-US" sz="621" dirty="0">
                <a:solidFill>
                  <a:srgbClr val="4B5563"/>
                </a:solidFill>
              </a:rPr>
              <a:t> Page keeps refreshing automatically</a:t>
            </a:r>
            <a:endParaRPr lang="en-US" sz="584" dirty="0"/>
          </a:p>
        </p:txBody>
      </p:sp>
      <p:sp>
        <p:nvSpPr>
          <p:cNvPr id="70" name="Text 67"/>
          <p:cNvSpPr/>
          <p:nvPr/>
        </p:nvSpPr>
        <p:spPr>
          <a:xfrm>
            <a:off x="4729163" y="4357688"/>
            <a:ext cx="40433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Cause:</a:t>
            </a:r>
            <a:r>
              <a:rPr lang="en-US" sz="621" dirty="0">
                <a:solidFill>
                  <a:srgbClr val="4B5563"/>
                </a:solidFill>
              </a:rPr>
              <a:t> Calling st.rerun() unconditionally or in wrong place</a:t>
            </a:r>
            <a:endParaRPr lang="en-US" sz="584" dirty="0"/>
          </a:p>
        </p:txBody>
      </p:sp>
      <p:sp>
        <p:nvSpPr>
          <p:cNvPr id="71" name="Text 68"/>
          <p:cNvSpPr/>
          <p:nvPr/>
        </p:nvSpPr>
        <p:spPr>
          <a:xfrm>
            <a:off x="4729163" y="4548783"/>
            <a:ext cx="3799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Solution:</a:t>
            </a:r>
            <a:endParaRPr lang="en-US" sz="584" dirty="0"/>
          </a:p>
        </p:txBody>
      </p:sp>
      <p:sp>
        <p:nvSpPr>
          <p:cNvPr id="72" name="Text 69"/>
          <p:cNvSpPr/>
          <p:nvPr/>
        </p:nvSpPr>
        <p:spPr>
          <a:xfrm>
            <a:off x="5109121" y="4548783"/>
            <a:ext cx="1348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Only call st.rerun() when needed:</a:t>
            </a:r>
            <a:endParaRPr lang="en-US" sz="621" dirty="0"/>
          </a:p>
        </p:txBody>
      </p:sp>
      <p:sp>
        <p:nvSpPr>
          <p:cNvPr id="73" name="Shape 70"/>
          <p:cNvSpPr/>
          <p:nvPr/>
        </p:nvSpPr>
        <p:spPr>
          <a:xfrm>
            <a:off x="4729163" y="4663083"/>
            <a:ext cx="1168143" cy="40183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4757738" y="4677370"/>
            <a:ext cx="8455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if st.button("Delete"):</a:t>
            </a:r>
            <a:endParaRPr lang="en-US" sz="621" dirty="0"/>
          </a:p>
        </p:txBody>
      </p:sp>
      <p:sp>
        <p:nvSpPr>
          <p:cNvPr id="75" name="Text 72"/>
          <p:cNvSpPr/>
          <p:nvPr/>
        </p:nvSpPr>
        <p:spPr>
          <a:xfrm>
            <a:off x="4729163" y="4805958"/>
            <a:ext cx="54077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# delete logic</a:t>
            </a:r>
            <a:endParaRPr lang="en-US" sz="621" dirty="0"/>
          </a:p>
        </p:txBody>
      </p:sp>
      <p:sp>
        <p:nvSpPr>
          <p:cNvPr id="76" name="Text 73"/>
          <p:cNvSpPr/>
          <p:nvPr/>
        </p:nvSpPr>
        <p:spPr>
          <a:xfrm>
            <a:off x="4729163" y="4934545"/>
            <a:ext cx="113956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st.rerun() # Only after action</a:t>
            </a:r>
            <a:endParaRPr lang="en-US" sz="621" dirty="0"/>
          </a:p>
        </p:txBody>
      </p:sp>
      <p:sp>
        <p:nvSpPr>
          <p:cNvPr id="77" name="Shape 74"/>
          <p:cNvSpPr/>
          <p:nvPr/>
        </p:nvSpPr>
        <p:spPr>
          <a:xfrm>
            <a:off x="285750" y="5229225"/>
            <a:ext cx="8572500" cy="2928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285750" y="5229225"/>
            <a:ext cx="85725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285750" y="5286375"/>
            <a:ext cx="2781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Debug Workflow:</a:t>
            </a:r>
            <a:r>
              <a:rPr lang="en-US" sz="621" dirty="0">
                <a:solidFill>
                  <a:srgbClr val="4B5563"/>
                </a:solidFill>
              </a:rPr>
              <a:t> Read error message → Check line number → Review recent changes</a:t>
            </a:r>
            <a:endParaRPr lang="en-US" sz="584" dirty="0"/>
          </a:p>
        </p:txBody>
      </p:sp>
      <p:sp>
        <p:nvSpPr>
          <p:cNvPr id="80" name="Text 77"/>
          <p:cNvSpPr/>
          <p:nvPr/>
        </p:nvSpPr>
        <p:spPr>
          <a:xfrm>
            <a:off x="3181341" y="5286375"/>
            <a:ext cx="2781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Use st.write():</a:t>
            </a:r>
            <a:r>
              <a:rPr lang="en-US" sz="621" dirty="0">
                <a:solidFill>
                  <a:srgbClr val="4B5563"/>
                </a:solidFill>
              </a:rPr>
              <a:t> Print variables to understand state and flow</a:t>
            </a:r>
            <a:endParaRPr lang="en-US" sz="584" dirty="0"/>
          </a:p>
        </p:txBody>
      </p:sp>
      <p:sp>
        <p:nvSpPr>
          <p:cNvPr id="81" name="Text 78"/>
          <p:cNvSpPr/>
          <p:nvPr/>
        </p:nvSpPr>
        <p:spPr>
          <a:xfrm>
            <a:off x="6076931" y="5286375"/>
            <a:ext cx="27813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Check Documentation:</a:t>
            </a:r>
            <a:r>
              <a:rPr lang="en-US" sz="621" dirty="0">
                <a:solidFill>
                  <a:srgbClr val="4B5563"/>
                </a:solidFill>
              </a:rPr>
              <a:t> docs.streamlit.io has examples for every function</a:t>
            </a:r>
            <a:endParaRPr lang="en-US" sz="58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17 </a:t>
            </a:r>
            <a:r>
              <a:rPr lang="en-US" sz="727" dirty="0">
                <a:solidFill>
                  <a:srgbClr val="6B7280"/>
                </a:solidFill>
              </a:rPr>
              <a:t>// Lab Session Tasks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Week 9 Lab Checklist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Complete these tasks during your lab session to build the Streamlit interface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85750" y="1084064"/>
            <a:ext cx="4200525" cy="977243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71475" y="1176933"/>
            <a:ext cx="40290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40AF"/>
                </a:solidFill>
              </a:rPr>
              <a:t>1. SETUP &amp; INSTALLATION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371475" y="1405533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Install Streamlit: pip install streamlit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371475" y="1542687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Create project folder structure with pages/ directory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371475" y="1679842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Create Home.py as main entry point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371475" y="1816996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Test with: streamlit run Home.py</a:t>
            </a:r>
            <a:endParaRPr lang="en-US" sz="621" dirty="0"/>
          </a:p>
        </p:txBody>
      </p:sp>
      <p:sp>
        <p:nvSpPr>
          <p:cNvPr id="12" name="Shape 9"/>
          <p:cNvSpPr/>
          <p:nvPr/>
        </p:nvSpPr>
        <p:spPr>
          <a:xfrm>
            <a:off x="285750" y="2102383"/>
            <a:ext cx="4200525" cy="1114397"/>
          </a:xfrm>
          <a:prstGeom prst="rect">
            <a:avLst/>
          </a:prstGeom>
          <a:solidFill>
            <a:srgbClr val="F0FDF4"/>
          </a:solidFill>
          <a:ln w="18288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1475" y="2202396"/>
            <a:ext cx="40290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65F46"/>
                </a:solidFill>
              </a:rPr>
              <a:t>2. BASIC UI IMPLEMENTATION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71475" y="2430996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Set page config with st.set_page_config()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371475" y="2568150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Create login form with st.text_input()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371475" y="2705305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Add page navigation with st.switch_page()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371475" y="2842459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Create pages: Dashboard, Analytics, Settings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371475" y="2979613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Test navigation between all pages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285750" y="3272144"/>
            <a:ext cx="4200525" cy="1251552"/>
          </a:xfrm>
          <a:prstGeom prst="rect">
            <a:avLst/>
          </a:prstGeom>
          <a:solidFill>
            <a:srgbClr val="FEF3C7"/>
          </a:solidFill>
          <a:ln w="18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71475" y="3379301"/>
            <a:ext cx="40290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2400E"/>
                </a:solidFill>
              </a:rPr>
              <a:t>3. AUTHENTICATION &amp; SESSION STATE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371475" y="3607901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Initialize session state variables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371475" y="3745055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Implement login logic with st.session_state.logged_in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371475" y="3882210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Store username and role in session state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371475" y="4019364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Add logout button functionality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371475" y="4156518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Protect pages with authentication check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371475" y="4293673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Test login/logout flow thoroughly</a:t>
            </a:r>
            <a:endParaRPr lang="en-US" sz="621" dirty="0"/>
          </a:p>
        </p:txBody>
      </p:sp>
      <p:sp>
        <p:nvSpPr>
          <p:cNvPr id="27" name="Shape 24"/>
          <p:cNvSpPr/>
          <p:nvPr/>
        </p:nvSpPr>
        <p:spPr>
          <a:xfrm>
            <a:off x="4657725" y="1049796"/>
            <a:ext cx="4200525" cy="1114397"/>
          </a:xfrm>
          <a:prstGeom prst="rect">
            <a:avLst/>
          </a:prstGeom>
          <a:solidFill>
            <a:srgbClr val="FEF2F2"/>
          </a:solidFill>
          <a:ln w="18288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43450" y="1142665"/>
            <a:ext cx="40290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91B1B"/>
                </a:solidFill>
              </a:rPr>
              <a:t>4. CRUD OPERATIONS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743450" y="1371265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CREATE: Implement with st.form() and session state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4743450" y="1508420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READ: Display records with st.dataframe()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4743450" y="1645574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UPDATE: Select and modify records with forms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4743450" y="1782728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DELETE: Add confirmation before deletion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4743450" y="1919883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Test all CRUD operations end-to-end</a:t>
            </a:r>
            <a:endParaRPr lang="en-US" sz="621" dirty="0"/>
          </a:p>
        </p:txBody>
      </p:sp>
      <p:sp>
        <p:nvSpPr>
          <p:cNvPr id="34" name="Shape 31"/>
          <p:cNvSpPr/>
          <p:nvPr/>
        </p:nvSpPr>
        <p:spPr>
          <a:xfrm>
            <a:off x="4657725" y="2171002"/>
            <a:ext cx="4200525" cy="1114397"/>
          </a:xfrm>
          <a:prstGeom prst="rect">
            <a:avLst/>
          </a:prstGeom>
          <a:solidFill>
            <a:srgbClr val="EEF2FF"/>
          </a:solidFill>
          <a:ln w="18288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743450" y="2271015"/>
            <a:ext cx="40290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30A3"/>
                </a:solidFill>
              </a:rPr>
              <a:t>5. DOMAIN-SPECIFIC FEATURES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743450" y="2499615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Add domain selection (Cybersecurity/Data Science/IT Ops)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4743450" y="2636769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Implement metrics with st.metric() and delta values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4743450" y="2773924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Add visualizations with st.line_chart() or st.bar_chart()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4743450" y="2911078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Create domain-specific dashboard pages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4743450" y="3048233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Test visualizations with sample data</a:t>
            </a:r>
            <a:endParaRPr lang="en-US" sz="621" dirty="0"/>
          </a:p>
        </p:txBody>
      </p:sp>
      <p:sp>
        <p:nvSpPr>
          <p:cNvPr id="41" name="Shape 38"/>
          <p:cNvSpPr/>
          <p:nvPr/>
        </p:nvSpPr>
        <p:spPr>
          <a:xfrm>
            <a:off x="4657725" y="3306496"/>
            <a:ext cx="4200525" cy="1251552"/>
          </a:xfrm>
          <a:prstGeom prst="rect">
            <a:avLst/>
          </a:prstGeom>
          <a:solidFill>
            <a:srgbClr val="F0FDFA"/>
          </a:solidFill>
          <a:ln w="18288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743450" y="3413652"/>
            <a:ext cx="40290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34E4A"/>
                </a:solidFill>
              </a:rPr>
              <a:t>6. DATABASE &amp; TESTING</a:t>
            </a:r>
            <a:endParaRPr lang="en-US" sz="784" dirty="0"/>
          </a:p>
        </p:txBody>
      </p:sp>
      <p:sp>
        <p:nvSpPr>
          <p:cNvPr id="43" name="Text 40"/>
          <p:cNvSpPr/>
          <p:nvPr/>
        </p:nvSpPr>
        <p:spPr>
          <a:xfrm>
            <a:off x="4743450" y="3642252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Import DatabaseManager from Week 8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4743450" y="3779407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Connect database in authentication flow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4743450" y="3916561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Test user verification with db.verify_user()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4743450" y="4053715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Verify role-based access control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4743450" y="4190870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Test data persistence across sessions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4743450" y="4328024"/>
            <a:ext cx="40290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□ Check error handling for invalid inputs</a:t>
            </a:r>
            <a:endParaRPr lang="en-US" sz="621" dirty="0"/>
          </a:p>
        </p:txBody>
      </p:sp>
      <p:sp>
        <p:nvSpPr>
          <p:cNvPr id="49" name="Shape 46"/>
          <p:cNvSpPr/>
          <p:nvPr/>
        </p:nvSpPr>
        <p:spPr>
          <a:xfrm>
            <a:off x="285750" y="4679156"/>
            <a:ext cx="8572500" cy="1785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285750" y="4679156"/>
            <a:ext cx="85725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285750" y="4743450"/>
            <a:ext cx="2743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Priority:</a:t>
            </a:r>
            <a:r>
              <a:rPr lang="en-US" sz="621" dirty="0">
                <a:solidFill>
                  <a:srgbClr val="4B5563"/>
                </a:solidFill>
              </a:rPr>
              <a:t> Complete tasks 1-3 first, then 4-6</a:t>
            </a:r>
            <a:endParaRPr lang="en-US" sz="584" dirty="0"/>
          </a:p>
        </p:txBody>
      </p:sp>
      <p:sp>
        <p:nvSpPr>
          <p:cNvPr id="52" name="Text 49"/>
          <p:cNvSpPr/>
          <p:nvPr/>
        </p:nvSpPr>
        <p:spPr>
          <a:xfrm>
            <a:off x="3200400" y="4743450"/>
            <a:ext cx="2743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Testing:</a:t>
            </a:r>
            <a:r>
              <a:rPr lang="en-US" sz="621" dirty="0">
                <a:solidFill>
                  <a:srgbClr val="4B5563"/>
                </a:solidFill>
              </a:rPr>
              <a:t> Test each feature immediately after implementation</a:t>
            </a:r>
            <a:endParaRPr lang="en-US" sz="584" dirty="0"/>
          </a:p>
        </p:txBody>
      </p:sp>
      <p:sp>
        <p:nvSpPr>
          <p:cNvPr id="53" name="Text 50"/>
          <p:cNvSpPr/>
          <p:nvPr/>
        </p:nvSpPr>
        <p:spPr>
          <a:xfrm>
            <a:off x="6115050" y="4743450"/>
            <a:ext cx="27432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Help:</a:t>
            </a:r>
            <a:r>
              <a:rPr lang="en-US" sz="621" dirty="0">
                <a:solidFill>
                  <a:srgbClr val="4B5563"/>
                </a:solidFill>
              </a:rPr>
              <a:t> Refer to Streamlit docs and lab materials</a:t>
            </a:r>
            <a:endParaRPr lang="en-US" sz="58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30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18 </a:t>
            </a:r>
            <a:r>
              <a:rPr lang="en-US" sz="727" dirty="0">
                <a:solidFill>
                  <a:srgbClr val="6B7280"/>
                </a:solidFill>
              </a:rPr>
              <a:t>// Project Roadmap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Looking Ahead: Weeks 10-11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Advanced features and final refinements for your Multi-Domain Intelligence Platform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85750" y="1028700"/>
            <a:ext cx="4200525" cy="4237527"/>
          </a:xfrm>
          <a:prstGeom prst="rect">
            <a:avLst/>
          </a:prstGeom>
          <a:solidFill>
            <a:srgbClr val="EEF2FF"/>
          </a:solidFill>
          <a:ln w="18288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00050" y="1164431"/>
            <a:ext cx="96527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4338CA"/>
                </a:solidFill>
              </a:rPr>
              <a:t>🤖 WEEK 10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3512214" y="1178719"/>
            <a:ext cx="859761" cy="20002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12214" y="1178719"/>
            <a:ext cx="859761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AI Integration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00050" y="1478756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Key Tasks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400050" y="1707356"/>
            <a:ext cx="3971925" cy="1302953"/>
          </a:xfrm>
          <a:prstGeom prst="rect">
            <a:avLst/>
          </a:prstGeom>
          <a:solidFill>
            <a:srgbClr val="FFFFFF"/>
          </a:solidFill>
          <a:ln w="18288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5775" y="1807369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Integrate OpenAI API or similar AI service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85775" y="1995953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Add AI-powered features to domain modules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85775" y="2184536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Implement chatbot or intelligent assistant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85775" y="2373120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Add natural language processing capabilities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85775" y="2561704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Handle API errors and rate limits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85775" y="2750288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Test AI features with various inputs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00050" y="3081747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Learning Objectives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400050" y="3310347"/>
            <a:ext cx="3971925" cy="811485"/>
          </a:xfrm>
          <a:prstGeom prst="rect">
            <a:avLst/>
          </a:prstGeom>
          <a:solidFill>
            <a:srgbClr val="DDD6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5775" y="3396072"/>
            <a:ext cx="380047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338CA"/>
                </a:solidFill>
              </a:rPr>
              <a:t>• Understand API integration patterns
 • Learn to work with AI/ML services
 • Implement asynchronous operations
 • Handle external service dependencies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00050" y="4207557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Expected Outcomes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400050" y="4436157"/>
            <a:ext cx="3971925" cy="680052"/>
          </a:xfrm>
          <a:prstGeom prst="rect">
            <a:avLst/>
          </a:prstGeom>
          <a:solidFill>
            <a:srgbClr val="FFFFFF"/>
          </a:solidFill>
          <a:ln w="18288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5775" y="4536170"/>
            <a:ext cx="38004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6366F1"/>
                </a:solidFill>
              </a:rPr>
              <a:t>Deliverable:</a:t>
            </a:r>
            <a:r>
              <a:rPr lang="en-US" sz="727" dirty="0">
                <a:solidFill>
                  <a:srgbClr val="4B5563"/>
                </a:solidFill>
              </a:rPr>
              <a:t> Functional AI-powered features integrated into your platform, such as intelligent threat analysis, predictive analytics, or automated insights generation.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4657725" y="1028700"/>
            <a:ext cx="4200525" cy="4237527"/>
          </a:xfrm>
          <a:prstGeom prst="rect">
            <a:avLst/>
          </a:prstGeom>
          <a:solidFill>
            <a:srgbClr val="F0FDF4"/>
          </a:solidFill>
          <a:ln w="18288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72025" y="1143000"/>
            <a:ext cx="96527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065F46"/>
                </a:solidFill>
              </a:rPr>
              <a:t>🔧 WEEK 11</a:t>
            </a:r>
            <a:endParaRPr lang="en-US" sz="1193" dirty="0"/>
          </a:p>
        </p:txBody>
      </p:sp>
      <p:sp>
        <p:nvSpPr>
          <p:cNvPr id="26" name="Shape 23"/>
          <p:cNvSpPr/>
          <p:nvPr/>
        </p:nvSpPr>
        <p:spPr>
          <a:xfrm>
            <a:off x="7756382" y="1157288"/>
            <a:ext cx="987568" cy="2000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756382" y="1157288"/>
            <a:ext cx="987568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OOP Refactoring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772025" y="1457325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Key Tasks</a:t>
            </a:r>
            <a:endParaRPr lang="en-US" sz="784" dirty="0"/>
          </a:p>
        </p:txBody>
      </p:sp>
      <p:sp>
        <p:nvSpPr>
          <p:cNvPr id="29" name="Shape 26"/>
          <p:cNvSpPr/>
          <p:nvPr/>
        </p:nvSpPr>
        <p:spPr>
          <a:xfrm>
            <a:off x="4772025" y="1685925"/>
            <a:ext cx="3971925" cy="1302953"/>
          </a:xfrm>
          <a:prstGeom prst="rect">
            <a:avLst/>
          </a:prstGeom>
          <a:solidFill>
            <a:srgbClr val="FFFFFF"/>
          </a:solidFill>
          <a:ln w="18288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57750" y="1771650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Refactor code using OOP principles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857750" y="1960234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Create classes for domain-specific logic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4857750" y="2148818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Implement inheritance and polymorphism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4857750" y="2337402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Improve code organization and modularity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4857750" y="2525985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Add comprehensive error handling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4857750" y="2714569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□</a:t>
            </a:r>
            <a:r>
              <a:rPr lang="en-US" sz="727" dirty="0">
                <a:solidFill>
                  <a:srgbClr val="1F2937"/>
                </a:solidFill>
              </a:rPr>
              <a:t> Complete documentation and final testing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4772025" y="3046028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Learning Objectives</a:t>
            </a:r>
            <a:endParaRPr lang="en-US" sz="784" dirty="0"/>
          </a:p>
        </p:txBody>
      </p:sp>
      <p:sp>
        <p:nvSpPr>
          <p:cNvPr id="37" name="Shape 34"/>
          <p:cNvSpPr/>
          <p:nvPr/>
        </p:nvSpPr>
        <p:spPr>
          <a:xfrm>
            <a:off x="4772025" y="3274628"/>
            <a:ext cx="3971925" cy="811485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857750" y="3360353"/>
            <a:ext cx="380047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065F46"/>
                </a:solidFill>
              </a:rPr>
              <a:t>• Master Object-Oriented Programming concepts
 • Apply design patterns effectively
 • Write maintainable, scalable code
 • Understand code refactoring techniques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4772025" y="4171838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Expected Outcomes</a:t>
            </a:r>
            <a:endParaRPr lang="en-US" sz="784" dirty="0"/>
          </a:p>
        </p:txBody>
      </p:sp>
      <p:sp>
        <p:nvSpPr>
          <p:cNvPr id="40" name="Shape 37"/>
          <p:cNvSpPr/>
          <p:nvPr/>
        </p:nvSpPr>
        <p:spPr>
          <a:xfrm>
            <a:off x="4772025" y="4400438"/>
            <a:ext cx="3971925" cy="680052"/>
          </a:xfrm>
          <a:prstGeom prst="rect">
            <a:avLst/>
          </a:prstGeom>
          <a:solidFill>
            <a:srgbClr val="FFFFFF"/>
          </a:solidFill>
          <a:ln w="18288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857750" y="4486163"/>
            <a:ext cx="38004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Deliverable:</a:t>
            </a:r>
            <a:r>
              <a:rPr lang="en-US" sz="727" dirty="0">
                <a:solidFill>
                  <a:srgbClr val="4B5563"/>
                </a:solidFill>
              </a:rPr>
              <a:t> Fully functional, well-structured Multi-Domain Intelligence Platform with clean OOP architecture, comprehensive documentation, and passing all test cases.</a:t>
            </a:r>
            <a:endParaRPr lang="en-US" sz="683" dirty="0"/>
          </a:p>
        </p:txBody>
      </p:sp>
      <p:sp>
        <p:nvSpPr>
          <p:cNvPr id="42" name="Shape 39"/>
          <p:cNvSpPr/>
          <p:nvPr/>
        </p:nvSpPr>
        <p:spPr>
          <a:xfrm>
            <a:off x="285750" y="5251940"/>
            <a:ext cx="8572500" cy="2928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285750" y="5251940"/>
            <a:ext cx="85725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85750" y="530909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Preparation:</a:t>
            </a:r>
            <a:r>
              <a:rPr lang="en-US" sz="621" dirty="0">
                <a:solidFill>
                  <a:srgbClr val="4B5563"/>
                </a:solidFill>
              </a:rPr>
              <a:t> Review API documentation and OOP concepts before starting</a:t>
            </a:r>
            <a:endParaRPr lang="en-US" sz="584" dirty="0"/>
          </a:p>
        </p:txBody>
      </p:sp>
      <p:sp>
        <p:nvSpPr>
          <p:cNvPr id="45" name="Text 42"/>
          <p:cNvSpPr/>
          <p:nvPr/>
        </p:nvSpPr>
        <p:spPr>
          <a:xfrm>
            <a:off x="3200400" y="530909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Time Management:</a:t>
            </a:r>
            <a:r>
              <a:rPr lang="en-US" sz="621" dirty="0">
                <a:solidFill>
                  <a:srgbClr val="4B5563"/>
                </a:solidFill>
              </a:rPr>
              <a:t> Allocate sufficient time for testing and debugging</a:t>
            </a:r>
            <a:endParaRPr lang="en-US" sz="584" dirty="0"/>
          </a:p>
        </p:txBody>
      </p:sp>
      <p:sp>
        <p:nvSpPr>
          <p:cNvPr id="46" name="Text 43"/>
          <p:cNvSpPr/>
          <p:nvPr/>
        </p:nvSpPr>
        <p:spPr>
          <a:xfrm>
            <a:off x="6115050" y="530909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E3A8A"/>
                </a:solidFill>
              </a:rPr>
              <a:t>Success Tip:</a:t>
            </a:r>
            <a:r>
              <a:rPr lang="en-US" sz="621" dirty="0">
                <a:solidFill>
                  <a:srgbClr val="4B5563"/>
                </a:solidFill>
              </a:rPr>
              <a:t> Build incrementally and test frequently throughout both weeks</a:t>
            </a:r>
            <a:endParaRPr lang="en-US" sz="58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107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18 </a:t>
            </a:r>
            <a:r>
              <a:rPr lang="en-US" sz="727" dirty="0">
                <a:solidFill>
                  <a:srgbClr val="6B7280"/>
                </a:solidFill>
              </a:rPr>
              <a:t>// Help &amp; Resources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Resources and Support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Where to find help, documentation, and learning materials</a:t>
            </a:r>
            <a:endParaRPr lang="en-US" sz="834" dirty="0"/>
          </a:p>
        </p:txBody>
      </p:sp>
      <p:sp>
        <p:nvSpPr>
          <p:cNvPr id="6" name="Shape 3"/>
          <p:cNvSpPr/>
          <p:nvPr/>
        </p:nvSpPr>
        <p:spPr>
          <a:xfrm>
            <a:off x="285750" y="1028700"/>
            <a:ext cx="4214813" cy="1720165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71475" y="1114425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40AF"/>
                </a:solidFill>
              </a:rPr>
              <a:t>📚 OFFICIAL DOCUMENTATION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371475" y="1343025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Main Documentation</a:t>
            </a:r>
            <a:r>
              <a:rPr lang="en-US" sz="621" dirty="0">
                <a:solidFill>
                  <a:srgbClr val="1F2937"/>
                </a:solidFill>
              </a:rPr>
              <a:t>
</a:t>
            </a:r>
            <a:r>
              <a:rPr lang="en-US" sz="621" dirty="0">
                <a:solidFill>
                  <a:srgbClr val="3B82F6"/>
                </a:solidFill>
              </a:rPr>
              <a:t>docs.streamlit.io</a:t>
            </a:r>
            <a:r>
              <a:rPr lang="en-US" sz="621" dirty="0">
                <a:solidFill>
                  <a:srgbClr val="1F2937"/>
                </a:solidFill>
              </a:rPr>
              <a:t>
 Complete guide with examples and tutorials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371475" y="1783063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API Reference</a:t>
            </a:r>
            <a:r>
              <a:rPr lang="en-US" sz="621" dirty="0">
                <a:solidFill>
                  <a:srgbClr val="1F2937"/>
                </a:solidFill>
              </a:rPr>
              <a:t>
</a:t>
            </a:r>
            <a:r>
              <a:rPr lang="en-US" sz="621" dirty="0">
                <a:solidFill>
                  <a:srgbClr val="3B82F6"/>
                </a:solidFill>
              </a:rPr>
              <a:t>docs.streamlit.io/library/api-reference</a:t>
            </a:r>
            <a:r>
              <a:rPr lang="en-US" sz="621" dirty="0">
                <a:solidFill>
                  <a:srgbClr val="1F2937"/>
                </a:solidFill>
              </a:rPr>
              <a:t>
 Detailed documentation for every function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371475" y="2223102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Cheat Sheet</a:t>
            </a:r>
            <a:r>
              <a:rPr lang="en-US" sz="621" dirty="0">
                <a:solidFill>
                  <a:srgbClr val="1F2937"/>
                </a:solidFill>
              </a:rPr>
              <a:t>
</a:t>
            </a:r>
            <a:r>
              <a:rPr lang="en-US" sz="621" dirty="0">
                <a:solidFill>
                  <a:srgbClr val="3B82F6"/>
                </a:solidFill>
              </a:rPr>
              <a:t>docs.streamlit.io/library/cheatsheet</a:t>
            </a:r>
            <a:r>
              <a:rPr lang="en-US" sz="621" dirty="0">
                <a:solidFill>
                  <a:srgbClr val="1F2937"/>
                </a:solidFill>
              </a:rPr>
              <a:t>
 Quick reference for common commands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285750" y="2720290"/>
            <a:ext cx="4214813" cy="1720165"/>
          </a:xfrm>
          <a:prstGeom prst="rect">
            <a:avLst/>
          </a:prstGeom>
          <a:solidFill>
            <a:srgbClr val="F0FDF4"/>
          </a:solidFill>
          <a:ln w="18288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71475" y="2806015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65F46"/>
                </a:solidFill>
              </a:rPr>
              <a:t>🎓 LEARNING RESOURCES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371475" y="3034615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Streamlit Gallery</a:t>
            </a:r>
            <a:r>
              <a:rPr lang="en-US" sz="621" dirty="0">
                <a:solidFill>
                  <a:srgbClr val="1F2937"/>
                </a:solidFill>
              </a:rPr>
              <a:t>
</a:t>
            </a:r>
            <a:r>
              <a:rPr lang="en-US" sz="621" dirty="0">
                <a:solidFill>
                  <a:srgbClr val="10B981"/>
                </a:solidFill>
              </a:rPr>
              <a:t>streamlit.io/gallery</a:t>
            </a:r>
            <a:r>
              <a:rPr lang="en-US" sz="621" dirty="0">
                <a:solidFill>
                  <a:srgbClr val="1F2937"/>
                </a:solidFill>
              </a:rPr>
              <a:t>
 Example apps with source code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371475" y="3474653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30 Days of Streamlit</a:t>
            </a:r>
            <a:r>
              <a:rPr lang="en-US" sz="621" dirty="0">
                <a:solidFill>
                  <a:srgbClr val="1F2937"/>
                </a:solidFill>
              </a:rPr>
              <a:t>
</a:t>
            </a:r>
            <a:r>
              <a:rPr lang="en-US" sz="621" dirty="0">
                <a:solidFill>
                  <a:srgbClr val="10B981"/>
                </a:solidFill>
              </a:rPr>
              <a:t>30days.streamlit.app</a:t>
            </a:r>
            <a:r>
              <a:rPr lang="en-US" sz="621" dirty="0">
                <a:solidFill>
                  <a:srgbClr val="1F2937"/>
                </a:solidFill>
              </a:rPr>
              <a:t>
 Daily challenges and tutorials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371475" y="3914691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YouTube Tutorials</a:t>
            </a:r>
            <a:r>
              <a:rPr lang="en-US" sz="621" dirty="0">
                <a:solidFill>
                  <a:srgbClr val="1F2937"/>
                </a:solidFill>
              </a:rPr>
              <a:t>
 Search "Streamlit tutorial" for video guides
 Official channel has great examples</a:t>
            </a:r>
            <a:endParaRPr lang="en-US" sz="584" dirty="0"/>
          </a:p>
        </p:txBody>
      </p:sp>
      <p:sp>
        <p:nvSpPr>
          <p:cNvPr id="16" name="Shape 13"/>
          <p:cNvSpPr/>
          <p:nvPr/>
        </p:nvSpPr>
        <p:spPr>
          <a:xfrm>
            <a:off x="285750" y="4411880"/>
            <a:ext cx="4214813" cy="1720165"/>
          </a:xfrm>
          <a:prstGeom prst="rect">
            <a:avLst/>
          </a:prstGeom>
          <a:solidFill>
            <a:srgbClr val="F5F3FF"/>
          </a:solidFill>
          <a:ln w="18288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71475" y="4497605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338CA"/>
                </a:solidFill>
              </a:rPr>
              <a:t>💬 COMMUNITY SUPPORT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371475" y="4726205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Streamlit Forum</a:t>
            </a:r>
            <a:r>
              <a:rPr lang="en-US" sz="621" dirty="0">
                <a:solidFill>
                  <a:srgbClr val="1F2937"/>
                </a:solidFill>
              </a:rPr>
              <a:t>
</a:t>
            </a:r>
            <a:r>
              <a:rPr lang="en-US" sz="621" dirty="0">
                <a:solidFill>
                  <a:srgbClr val="6366F1"/>
                </a:solidFill>
              </a:rPr>
              <a:t>discuss.streamlit.io</a:t>
            </a:r>
            <a:r>
              <a:rPr lang="en-US" sz="621" dirty="0">
                <a:solidFill>
                  <a:srgbClr val="1F2937"/>
                </a:solidFill>
              </a:rPr>
              <a:t>
 Ask questions and get help from community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371475" y="5166243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GitHub Issues</a:t>
            </a:r>
            <a:r>
              <a:rPr lang="en-US" sz="621" dirty="0">
                <a:solidFill>
                  <a:srgbClr val="1F2937"/>
                </a:solidFill>
              </a:rPr>
              <a:t>
</a:t>
            </a:r>
            <a:r>
              <a:rPr lang="en-US" sz="621" dirty="0">
                <a:solidFill>
                  <a:srgbClr val="6366F1"/>
                </a:solidFill>
              </a:rPr>
              <a:t>github.com/streamlit/streamlit</a:t>
            </a:r>
            <a:r>
              <a:rPr lang="en-US" sz="621" dirty="0">
                <a:solidFill>
                  <a:srgbClr val="1F2937"/>
                </a:solidFill>
              </a:rPr>
              <a:t>
 Report bugs and request features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371475" y="5606281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Stack Overflow</a:t>
            </a:r>
            <a:r>
              <a:rPr lang="en-US" sz="621" dirty="0">
                <a:solidFill>
                  <a:srgbClr val="1F2937"/>
                </a:solidFill>
              </a:rPr>
              <a:t>
 Tag: </a:t>
            </a:r>
            <a:r>
              <a:rPr lang="en-US" sz="621" dirty="0">
                <a:solidFill>
                  <a:srgbClr val="6366F1"/>
                </a:solidFill>
              </a:rPr>
              <a:t>streamlit</a:t>
            </a:r>
            <a:r>
              <a:rPr lang="en-US" sz="621" dirty="0">
                <a:solidFill>
                  <a:srgbClr val="1F2937"/>
                </a:solidFill>
              </a:rPr>
              <a:t>
 Search existing solutions or ask new questions</a:t>
            </a:r>
            <a:endParaRPr lang="en-US" sz="584" dirty="0"/>
          </a:p>
        </p:txBody>
      </p:sp>
      <p:sp>
        <p:nvSpPr>
          <p:cNvPr id="21" name="Shape 18"/>
          <p:cNvSpPr/>
          <p:nvPr/>
        </p:nvSpPr>
        <p:spPr>
          <a:xfrm>
            <a:off x="4643438" y="1205843"/>
            <a:ext cx="4214813" cy="2297357"/>
          </a:xfrm>
          <a:prstGeom prst="rect">
            <a:avLst/>
          </a:prstGeom>
          <a:solidFill>
            <a:srgbClr val="FEF3C7"/>
          </a:solidFill>
          <a:ln w="18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29163" y="1301111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2400E"/>
                </a:solidFill>
              </a:rPr>
              <a:t>📖 COURSE RESOURCES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729163" y="1529711"/>
            <a:ext cx="4043363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Lab Materials</a:t>
            </a:r>
            <a:r>
              <a:rPr lang="en-US" sz="621" dirty="0">
                <a:solidFill>
                  <a:srgbClr val="1F2937"/>
                </a:solidFill>
              </a:rPr>
              <a:t>
 Week 8: Database &amp; CRUD Operations
 Week 9: Streamlit Interface (Part 1 &amp; 2)
 Review PDFs for detailed instructions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4729163" y="2106904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Project Guide</a:t>
            </a:r>
            <a:r>
              <a:rPr lang="en-US" sz="621" dirty="0">
                <a:solidFill>
                  <a:srgbClr val="1F2937"/>
                </a:solidFill>
              </a:rPr>
              <a:t>
 CSt1510 Coursework 2 specification
 Multi-Domain Intelligence Platform requirements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4729163" y="2546942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Instructor Support</a:t>
            </a:r>
            <a:r>
              <a:rPr lang="en-US" sz="621" dirty="0">
                <a:solidFill>
                  <a:srgbClr val="1F2937"/>
                </a:solidFill>
              </a:rPr>
              <a:t>
 Office hours: Check course schedule
 Email for specific questions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4729163" y="2986980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Teaching Assistants</a:t>
            </a:r>
            <a:r>
              <a:rPr lang="en-US" sz="621" dirty="0">
                <a:solidFill>
                  <a:srgbClr val="1F2937"/>
                </a:solidFill>
              </a:rPr>
              <a:t>
 Lab sessions: Get hands-on help
 Available during scheduled lab times</a:t>
            </a:r>
            <a:endParaRPr lang="en-US" sz="584" dirty="0"/>
          </a:p>
        </p:txBody>
      </p:sp>
      <p:sp>
        <p:nvSpPr>
          <p:cNvPr id="27" name="Shape 24"/>
          <p:cNvSpPr/>
          <p:nvPr/>
        </p:nvSpPr>
        <p:spPr>
          <a:xfrm>
            <a:off x="4643438" y="3670855"/>
            <a:ext cx="4214813" cy="2245928"/>
          </a:xfrm>
          <a:prstGeom prst="rect">
            <a:avLst/>
          </a:prstGeom>
          <a:solidFill>
            <a:srgbClr val="F0FDFA"/>
          </a:solidFill>
          <a:ln w="18288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29163" y="3775611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34E4A"/>
                </a:solidFill>
              </a:rPr>
              <a:t>⚡ QUICK HELP TIPS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729163" y="4004211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Use st.help() Function</a:t>
            </a:r>
            <a:r>
              <a:rPr lang="en-US" sz="621" dirty="0">
                <a:solidFill>
                  <a:srgbClr val="1F2937"/>
                </a:solidFill>
              </a:rPr>
              <a:t>
st.help(st.button)
 Get documentation for any Streamlit function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4729163" y="4472825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Read Error Messages Carefully</a:t>
            </a:r>
            <a:r>
              <a:rPr lang="en-US" sz="621" dirty="0">
                <a:solidFill>
                  <a:srgbClr val="1F2937"/>
                </a:solidFill>
              </a:rPr>
              <a:t>
 Error messages include line numbers and hints
 Check the exact line mentioned in the error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4729163" y="4941438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Use st.write() for Debugging</a:t>
            </a:r>
            <a:r>
              <a:rPr lang="en-US" sz="621" dirty="0">
                <a:solidFill>
                  <a:srgbClr val="1F2937"/>
                </a:solidFill>
              </a:rPr>
              <a:t>
st.write(variable_name)
 Print variables to understand program flow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4729163" y="5410051"/>
            <a:ext cx="4043363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Check Browser Console</a:t>
            </a:r>
            <a:r>
              <a:rPr lang="en-US" sz="621" dirty="0">
                <a:solidFill>
                  <a:srgbClr val="1F2937"/>
                </a:solidFill>
              </a:rPr>
              <a:t>
 Press F12 to open developer tools
 Look for JavaScript errors or warnings</a:t>
            </a:r>
            <a:endParaRPr lang="en-US" sz="584" dirty="0"/>
          </a:p>
        </p:txBody>
      </p:sp>
      <p:sp>
        <p:nvSpPr>
          <p:cNvPr id="33" name="Shape 30"/>
          <p:cNvSpPr/>
          <p:nvPr/>
        </p:nvSpPr>
        <p:spPr>
          <a:xfrm>
            <a:off x="285750" y="6189194"/>
            <a:ext cx="8572500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85750" y="6189194"/>
            <a:ext cx="85725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85750" y="6246344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Remember:</a:t>
            </a:r>
            <a:r>
              <a:rPr lang="en-US" sz="727" dirty="0">
                <a:solidFill>
                  <a:srgbClr val="4B5563"/>
                </a:solidFill>
              </a:rPr>
              <a:t>Don't hesitate to ask for help! The Streamlit community is friendly and supportive. Start with the documentation, search for similar issues, and reach out when you're stuck.</a:t>
            </a:r>
            <a:endParaRPr lang="en-US" sz="68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0136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18 </a:t>
            </a:r>
            <a:r>
              <a:rPr lang="en-US" sz="727" dirty="0">
                <a:solidFill>
                  <a:srgbClr val="6B7280"/>
                </a:solidFill>
              </a:rPr>
              <a:t>// Conclusion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E3A8A"/>
                </a:solidFill>
              </a:rPr>
              <a:t>Summary and Key Takeaways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Essential Streamlit concepts and your path forward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285750" y="1731578"/>
            <a:ext cx="42005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E3A8A"/>
                </a:solidFill>
              </a:rPr>
              <a:t>🎯 Key Concepts to Master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285750" y="2045903"/>
            <a:ext cx="4200525" cy="528638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5763" y="2160203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E40AF"/>
                </a:solidFill>
              </a:rPr>
              <a:t>1. Core Streamlit Functions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385763" y="2331653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st.text_input(), st.button(), st.form(), st.dataframe(), st.metric(), st.line_chart()</a:t>
            </a:r>
            <a:endParaRPr lang="en-US" sz="621" dirty="0"/>
          </a:p>
        </p:txBody>
      </p:sp>
      <p:sp>
        <p:nvSpPr>
          <p:cNvPr id="10" name="Shape 7"/>
          <p:cNvSpPr/>
          <p:nvPr/>
        </p:nvSpPr>
        <p:spPr>
          <a:xfrm>
            <a:off x="285750" y="2617403"/>
            <a:ext cx="4200525" cy="528638"/>
          </a:xfrm>
          <a:prstGeom prst="rect">
            <a:avLst/>
          </a:prstGeom>
          <a:solidFill>
            <a:srgbClr val="F0FDF4"/>
          </a:solidFill>
          <a:ln w="18288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5763" y="2731703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65F46"/>
                </a:solidFill>
              </a:rPr>
              <a:t>2. Session State Management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385763" y="2903153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Initialize variables, persist data across reruns, manage user state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285750" y="3188903"/>
            <a:ext cx="4200525" cy="528638"/>
          </a:xfrm>
          <a:prstGeom prst="rect">
            <a:avLst/>
          </a:prstGeom>
          <a:solidFill>
            <a:srgbClr val="FEF3C7"/>
          </a:solidFill>
          <a:ln w="18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5763" y="3303203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2400E"/>
                </a:solidFill>
              </a:rPr>
              <a:t>3. Authentication &amp; Security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85763" y="3474653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Login flow, role-based access, protected pages, password hashing</a:t>
            </a:r>
            <a:endParaRPr lang="en-US" sz="621" dirty="0"/>
          </a:p>
        </p:txBody>
      </p:sp>
      <p:sp>
        <p:nvSpPr>
          <p:cNvPr id="16" name="Shape 13"/>
          <p:cNvSpPr/>
          <p:nvPr/>
        </p:nvSpPr>
        <p:spPr>
          <a:xfrm>
            <a:off x="285750" y="3760403"/>
            <a:ext cx="4200525" cy="528638"/>
          </a:xfrm>
          <a:prstGeom prst="rect">
            <a:avLst/>
          </a:prstGeom>
          <a:solidFill>
            <a:srgbClr val="EEF2FF"/>
          </a:solidFill>
          <a:ln w="18288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85763" y="3874703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730A3"/>
                </a:solidFill>
              </a:rPr>
              <a:t>4. Multipage Navigation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385763" y="4046153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st.switch_page(), pages/ folder structure, seamless navigation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285750" y="4331903"/>
            <a:ext cx="4200525" cy="528638"/>
          </a:xfrm>
          <a:prstGeom prst="rect">
            <a:avLst/>
          </a:prstGeom>
          <a:solidFill>
            <a:srgbClr val="FEF2F2"/>
          </a:solidFill>
          <a:ln w="18288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85763" y="4446203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991B1B"/>
                </a:solidFill>
              </a:rPr>
              <a:t>5. CRUD &amp; Database Integration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385763" y="4617653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Create, Read, Update, Delete operations with forms and DatabaseManager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285750" y="4903403"/>
            <a:ext cx="4200525" cy="528638"/>
          </a:xfrm>
          <a:prstGeom prst="rect">
            <a:avLst/>
          </a:prstGeom>
          <a:solidFill>
            <a:srgbClr val="F0FDFA"/>
          </a:solidFill>
          <a:ln w="18288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5763" y="5017703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34E4A"/>
                </a:solidFill>
              </a:rPr>
              <a:t>6. Domain Visualizations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385763" y="5189153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Metrics with delta, charts, domain-specific dashboards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4657725" y="1028700"/>
            <a:ext cx="42005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E3A8A"/>
                </a:solidFill>
              </a:rPr>
              <a:t>🚀 Next Steps</a:t>
            </a:r>
            <a:endParaRPr lang="en-US" sz="1193" dirty="0"/>
          </a:p>
        </p:txBody>
      </p:sp>
      <p:sp>
        <p:nvSpPr>
          <p:cNvPr id="26" name="Shape 23"/>
          <p:cNvSpPr/>
          <p:nvPr/>
        </p:nvSpPr>
        <p:spPr>
          <a:xfrm>
            <a:off x="4657725" y="1343025"/>
            <a:ext cx="4200525" cy="1200122"/>
          </a:xfrm>
          <a:prstGeom prst="rect">
            <a:avLst/>
          </a:prstGeom>
          <a:solidFill>
            <a:srgbClr val="F0FDF4"/>
          </a:solidFill>
          <a:ln w="18288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57738" y="1443038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65F46"/>
                </a:solidFill>
              </a:rPr>
              <a:t>✓ Complete Week 9 Lab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757738" y="1671638"/>
            <a:ext cx="4000500" cy="68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Priority Tasks:</a:t>
            </a:r>
            <a:r>
              <a:rPr lang="en-US" sz="621" dirty="0">
                <a:solidFill>
                  <a:srgbClr val="1F2937"/>
                </a:solidFill>
              </a:rPr>
              <a:t>
 • Finish all checklist items from Week 9 lab
 • Test authentication and CRUD operations
 • Verify database integration works correctly
 • Ensure all pages navigate properly</a:t>
            </a:r>
            <a:endParaRPr lang="en-US" sz="584" dirty="0"/>
          </a:p>
        </p:txBody>
      </p:sp>
      <p:sp>
        <p:nvSpPr>
          <p:cNvPr id="29" name="Shape 26"/>
          <p:cNvSpPr/>
          <p:nvPr/>
        </p:nvSpPr>
        <p:spPr>
          <a:xfrm>
            <a:off x="4657725" y="2600297"/>
            <a:ext cx="4200525" cy="1200122"/>
          </a:xfrm>
          <a:prstGeom prst="rect">
            <a:avLst/>
          </a:prstGeom>
          <a:solidFill>
            <a:srgbClr val="EEF2FF"/>
          </a:solidFill>
          <a:ln w="18288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57738" y="2700310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30A3"/>
                </a:solidFill>
              </a:rPr>
              <a:t>Week 10: AI Integration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4757738" y="2928910"/>
            <a:ext cx="4000500" cy="68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Focus Areas:</a:t>
            </a:r>
            <a:r>
              <a:rPr lang="en-US" sz="621" dirty="0">
                <a:solidFill>
                  <a:srgbClr val="1F2937"/>
                </a:solidFill>
              </a:rPr>
              <a:t>
 • Integrate OpenAI API for domain-specific features
 • Implement chatbot or AI-powered analytics
 • Add AI recommendations for each domain
 • Test API error handling and rate limits</a:t>
            </a:r>
            <a:endParaRPr lang="en-US" sz="584" dirty="0"/>
          </a:p>
        </p:txBody>
      </p:sp>
      <p:sp>
        <p:nvSpPr>
          <p:cNvPr id="32" name="Shape 29"/>
          <p:cNvSpPr/>
          <p:nvPr/>
        </p:nvSpPr>
        <p:spPr>
          <a:xfrm>
            <a:off x="4657725" y="3857569"/>
            <a:ext cx="4200525" cy="1200122"/>
          </a:xfrm>
          <a:prstGeom prst="rect">
            <a:avLst/>
          </a:prstGeom>
          <a:solidFill>
            <a:srgbClr val="FEF3C7"/>
          </a:solidFill>
          <a:ln w="18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757738" y="3957582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2400E"/>
                </a:solidFill>
              </a:rPr>
              <a:t>Week 11: OOP Refactoring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4757738" y="4186182"/>
            <a:ext cx="4000500" cy="68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F2937"/>
                </a:solidFill>
              </a:rPr>
              <a:t>Refactoring Tasks:</a:t>
            </a:r>
            <a:r>
              <a:rPr lang="en-US" sz="621" dirty="0">
                <a:solidFill>
                  <a:srgbClr val="1F2937"/>
                </a:solidFill>
              </a:rPr>
              <a:t>
 • Convert functions to classes
 • Implement inheritance for domain modules
 • Apply OOP principles (encapsulation, polymorphism)
 • Improve code organization and maintainability</a:t>
            </a:r>
            <a:endParaRPr lang="en-US" sz="584" dirty="0"/>
          </a:p>
        </p:txBody>
      </p:sp>
      <p:sp>
        <p:nvSpPr>
          <p:cNvPr id="35" name="Shape 32"/>
          <p:cNvSpPr/>
          <p:nvPr/>
        </p:nvSpPr>
        <p:spPr>
          <a:xfrm>
            <a:off x="4657725" y="5114841"/>
            <a:ext cx="4200525" cy="1005818"/>
          </a:xfrm>
          <a:prstGeom prst="rect">
            <a:avLst/>
          </a:prstGeom>
          <a:solidFill>
            <a:srgbClr val="DBEAFE"/>
          </a:solidFill>
          <a:ln w="1828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757738" y="5214854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40AF"/>
                </a:solidFill>
              </a:rPr>
              <a:t>Final Testing &amp; Submission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4757738" y="5443454"/>
            <a:ext cx="40005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1F2937"/>
                </a:solidFill>
              </a:rPr>
              <a:t>• Comprehensive testing with all user roles
 • Documentation and code comments
 • Prepare demonstration video
 • Submit by deadline</a:t>
            </a:r>
            <a:endParaRPr lang="en-US" sz="621" dirty="0"/>
          </a:p>
        </p:txBody>
      </p:sp>
      <p:sp>
        <p:nvSpPr>
          <p:cNvPr id="38" name="Shape 35"/>
          <p:cNvSpPr/>
          <p:nvPr/>
        </p:nvSpPr>
        <p:spPr>
          <a:xfrm>
            <a:off x="285750" y="6177809"/>
            <a:ext cx="8572500" cy="4357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285750" y="6177809"/>
            <a:ext cx="85725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285750" y="6263534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You've learned the fundamentals of building professional web applications with Streamlit!</a:t>
            </a:r>
            <a:endParaRPr lang="en-US" sz="784" dirty="0"/>
          </a:p>
        </p:txBody>
      </p:sp>
      <p:sp>
        <p:nvSpPr>
          <p:cNvPr id="41" name="Text 38"/>
          <p:cNvSpPr/>
          <p:nvPr/>
        </p:nvSpPr>
        <p:spPr>
          <a:xfrm>
            <a:off x="285750" y="6463559"/>
            <a:ext cx="857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Remember:</a:t>
            </a:r>
            <a:r>
              <a:rPr lang="en-US" sz="727" dirty="0">
                <a:solidFill>
                  <a:srgbClr val="4B5563"/>
                </a:solidFill>
              </a:rPr>
              <a:t> Practice makes perfect. Build, test, iterate, and don't hesitate to ask for help. Good luck with your project! 🎉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9414</Words>
  <Application>Microsoft Macintosh PowerPoint</Application>
  <PresentationFormat>On-screen Show (16:9)</PresentationFormat>
  <Paragraphs>706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Anna Wieclaw</cp:lastModifiedBy>
  <cp:revision>1</cp:revision>
  <dcterms:created xsi:type="dcterms:W3CDTF">2025-11-16T19:30:18Z</dcterms:created>
  <dcterms:modified xsi:type="dcterms:W3CDTF">2025-11-16T19:42:11Z</dcterms:modified>
</cp:coreProperties>
</file>